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for 20 seconds only. Do not introduce yourself yet — the demo on slide 3 earns their attention far faster than your bio does.
If you want one opening line: "By the end of this course, an AI agent will run a CRM for you. Today we build the CRM."
TIMING: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who has HEARD of MCP? Who has BUILT one? Usually many hands for the first, almost none for the second. That gap is the whole reason for this course.
Say plainly: MCP was the hot thing, then Skills arrived, and something else arrives next year. If you rebuild your work every time, you lose. So we learn the shape, not the tool.
Do not define MCP yet. Deliberately. They get the demo first.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NOW. Do not explain architecture. Use the app like a salesperson would.
URL: http://127.0.0.1:8000
Order matters. Dashboard first (numbers feel real), then the kanban drag (movement holds attention), then a record drawer (depth), then Convert (the wow — three records created from one click).
Do not talk about code during this. Three minutes of pure product.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genuinely what happens. People already have an app, then they discover MCP, and they write the MCP server as a NEW project — re-implementing the logic inside it.
Ask the discount-rule question and wait for an answer. Do not answer it yourself. Someone will say "four" and the room will wince.
Optional real example: mention any system at your company that has a web version and a batch job with subtly different rules. Every room has one.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this on the whiteboard while you talk — do not just project it. Make them copy it into their notes. It reappears in every session.
The one line to repeat until they are bored of it: "The core owns the capability. The adapter owns the interface."
Define adapter now, in one sentence: an adapter reads input, calls one core function, prints the result. Nothing else.
Point at the two green TODAY boxes. That is the whole scope of Sessions 1 and 2.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across, one row at a time. Do not rush it — this is the map for the whole course.
Someone will ask "why is Remote MCP separate from Local MCP?" Answer it in one line before they ask: ChatGPT runs in a data centre. It cannot reach a program running on your laptop. That is the ONLY reason. Same code, different door.
Emphasise the last row. Everything above it is a door. The last row is the room.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assume they know this. Half the room has never opened Salesforce or Zoho, and CRM vocabulary is the biggest silent blocker in this session.
Tell the Priya story out loud, exactly as written in the callout, pointing at each card as you name it. Then reuse Priya for the rest of the day — same character, same deal, every example.
The distinction people find hardest: TASK is in the future, ACTIVITY is in the past. Say that explicitly.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business rule in the application. Everything downstream depends on it: the board, the forecast, every report.
The closed_lost rule is your running thread for the whole day. Flag it here, enforce it on slide 16 in the terminal, then drag a card into Closed Lost in the browser and watch it demand a reason there too. Then reveal it is one if-statement in core/deals.py.
If someone asks why probability is fixed per stage rather than per deal: real CRMs allow both. We fixed it to keep the example small.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fast. They do not need to memorise the schema — they need to know it is small.
Point at the convert arrow and say: "Hold on to that one." Setting up a callback you pay off on slide 17 is worth more than explaining it now.
If someone asks about related_type/related_id: yes, in a large system you would model this differently. We chose the simple version so the whole schema fits on one slide.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actual folder in your editor while you talk. Seeing real file sizes beats a slide.
Open web/app.py and scroll it fast — 40 routes, under 300 lines. Then open core/deals.py and let them see the density difference.
Ask the delete-the-web-folder question and genuinely wait. Someone will say "no, the website IS the app" — that is the misconception you are here to fix.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rule they must be able to recite without notes. Say it three times during the day.
The counter-example matters more than the rule. Abstract rules do not stick; "do not put the closed_lost check in your web route" sticks.
If a learner asks "what if I need two core calls?" — good question. Answer: then the operation you actually want is a single core function that does both. That is exactly what convert_lead() is. Slide 17.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web/app.py live and scroll through it. Let them see that EVERY route looks like the top block. One line of real work.
Then open core/deals.py at move_stage() and read it slowly. Point at each guard: exists, valid stage, lost_reason rule, probability lookup.
Land this line: "That is where the thinking lives. The route is a doorway."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word for beginners: a schema is a written description of what a valid record looks like. Pydantic turns that description into a check that runs by itself.
Walk each constraint. Do not skip ge=0 — "negative deal amount" gets a laugh and makes the point stick.
If someone knows TypeScript, tell them Zod is the same idea in the JavaScript world. Do not go deeper than that.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who has touched real data will nod at the "Proposal " example. Let that land before moving on.
Then deliver the bottom card slowly. This is the thesis of the entire course compressed into two sentences: the discipline that protects a human form is the same discipline that protects an agent tool call.
If you only have time to make ONE point land in Part C, make it this one.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question on the subtitle and wait. The answer is obvious, which is the point — nobody defends the bad error once they see them side by side.
Then make the agent point: a model reads the good error and CORRECTS ITSELF on the next attempt. It reads the bad one and guesses again. Every hallucinated tool call you have seen started with an error message that taught the model nothing.
Deliver the callout as the closing line, then go straight to the live demo on the next slide. Do not add commentary in between.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It is the highest-value three minutes in Part C.
Get a real deal id first: python cli.py deals list --limit 3
Run each failing command and let them READ the output on the projector before you say anything. Silence works here.
Then the browser drag. Then the question. Wait for someone to say "one place." Then open core/deals.py and show the single if-statement — around line 100.
If a command unexpectedly succeeds, you probably used a valid stage name. Check the spelling of almost_won.
TIMING: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the arrow you flagged on slide 9.
Name the concept: a MULTI-STEP BUSINESS OPERATION. Not a CRUD call — a sequence with rules inside it (reuse the account if the company already exists; refuse if the lead was already converted).
In Session 3, an agent will trigger this entire chain from the sentence "convert that lead and open a deal for eight lakhs." Say that now — it builds anticipation for the next session.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Session 1 on the yellow card. Say the last bullet slowly — it is the most contrarian claim in the whole course, and it is true.
Expect pushback: "so when do we get to the AI part?" Answer: next session we add the third interface, and the user is not a person. But if the core is wrong, the AI part fails in ways that are very hard to debug.
Take a 10-minute break here.
TIMING: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impatient learner who wants MCP in the first hour.
The framing that works: we are running an experiment, and good experiments change one variable at a time. The CLI changes the interface while holding the protocol boring.
Optional aside for the experienced people in the room: this is also why you build a CLI first in real work — it is the cheapest way to find out that your service layer has the wrong shape.
TIMING: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side by side. The visual of two very different-looking screens showing the same rupee figure does more than any explanation.
Pre-check before the session: run python cli.py dashboard once so the first run is not slowed by imports.
Common question: "does the CLI call the API?" No. Answer clearly — they are siblings, not parent and child. Both import core/ directly. Draw two arrows into one box if it helps.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steps 1-4 yourself first, slowly, copying each printed id into the next command. Then let them do all six.
THE MOMENT: after step 6, pause. Let the room see their terminal work sitting in the browser kanban. Then ask: "How much integration code did I write to make the terminal and the browser agree?"
Answer: none. They are not integrated. They share a core.
Walk the room during this. The usual failure is pasting the acc_ id where a dea_ id belongs — the error message tells them exactly that, which is itself a teaching moment worth pointing out loudly.
TIMING: 12 min hands-on (slide budget 6 min of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projector allows, put slide 12 and this slide side by side — or flip back and forth twice. The shape is identical: read, call one core function, print.
Ask the three questions on the cards BEFORE revealing the answers. Cover them with a black box in presenter mode if you can.
The run() wrapper is worth one sentence: it catches core errors and turns them into shell behaviour — printed details plus an exit code. It is plumbing, not logic.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Run both commands back to back. The visual difference does the teaching — you barely need to speak over it.
Then explain what it is really for. This is the moment the course's promise becomes concrete: they can see the path from "CLI I built today" to "AI agent using it in three sessions."
Also run the error case: python cli.py --json accounts show acc_nope — structured JSON on stderr, exit code 1. Ties slide 15 and slide 24 together.
TIMING: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beginners, this is genuinely new information. Say it plainly: every command-line program returns a number when it finishes. Zero means success. Anything else means something went wrong. Scripts and agents branch on that number.
Demo it if your shell cooperates. On PowerShell use $LASTEXITCODE; on bash use $?.
Connect it forward: an agent running your CLI checks the exit code first, then reads the JSON. Both halves matter.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15 minutes and walk the room. Do not sit down.
Exercise 1 is the real assessment. Anyone finishing in three minutes has understood the architecture — ask THEM to explain it to their neighbour rather than starting exercise 2. Peer explanation is worth more than another exercise.
Exercise 2 is deliberately a trick. Learners who go looking and find nothing have learned to verify a claim instead of trusting a slide. Say that out loud when you debrief.
Exercise 3 answer: yes, because cli.py imports core, not the other way round. Dependencies point inward.
TIMING: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right column if your presenter tool allows, and ask the room to fill it in from memory. Recall beats re-reading for retention.
The last row is the transition into the rest of the course. One flag was the entire cost of being agent-ready. Everything else was ordinary good engineering.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Session 3 with the exact promise: "Next time we add a third interface. Same core, untouched again. But the user is not a person — it is an AI agent, and it decides which function to call by itself."
Then preview the capstone in one breath: "Prepare my sales follow-up for tomorrow" → the agent searches accounts, checks last activity, spots the gaps, creates tasks, assigns them, reports back. Every one of those steps is a function we already wrote today.
That last sentence is the one that makes people come back for Session 3.
TIMING: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Do not add a slide after this one.
Ask the closing question and wait for the room to answer "the core." If they say it out loud, they own it.
Then stop talking. Let the sentence be the last thing on screen while people pack up.
TIMING: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EDE5F7"/>
          </a:solidFill>
          <a:ln w="12700">
            <a:solidFill>
              <a:srgbClr val="EDE5F7"/>
            </a:solidFill>
            <a:prstDash val="solid"/>
          </a:ln>
        </p:spPr>
      </p:sp>
      <p:sp>
        <p:nvSpPr>
          <p:cNvPr id="3" name="Shape 1"/>
          <p:cNvSpPr/>
          <p:nvPr/>
        </p:nvSpPr>
        <p:spPr>
          <a:xfrm>
            <a:off x="1325880" y="2331720"/>
            <a:ext cx="1371600" cy="1371600"/>
          </a:xfrm>
          <a:prstGeom prst="ellipse">
            <a:avLst/>
          </a:prstGeom>
          <a:solidFill>
            <a:srgbClr val="FFD93D"/>
          </a:solidFill>
          <a:ln w="25400">
            <a:solidFill>
              <a:srgbClr val="6B4E96"/>
            </a:solidFill>
            <a:prstDash val="solid"/>
          </a:ln>
        </p:spPr>
      </p:sp>
      <p:sp>
        <p:nvSpPr>
          <p:cNvPr id="4" name="Text 2"/>
          <p:cNvSpPr/>
          <p:nvPr/>
        </p:nvSpPr>
        <p:spPr>
          <a:xfrm>
            <a:off x="1325880" y="2331720"/>
            <a:ext cx="1371600" cy="1371600"/>
          </a:xfrm>
          <a:prstGeom prst="rect">
            <a:avLst/>
          </a:prstGeom>
          <a:noFill/>
          <a:ln/>
        </p:spPr>
        <p:txBody>
          <a:bodyPr wrap="square" lIns="0" tIns="0" rIns="0" bIns="0" rtlCol="0" anchor="ctr"/>
          <a:lstStyle/>
          <a:p>
            <a:pPr algn="ctr" indent="0" marL="0">
              <a:buNone/>
            </a:pPr>
            <a:r>
              <a:rPr lang="en-US" sz="1400" b="1" spc="100" kern="0" dirty="0">
                <a:solidFill>
                  <a:srgbClr val="6B4E96"/>
                </a:solidFill>
                <a:latin typeface="Calibri" pitchFamily="34" charset="0"/>
                <a:ea typeface="Calibri" pitchFamily="34" charset="-122"/>
                <a:cs typeface="Calibri" pitchFamily="34" charset="-120"/>
              </a:rPr>
              <a:t>CORE</a:t>
            </a:r>
            <a:endParaRPr lang="en-US" sz="1400" dirty="0"/>
          </a:p>
        </p:txBody>
      </p:sp>
      <p:sp>
        <p:nvSpPr>
          <p:cNvPr id="5" name="Shape 3"/>
          <p:cNvSpPr/>
          <p:nvPr/>
        </p:nvSpPr>
        <p:spPr>
          <a:xfrm>
            <a:off x="2011680" y="3017520"/>
            <a:ext cx="-1417320" cy="-1417320"/>
          </a:xfrm>
          <a:prstGeom prst="line">
            <a:avLst/>
          </a:prstGeom>
          <a:noFill/>
          <a:ln w="25400">
            <a:solidFill>
              <a:srgbClr val="9B7FBE"/>
            </a:solidFill>
            <a:prstDash val="dash"/>
          </a:ln>
        </p:spPr>
      </p:sp>
      <p:sp>
        <p:nvSpPr>
          <p:cNvPr id="6" name="Shape 4"/>
          <p:cNvSpPr/>
          <p:nvPr/>
        </p:nvSpPr>
        <p:spPr>
          <a:xfrm>
            <a:off x="2011680" y="3017520"/>
            <a:ext cx="1417320" cy="-1417320"/>
          </a:xfrm>
          <a:prstGeom prst="line">
            <a:avLst/>
          </a:prstGeom>
          <a:noFill/>
          <a:ln w="25400">
            <a:solidFill>
              <a:srgbClr val="9B7FBE"/>
            </a:solidFill>
            <a:prstDash val="dash"/>
          </a:ln>
        </p:spPr>
      </p:sp>
      <p:sp>
        <p:nvSpPr>
          <p:cNvPr id="7" name="Shape 5"/>
          <p:cNvSpPr/>
          <p:nvPr/>
        </p:nvSpPr>
        <p:spPr>
          <a:xfrm>
            <a:off x="2011680" y="3017520"/>
            <a:ext cx="-1417320" cy="1417320"/>
          </a:xfrm>
          <a:prstGeom prst="line">
            <a:avLst/>
          </a:prstGeom>
          <a:noFill/>
          <a:ln w="25400">
            <a:solidFill>
              <a:srgbClr val="9B7FBE"/>
            </a:solidFill>
            <a:prstDash val="dash"/>
          </a:ln>
        </p:spPr>
      </p:sp>
      <p:sp>
        <p:nvSpPr>
          <p:cNvPr id="8" name="Shape 6"/>
          <p:cNvSpPr/>
          <p:nvPr/>
        </p:nvSpPr>
        <p:spPr>
          <a:xfrm>
            <a:off x="2011680" y="3017520"/>
            <a:ext cx="1417320" cy="1417320"/>
          </a:xfrm>
          <a:prstGeom prst="line">
            <a:avLst/>
          </a:prstGeom>
          <a:noFill/>
          <a:ln w="25400">
            <a:solidFill>
              <a:srgbClr val="9B7FBE"/>
            </a:solidFill>
            <a:prstDash val="dash"/>
          </a:ln>
        </p:spPr>
      </p:sp>
      <p:sp>
        <p:nvSpPr>
          <p:cNvPr id="9" name="Shape 7"/>
          <p:cNvSpPr/>
          <p:nvPr/>
        </p:nvSpPr>
        <p:spPr>
          <a:xfrm>
            <a:off x="91440" y="1380744"/>
            <a:ext cx="1005840" cy="438912"/>
          </a:xfrm>
          <a:prstGeom prst="roundRect">
            <a:avLst>
              <a:gd name="adj" fmla="val 25000"/>
            </a:avLst>
          </a:prstGeom>
          <a:solidFill>
            <a:srgbClr val="FFFFFF"/>
          </a:solidFill>
          <a:ln w="19050">
            <a:solidFill>
              <a:srgbClr val="6B4E96"/>
            </a:solidFill>
            <a:prstDash val="solid"/>
          </a:ln>
        </p:spPr>
      </p:sp>
      <p:sp>
        <p:nvSpPr>
          <p:cNvPr id="10" name="Text 8"/>
          <p:cNvSpPr/>
          <p:nvPr/>
        </p:nvSpPr>
        <p:spPr>
          <a:xfrm>
            <a:off x="91440" y="1380744"/>
            <a:ext cx="1005840" cy="438912"/>
          </a:xfrm>
          <a:prstGeom prst="rect">
            <a:avLst/>
          </a:prstGeom>
          <a:noFill/>
          <a:ln/>
        </p:spPr>
        <p:txBody>
          <a:bodyPr wrap="square" lIns="0" tIns="0" rIns="0" bIns="0" rtlCol="0" anchor="ctr"/>
          <a:lstStyle/>
          <a:p>
            <a:pPr algn="ctr" indent="0" marL="0">
              <a:buNone/>
            </a:pPr>
            <a:r>
              <a:rPr lang="en-US" sz="1100" b="1" dirty="0">
                <a:solidFill>
                  <a:srgbClr val="6B4E96"/>
                </a:solidFill>
                <a:latin typeface="Calibri" pitchFamily="34" charset="0"/>
                <a:ea typeface="Calibri" pitchFamily="34" charset="-122"/>
                <a:cs typeface="Calibri" pitchFamily="34" charset="-120"/>
              </a:rPr>
              <a:t>CLI</a:t>
            </a:r>
            <a:endParaRPr lang="en-US" sz="1100" dirty="0"/>
          </a:p>
        </p:txBody>
      </p:sp>
      <p:sp>
        <p:nvSpPr>
          <p:cNvPr id="11" name="Shape 9"/>
          <p:cNvSpPr/>
          <p:nvPr/>
        </p:nvSpPr>
        <p:spPr>
          <a:xfrm>
            <a:off x="2926080" y="1380744"/>
            <a:ext cx="1005840" cy="438912"/>
          </a:xfrm>
          <a:prstGeom prst="roundRect">
            <a:avLst>
              <a:gd name="adj" fmla="val 25000"/>
            </a:avLst>
          </a:prstGeom>
          <a:solidFill>
            <a:srgbClr val="FFFFFF"/>
          </a:solidFill>
          <a:ln w="19050">
            <a:solidFill>
              <a:srgbClr val="6B4E96"/>
            </a:solidFill>
            <a:prstDash val="solid"/>
          </a:ln>
        </p:spPr>
      </p:sp>
      <p:sp>
        <p:nvSpPr>
          <p:cNvPr id="12" name="Text 10"/>
          <p:cNvSpPr/>
          <p:nvPr/>
        </p:nvSpPr>
        <p:spPr>
          <a:xfrm>
            <a:off x="2926080" y="1380744"/>
            <a:ext cx="1005840" cy="438912"/>
          </a:xfrm>
          <a:prstGeom prst="rect">
            <a:avLst/>
          </a:prstGeom>
          <a:noFill/>
          <a:ln/>
        </p:spPr>
        <p:txBody>
          <a:bodyPr wrap="square" lIns="0" tIns="0" rIns="0" bIns="0" rtlCol="0" anchor="ctr"/>
          <a:lstStyle/>
          <a:p>
            <a:pPr algn="ctr" indent="0" marL="0">
              <a:buNone/>
            </a:pPr>
            <a:r>
              <a:rPr lang="en-US" sz="1100" b="1" dirty="0">
                <a:solidFill>
                  <a:srgbClr val="6B4E96"/>
                </a:solidFill>
                <a:latin typeface="Calibri" pitchFamily="34" charset="0"/>
                <a:ea typeface="Calibri" pitchFamily="34" charset="-122"/>
                <a:cs typeface="Calibri" pitchFamily="34" charset="-120"/>
              </a:rPr>
              <a:t>WEB</a:t>
            </a:r>
            <a:endParaRPr lang="en-US" sz="1100" dirty="0"/>
          </a:p>
        </p:txBody>
      </p:sp>
      <p:sp>
        <p:nvSpPr>
          <p:cNvPr id="13" name="Shape 11"/>
          <p:cNvSpPr/>
          <p:nvPr/>
        </p:nvSpPr>
        <p:spPr>
          <a:xfrm>
            <a:off x="91440" y="4215384"/>
            <a:ext cx="1005840" cy="438912"/>
          </a:xfrm>
          <a:prstGeom prst="roundRect">
            <a:avLst>
              <a:gd name="adj" fmla="val 25000"/>
            </a:avLst>
          </a:prstGeom>
          <a:solidFill>
            <a:srgbClr val="FFFFFF"/>
          </a:solidFill>
          <a:ln w="19050">
            <a:solidFill>
              <a:srgbClr val="6B4E96"/>
            </a:solidFill>
            <a:prstDash val="solid"/>
          </a:ln>
        </p:spPr>
      </p:sp>
      <p:sp>
        <p:nvSpPr>
          <p:cNvPr id="14" name="Text 12"/>
          <p:cNvSpPr/>
          <p:nvPr/>
        </p:nvSpPr>
        <p:spPr>
          <a:xfrm>
            <a:off x="91440" y="4215384"/>
            <a:ext cx="1005840" cy="438912"/>
          </a:xfrm>
          <a:prstGeom prst="rect">
            <a:avLst/>
          </a:prstGeom>
          <a:noFill/>
          <a:ln/>
        </p:spPr>
        <p:txBody>
          <a:bodyPr wrap="square" lIns="0" tIns="0" rIns="0" bIns="0" rtlCol="0" anchor="ctr"/>
          <a:lstStyle/>
          <a:p>
            <a:pPr algn="ctr" indent="0" marL="0">
              <a:buNone/>
            </a:pPr>
            <a:r>
              <a:rPr lang="en-US" sz="1100" b="1" dirty="0">
                <a:solidFill>
                  <a:srgbClr val="6B4E96"/>
                </a:solidFill>
                <a:latin typeface="Calibri" pitchFamily="34" charset="0"/>
                <a:ea typeface="Calibri" pitchFamily="34" charset="-122"/>
                <a:cs typeface="Calibri" pitchFamily="34" charset="-120"/>
              </a:rPr>
              <a:t>MCP</a:t>
            </a:r>
            <a:endParaRPr lang="en-US" sz="1100" dirty="0"/>
          </a:p>
        </p:txBody>
      </p:sp>
      <p:sp>
        <p:nvSpPr>
          <p:cNvPr id="15" name="Shape 13"/>
          <p:cNvSpPr/>
          <p:nvPr/>
        </p:nvSpPr>
        <p:spPr>
          <a:xfrm>
            <a:off x="2926080" y="4215384"/>
            <a:ext cx="1005840" cy="438912"/>
          </a:xfrm>
          <a:prstGeom prst="roundRect">
            <a:avLst>
              <a:gd name="adj" fmla="val 25000"/>
            </a:avLst>
          </a:prstGeom>
          <a:solidFill>
            <a:srgbClr val="FFFFFF"/>
          </a:solidFill>
          <a:ln w="19050">
            <a:solidFill>
              <a:srgbClr val="6B4E96"/>
            </a:solidFill>
            <a:prstDash val="solid"/>
          </a:ln>
        </p:spPr>
      </p:sp>
      <p:sp>
        <p:nvSpPr>
          <p:cNvPr id="16" name="Text 14"/>
          <p:cNvSpPr/>
          <p:nvPr/>
        </p:nvSpPr>
        <p:spPr>
          <a:xfrm>
            <a:off x="2926080" y="4215384"/>
            <a:ext cx="1005840" cy="438912"/>
          </a:xfrm>
          <a:prstGeom prst="rect">
            <a:avLst/>
          </a:prstGeom>
          <a:noFill/>
          <a:ln/>
        </p:spPr>
        <p:txBody>
          <a:bodyPr wrap="square" lIns="0" tIns="0" rIns="0" bIns="0" rtlCol="0" anchor="ctr"/>
          <a:lstStyle/>
          <a:p>
            <a:pPr algn="ctr" indent="0" marL="0">
              <a:buNone/>
            </a:pPr>
            <a:r>
              <a:rPr lang="en-US" sz="1100" b="1" dirty="0">
                <a:solidFill>
                  <a:srgbClr val="6B4E96"/>
                </a:solidFill>
                <a:latin typeface="Calibri" pitchFamily="34" charset="0"/>
                <a:ea typeface="Calibri" pitchFamily="34" charset="-122"/>
                <a:cs typeface="Calibri" pitchFamily="34" charset="-120"/>
              </a:rPr>
              <a:t>SKILL</a:t>
            </a:r>
            <a:endParaRPr lang="en-US" sz="1100" dirty="0"/>
          </a:p>
        </p:txBody>
      </p:sp>
      <p:sp>
        <p:nvSpPr>
          <p:cNvPr id="17" name="Shape 15"/>
          <p:cNvSpPr/>
          <p:nvPr/>
        </p:nvSpPr>
        <p:spPr>
          <a:xfrm>
            <a:off x="411480" y="914400"/>
            <a:ext cx="137160" cy="137160"/>
          </a:xfrm>
          <a:prstGeom prst="ellipse">
            <a:avLst/>
          </a:prstGeom>
          <a:solidFill>
            <a:srgbClr val="6B4E96"/>
          </a:solidFill>
          <a:ln w="12700">
            <a:solidFill>
              <a:srgbClr val="6B4E96"/>
            </a:solidFill>
            <a:prstDash val="solid"/>
          </a:ln>
        </p:spPr>
      </p:sp>
      <p:sp>
        <p:nvSpPr>
          <p:cNvPr id="18" name="Shape 16"/>
          <p:cNvSpPr/>
          <p:nvPr/>
        </p:nvSpPr>
        <p:spPr>
          <a:xfrm>
            <a:off x="3520440" y="731520"/>
            <a:ext cx="137160" cy="137160"/>
          </a:xfrm>
          <a:prstGeom prst="ellipse">
            <a:avLst/>
          </a:prstGeom>
          <a:solidFill>
            <a:srgbClr val="6B4E96"/>
          </a:solidFill>
          <a:ln w="12700">
            <a:solidFill>
              <a:srgbClr val="6B4E96"/>
            </a:solidFill>
            <a:prstDash val="solid"/>
          </a:ln>
        </p:spPr>
      </p:sp>
      <p:sp>
        <p:nvSpPr>
          <p:cNvPr id="19" name="Shape 17"/>
          <p:cNvSpPr/>
          <p:nvPr/>
        </p:nvSpPr>
        <p:spPr>
          <a:xfrm>
            <a:off x="3566160" y="5760720"/>
            <a:ext cx="137160" cy="137160"/>
          </a:xfrm>
          <a:prstGeom prst="ellipse">
            <a:avLst/>
          </a:prstGeom>
          <a:solidFill>
            <a:srgbClr val="6B4E96"/>
          </a:solidFill>
          <a:ln w="12700">
            <a:solidFill>
              <a:srgbClr val="6B4E96"/>
            </a:solidFill>
            <a:prstDash val="solid"/>
          </a:ln>
        </p:spPr>
      </p:sp>
      <p:sp>
        <p:nvSpPr>
          <p:cNvPr id="20" name="Shape 18"/>
          <p:cNvSpPr/>
          <p:nvPr/>
        </p:nvSpPr>
        <p:spPr>
          <a:xfrm>
            <a:off x="365760" y="5943600"/>
            <a:ext cx="137160" cy="137160"/>
          </a:xfrm>
          <a:prstGeom prst="ellipse">
            <a:avLst/>
          </a:prstGeom>
          <a:solidFill>
            <a:srgbClr val="6B4E96"/>
          </a:solidFill>
          <a:ln w="12700">
            <a:solidFill>
              <a:srgbClr val="6B4E96"/>
            </a:solidFill>
            <a:prstDash val="solid"/>
          </a:ln>
        </p:spPr>
      </p:sp>
      <p:sp>
        <p:nvSpPr>
          <p:cNvPr id="21" name="Text 19"/>
          <p:cNvSpPr/>
          <p:nvPr/>
        </p:nvSpPr>
        <p:spPr>
          <a:xfrm>
            <a:off x="4389120" y="1188720"/>
            <a:ext cx="7498080" cy="777240"/>
          </a:xfrm>
          <a:prstGeom prst="rect">
            <a:avLst/>
          </a:prstGeom>
          <a:noFill/>
          <a:ln/>
        </p:spPr>
        <p:txBody>
          <a:bodyPr wrap="square" lIns="0" tIns="0" rIns="0" bIns="0" rtlCol="0" anchor="ctr"/>
          <a:lstStyle/>
          <a:p>
            <a:pPr indent="0" marL="0">
              <a:buNone/>
            </a:pPr>
            <a:r>
              <a:rPr lang="en-US" sz="4400" b="1" dirty="0">
                <a:solidFill>
                  <a:srgbClr val="2D2D2D"/>
                </a:solidFill>
                <a:latin typeface="Calibri" pitchFamily="34" charset="0"/>
                <a:ea typeface="Calibri" pitchFamily="34" charset="-122"/>
                <a:cs typeface="Calibri" pitchFamily="34" charset="-120"/>
              </a:rPr>
              <a:t>Build Once.</a:t>
            </a:r>
            <a:endParaRPr lang="en-US" sz="4400" dirty="0"/>
          </a:p>
        </p:txBody>
      </p:sp>
      <p:sp>
        <p:nvSpPr>
          <p:cNvPr id="22" name="Text 20"/>
          <p:cNvSpPr/>
          <p:nvPr/>
        </p:nvSpPr>
        <p:spPr>
          <a:xfrm>
            <a:off x="4389120" y="1920240"/>
            <a:ext cx="7498080" cy="777240"/>
          </a:xfrm>
          <a:prstGeom prst="rect">
            <a:avLst/>
          </a:prstGeom>
          <a:noFill/>
          <a:ln/>
        </p:spPr>
        <p:txBody>
          <a:bodyPr wrap="square" lIns="0" tIns="0" rIns="0" bIns="0" rtlCol="0" anchor="ctr"/>
          <a:lstStyle/>
          <a:p>
            <a:pPr indent="0" marL="0">
              <a:buNone/>
            </a:pPr>
            <a:r>
              <a:rPr lang="en-US" sz="4400" b="1" dirty="0">
                <a:solidFill>
                  <a:srgbClr val="6B4E96"/>
                </a:solidFill>
                <a:latin typeface="Calibri" pitchFamily="34" charset="0"/>
                <a:ea typeface="Calibri" pitchFamily="34" charset="-122"/>
                <a:cs typeface="Calibri" pitchFamily="34" charset="-120"/>
              </a:rPr>
              <a:t>Expose</a:t>
            </a:r>
            <a:endParaRPr lang="en-US" sz="4400" dirty="0"/>
          </a:p>
        </p:txBody>
      </p:sp>
      <p:sp>
        <p:nvSpPr>
          <p:cNvPr id="23" name="Text 21"/>
          <p:cNvSpPr/>
          <p:nvPr/>
        </p:nvSpPr>
        <p:spPr>
          <a:xfrm>
            <a:off x="4389120" y="2651760"/>
            <a:ext cx="7498080" cy="777240"/>
          </a:xfrm>
          <a:prstGeom prst="rect">
            <a:avLst/>
          </a:prstGeom>
          <a:noFill/>
          <a:ln/>
        </p:spPr>
        <p:txBody>
          <a:bodyPr wrap="square" lIns="0" tIns="0" rIns="0" bIns="0" rtlCol="0" anchor="ctr"/>
          <a:lstStyle/>
          <a:p>
            <a:pPr indent="0" marL="0">
              <a:buNone/>
            </a:pPr>
            <a:r>
              <a:rPr lang="en-US" sz="4400" b="1" dirty="0">
                <a:solidFill>
                  <a:srgbClr val="6B4E96"/>
                </a:solidFill>
                <a:latin typeface="Calibri" pitchFamily="34" charset="0"/>
                <a:ea typeface="Calibri" pitchFamily="34" charset="-122"/>
                <a:cs typeface="Calibri" pitchFamily="34" charset="-120"/>
              </a:rPr>
              <a:t>Everywhere.</a:t>
            </a:r>
            <a:endParaRPr lang="en-US" sz="4400" dirty="0"/>
          </a:p>
        </p:txBody>
      </p:sp>
      <p:sp>
        <p:nvSpPr>
          <p:cNvPr id="24" name="Shape 22"/>
          <p:cNvSpPr/>
          <p:nvPr/>
        </p:nvSpPr>
        <p:spPr>
          <a:xfrm>
            <a:off x="4389120" y="3337560"/>
            <a:ext cx="4480560" cy="109728"/>
          </a:xfrm>
          <a:prstGeom prst="roundRect">
            <a:avLst>
              <a:gd name="adj" fmla="val 41667"/>
            </a:avLst>
          </a:prstGeom>
          <a:solidFill>
            <a:srgbClr val="FFD93D">
              <a:alpha val="75000"/>
            </a:srgbClr>
          </a:solidFill>
          <a:ln w="12700">
            <a:solidFill>
              <a:srgbClr val="FFD93D">
                <a:alpha val="0"/>
              </a:srgbClr>
            </a:solidFill>
            <a:prstDash val="solid"/>
          </a:ln>
        </p:spPr>
      </p:sp>
      <p:sp>
        <p:nvSpPr>
          <p:cNvPr id="25" name="Text 23"/>
          <p:cNvSpPr/>
          <p:nvPr/>
        </p:nvSpPr>
        <p:spPr>
          <a:xfrm>
            <a:off x="4389120" y="3611880"/>
            <a:ext cx="7498080" cy="457200"/>
          </a:xfrm>
          <a:prstGeom prst="rect">
            <a:avLst/>
          </a:prstGeom>
          <a:noFill/>
          <a:ln/>
        </p:spPr>
        <p:txBody>
          <a:bodyPr wrap="square" lIns="0" tIns="0" rIns="0" bIns="0" rtlCol="0" anchor="ctr"/>
          <a:lstStyle/>
          <a:p>
            <a:pPr indent="0" marL="0">
              <a:buNone/>
            </a:pPr>
            <a:r>
              <a:rPr lang="en-US" sz="1700" i="1" dirty="0">
                <a:solidFill>
                  <a:srgbClr val="5A5A5A"/>
                </a:solidFill>
                <a:latin typeface="Calibri" pitchFamily="34" charset="0"/>
                <a:ea typeface="Calibri" pitchFamily="34" charset="-122"/>
                <a:cs typeface="Calibri" pitchFamily="34" charset="-120"/>
              </a:rPr>
              <a:t>"From a normal app, to an app an AI agent can operate."</a:t>
            </a:r>
            <a:endParaRPr lang="en-US" sz="1700" dirty="0"/>
          </a:p>
        </p:txBody>
      </p:sp>
      <p:sp>
        <p:nvSpPr>
          <p:cNvPr id="26" name="Text 24"/>
          <p:cNvSpPr/>
          <p:nvPr/>
        </p:nvSpPr>
        <p:spPr>
          <a:xfrm>
            <a:off x="4389120" y="4343400"/>
            <a:ext cx="7498080" cy="1463040"/>
          </a:xfrm>
          <a:prstGeom prst="rect">
            <a:avLst/>
          </a:prstGeom>
          <a:noFill/>
          <a:ln/>
        </p:spPr>
        <p:txBody>
          <a:bodyPr wrap="square" rtlCol="0" anchor="ctr"/>
          <a:lstStyle/>
          <a:p>
            <a:pPr indent="0" marL="0">
              <a:spcAft>
                <a:spcPts val="400"/>
              </a:spcAft>
              <a:buNone/>
            </a:pPr>
            <a:r>
              <a:rPr lang="en-US" sz="1500" dirty="0">
                <a:solidFill>
                  <a:srgbClr val="2D2D2D"/>
                </a:solidFill>
                <a:latin typeface="Calibri" pitchFamily="34" charset="0"/>
                <a:ea typeface="Calibri" pitchFamily="34" charset="-122"/>
                <a:cs typeface="Calibri" pitchFamily="34" charset="-120"/>
              </a:rPr>
              <a:t>Sessions 1 &amp; 2  ·  we build a real CRM.</a:t>
            </a:r>
            <a:endParaRPr lang="en-US" sz="1500" dirty="0"/>
          </a:p>
          <a:p>
            <a:pPr indent="0" marL="0">
              <a:spcAft>
                <a:spcPts val="400"/>
              </a:spcAft>
              <a:buNone/>
            </a:pPr>
            <a:r>
              <a:rPr lang="en-US" sz="1500" dirty="0">
                <a:solidFill>
                  <a:srgbClr val="2D2D2D"/>
                </a:solidFill>
                <a:latin typeface="Calibri" pitchFamily="34" charset="0"/>
                <a:ea typeface="Calibri" pitchFamily="34" charset="-122"/>
                <a:cs typeface="Calibri" pitchFamily="34" charset="-120"/>
              </a:rPr>
              <a:t>Then we give it a second interface without touching its logic.</a:t>
            </a:r>
            <a:endParaRPr lang="en-US" sz="1500" dirty="0"/>
          </a:p>
          <a:p>
            <a:pPr indent="0" marL="0">
              <a:spcAft>
                <a:spcPts val="400"/>
              </a:spcAft>
              <a:buNone/>
            </a:pPr>
            <a:endParaRPr lang="en-US" sz="1500" dirty="0"/>
          </a:p>
          <a:p>
            <a:pPr indent="0" marL="0">
              <a:spcAft>
                <a:spcPts val="400"/>
              </a:spcAft>
              <a:buNone/>
            </a:pPr>
            <a:r>
              <a:rPr lang="en-US" sz="1500" b="1" i="1" dirty="0">
                <a:solidFill>
                  <a:srgbClr val="6B4E96"/>
                </a:solidFill>
                <a:latin typeface="Calibri" pitchFamily="34" charset="0"/>
                <a:ea typeface="Calibri" pitchFamily="34" charset="-122"/>
                <a:cs typeface="Calibri" pitchFamily="34" charset="-120"/>
              </a:rPr>
              <a:t>By Session 6, an AI agent runs the whole thing.</a:t>
            </a:r>
            <a:endParaRPr lang="en-US" sz="1500" dirty="0"/>
          </a:p>
        </p:txBody>
      </p:sp>
      <p:sp>
        <p:nvSpPr>
          <p:cNvPr id="27" name="Text 25"/>
          <p:cNvSpPr/>
          <p:nvPr/>
        </p:nvSpPr>
        <p:spPr>
          <a:xfrm>
            <a:off x="4389120" y="6035040"/>
            <a:ext cx="7498080" cy="365760"/>
          </a:xfrm>
          <a:prstGeom prst="rect">
            <a:avLst/>
          </a:prstGeom>
          <a:noFill/>
          <a:ln/>
        </p:spPr>
        <p:txBody>
          <a:bodyPr wrap="square" lIns="0" tIns="0" rIns="0" bIns="0" rtlCol="0" anchor="ctr"/>
          <a:lstStyle/>
          <a:p>
            <a:pPr indent="0" marL="0">
              <a:buNone/>
            </a:pPr>
            <a:r>
              <a:rPr lang="en-US" sz="1100" dirty="0">
                <a:solidFill>
                  <a:srgbClr val="8A8A8A"/>
                </a:solidFill>
                <a:latin typeface="Calibri" pitchFamily="34" charset="0"/>
                <a:ea typeface="Calibri" pitchFamily="34" charset="-122"/>
                <a:cs typeface="Calibri" pitchFamily="34" charset="-120"/>
              </a:rPr>
              <a:t>Sessions 1 &amp; 2  ·  MCP Workshop  ·  Skillopedia × Claude Code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A · WHY</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You Are Asking the Wrong Question</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And that is fine — almost everyone starts here.</a:t>
            </a:r>
            <a:endParaRPr lang="en-US" sz="1400" dirty="0"/>
          </a:p>
        </p:txBody>
      </p:sp>
      <p:sp>
        <p:nvSpPr>
          <p:cNvPr id="8" name="Shape 6"/>
          <p:cNvSpPr/>
          <p:nvPr/>
        </p:nvSpPr>
        <p:spPr>
          <a:xfrm>
            <a:off x="457200" y="2194560"/>
            <a:ext cx="5532120" cy="3291840"/>
          </a:xfrm>
          <a:prstGeom prst="roundRect">
            <a:avLst>
              <a:gd name="adj" fmla="val 3333"/>
            </a:avLst>
          </a:prstGeom>
          <a:solidFill>
            <a:srgbClr val="FBEEEE"/>
          </a:solidFill>
          <a:ln w="22225">
            <a:solidFill>
              <a:srgbClr val="D67373"/>
            </a:solidFill>
            <a:prstDash val="solid"/>
          </a:ln>
          <a:effectLst>
            <a:outerShdw sx="100000" sy="100000" kx="0" ky="0" algn="bl" rotWithShape="0" blurRad="101600" dist="25400" dir="5400000">
              <a:srgbClr val="C4B5DC">
                <a:alpha val="18000"/>
              </a:srgbClr>
            </a:outerShdw>
          </a:effectLst>
        </p:spPr>
      </p:sp>
      <p:sp>
        <p:nvSpPr>
          <p:cNvPr id="9" name="Shape 7"/>
          <p:cNvSpPr/>
          <p:nvPr/>
        </p:nvSpPr>
        <p:spPr>
          <a:xfrm>
            <a:off x="640080" y="2377440"/>
            <a:ext cx="2011680" cy="320040"/>
          </a:xfrm>
          <a:prstGeom prst="roundRect">
            <a:avLst>
              <a:gd name="adj" fmla="val 42857"/>
            </a:avLst>
          </a:prstGeom>
          <a:solidFill>
            <a:srgbClr val="D67373"/>
          </a:solidFill>
          <a:ln w="12700">
            <a:solidFill>
              <a:srgbClr val="D67373"/>
            </a:solidFill>
            <a:prstDash val="solid"/>
          </a:ln>
        </p:spPr>
      </p:sp>
      <p:sp>
        <p:nvSpPr>
          <p:cNvPr id="10" name="Text 8"/>
          <p:cNvSpPr/>
          <p:nvPr/>
        </p:nvSpPr>
        <p:spPr>
          <a:xfrm>
            <a:off x="640080" y="2377440"/>
            <a:ext cx="2011680" cy="320040"/>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WRONG QUESTION</a:t>
            </a:r>
            <a:endParaRPr lang="en-US" sz="1000" dirty="0"/>
          </a:p>
        </p:txBody>
      </p:sp>
      <p:sp>
        <p:nvSpPr>
          <p:cNvPr id="11" name="Text 9"/>
          <p:cNvSpPr/>
          <p:nvPr/>
        </p:nvSpPr>
        <p:spPr>
          <a:xfrm>
            <a:off x="640080" y="2880360"/>
            <a:ext cx="5166360" cy="914400"/>
          </a:xfrm>
          <a:prstGeom prst="rect">
            <a:avLst/>
          </a:prstGeom>
          <a:noFill/>
          <a:ln/>
        </p:spPr>
        <p:txBody>
          <a:bodyPr wrap="square" lIns="0" tIns="0" rIns="0" bIns="0" rtlCol="0" anchor="ctr"/>
          <a:lstStyle/>
          <a:p>
            <a:pPr indent="0" marL="0">
              <a:buNone/>
            </a:pPr>
            <a:r>
              <a:rPr lang="en-US" sz="2000" b="1" dirty="0">
                <a:solidFill>
                  <a:srgbClr val="2D2D2D"/>
                </a:solidFill>
                <a:latin typeface="Calibri" pitchFamily="34" charset="0"/>
                <a:ea typeface="Calibri" pitchFamily="34" charset="-122"/>
                <a:cs typeface="Calibri" pitchFamily="34" charset="-120"/>
              </a:rPr>
              <a:t>"Should I learn MCP,</a:t>
            </a:r>
            <a:endParaRPr lang="en-US" sz="2000" dirty="0"/>
          </a:p>
          <a:p>
            <a:pPr indent="0" marL="0">
              <a:buNone/>
            </a:pPr>
            <a:r>
              <a:rPr lang="en-US" sz="2000" b="1" dirty="0">
                <a:solidFill>
                  <a:srgbClr val="2D2D2D"/>
                </a:solidFill>
                <a:latin typeface="Calibri" pitchFamily="34" charset="0"/>
                <a:ea typeface="Calibri" pitchFamily="34" charset="-122"/>
                <a:cs typeface="Calibri" pitchFamily="34" charset="-120"/>
              </a:rPr>
              <a:t>or Skills, or build a CLI?"</a:t>
            </a:r>
            <a:endParaRPr lang="en-US" sz="2000" dirty="0"/>
          </a:p>
        </p:txBody>
      </p:sp>
      <p:sp>
        <p:nvSpPr>
          <p:cNvPr id="12" name="Text 10"/>
          <p:cNvSpPr/>
          <p:nvPr/>
        </p:nvSpPr>
        <p:spPr>
          <a:xfrm>
            <a:off x="777240" y="3886200"/>
            <a:ext cx="5029200" cy="137160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5A5A5A"/>
                </a:solidFill>
                <a:latin typeface="Calibri" pitchFamily="34" charset="0"/>
                <a:ea typeface="Calibri" pitchFamily="34" charset="-122"/>
                <a:cs typeface="Calibri" pitchFamily="34" charset="-120"/>
              </a:rPr>
              <a:t>The answer changes every few months</a:t>
            </a:r>
            <a:endParaRPr lang="en-US" sz="1150" dirty="0"/>
          </a:p>
          <a:p>
            <a:pPr marL="342900" indent="-342900">
              <a:spcAft>
                <a:spcPts val="400"/>
              </a:spcAft>
              <a:buSzPct val="100000"/>
              <a:buChar char="➤"/>
            </a:pPr>
            <a:r>
              <a:rPr lang="en-US" sz="1150" dirty="0">
                <a:solidFill>
                  <a:srgbClr val="5A5A5A"/>
                </a:solidFill>
                <a:latin typeface="Calibri" pitchFamily="34" charset="0"/>
                <a:ea typeface="Calibri" pitchFamily="34" charset="-122"/>
                <a:cs typeface="Calibri" pitchFamily="34" charset="-120"/>
              </a:rPr>
              <a:t>You rebuild your work each time it changes</a:t>
            </a:r>
            <a:endParaRPr lang="en-US" sz="1150" dirty="0"/>
          </a:p>
          <a:p>
            <a:pPr marL="342900" indent="-342900">
              <a:spcAft>
                <a:spcPts val="400"/>
              </a:spcAft>
              <a:buSzPct val="100000"/>
              <a:buChar char="➤"/>
            </a:pPr>
            <a:r>
              <a:rPr lang="en-US" sz="1150" dirty="0">
                <a:solidFill>
                  <a:srgbClr val="5A5A5A"/>
                </a:solidFill>
                <a:latin typeface="Calibri" pitchFamily="34" charset="0"/>
                <a:ea typeface="Calibri" pitchFamily="34" charset="-122"/>
                <a:cs typeface="Calibri" pitchFamily="34" charset="-120"/>
              </a:rPr>
              <a:t>You are always behind</a:t>
            </a:r>
            <a:endParaRPr lang="en-US" sz="1150" dirty="0"/>
          </a:p>
        </p:txBody>
      </p:sp>
      <p:sp>
        <p:nvSpPr>
          <p:cNvPr id="13" name="Shape 11"/>
          <p:cNvSpPr/>
          <p:nvPr/>
        </p:nvSpPr>
        <p:spPr>
          <a:xfrm>
            <a:off x="6172200" y="2194560"/>
            <a:ext cx="5532120" cy="3291840"/>
          </a:xfrm>
          <a:prstGeom prst="roundRect">
            <a:avLst>
              <a:gd name="adj" fmla="val 3333"/>
            </a:avLst>
          </a:prstGeom>
          <a:solidFill>
            <a:srgbClr val="F0F8F0"/>
          </a:solidFill>
          <a:ln w="22225">
            <a:solidFill>
              <a:srgbClr val="5A9C5A"/>
            </a:solidFill>
            <a:prstDash val="solid"/>
          </a:ln>
          <a:effectLst>
            <a:outerShdw sx="100000" sy="100000" kx="0" ky="0" algn="bl" rotWithShape="0" blurRad="101600" dist="25400" dir="5400000">
              <a:srgbClr val="C4B5DC">
                <a:alpha val="18000"/>
              </a:srgbClr>
            </a:outerShdw>
          </a:effectLst>
        </p:spPr>
      </p:sp>
      <p:sp>
        <p:nvSpPr>
          <p:cNvPr id="14" name="Shape 12"/>
          <p:cNvSpPr/>
          <p:nvPr/>
        </p:nvSpPr>
        <p:spPr>
          <a:xfrm>
            <a:off x="6355080" y="2377440"/>
            <a:ext cx="2011680" cy="320040"/>
          </a:xfrm>
          <a:prstGeom prst="roundRect">
            <a:avLst>
              <a:gd name="adj" fmla="val 42857"/>
            </a:avLst>
          </a:prstGeom>
          <a:solidFill>
            <a:srgbClr val="5A9C5A"/>
          </a:solidFill>
          <a:ln w="12700">
            <a:solidFill>
              <a:srgbClr val="5A9C5A"/>
            </a:solidFill>
            <a:prstDash val="solid"/>
          </a:ln>
        </p:spPr>
      </p:sp>
      <p:sp>
        <p:nvSpPr>
          <p:cNvPr id="15" name="Text 13"/>
          <p:cNvSpPr/>
          <p:nvPr/>
        </p:nvSpPr>
        <p:spPr>
          <a:xfrm>
            <a:off x="6355080" y="2377440"/>
            <a:ext cx="2011680" cy="320040"/>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RIGHT QUESTION</a:t>
            </a:r>
            <a:endParaRPr lang="en-US" sz="1000" dirty="0"/>
          </a:p>
        </p:txBody>
      </p:sp>
      <p:sp>
        <p:nvSpPr>
          <p:cNvPr id="16" name="Text 14"/>
          <p:cNvSpPr/>
          <p:nvPr/>
        </p:nvSpPr>
        <p:spPr>
          <a:xfrm>
            <a:off x="6355080" y="2880360"/>
            <a:ext cx="5166360" cy="914400"/>
          </a:xfrm>
          <a:prstGeom prst="rect">
            <a:avLst/>
          </a:prstGeom>
          <a:noFill/>
          <a:ln/>
        </p:spPr>
        <p:txBody>
          <a:bodyPr wrap="square" lIns="0" tIns="0" rIns="0" bIns="0" rtlCol="0" anchor="ctr"/>
          <a:lstStyle/>
          <a:p>
            <a:pPr indent="0" marL="0">
              <a:buNone/>
            </a:pPr>
            <a:r>
              <a:rPr lang="en-US" sz="2000" b="1" dirty="0">
                <a:solidFill>
                  <a:srgbClr val="2D2D2D"/>
                </a:solidFill>
                <a:latin typeface="Calibri" pitchFamily="34" charset="0"/>
                <a:ea typeface="Calibri" pitchFamily="34" charset="-122"/>
                <a:cs typeface="Calibri" pitchFamily="34" charset="-120"/>
              </a:rPr>
              <a:t>"How do I build one thing</a:t>
            </a:r>
            <a:endParaRPr lang="en-US" sz="2000" dirty="0"/>
          </a:p>
          <a:p>
            <a:pPr indent="0" marL="0">
              <a:buNone/>
            </a:pPr>
            <a:r>
              <a:rPr lang="en-US" sz="2000" b="1" dirty="0">
                <a:solidFill>
                  <a:srgbClr val="2D2D2D"/>
                </a:solidFill>
                <a:latin typeface="Calibri" pitchFamily="34" charset="0"/>
                <a:ea typeface="Calibri" pitchFamily="34" charset="-122"/>
                <a:cs typeface="Calibri" pitchFamily="34" charset="-120"/>
              </a:rPr>
              <a:t>that works everywhere?"</a:t>
            </a:r>
            <a:endParaRPr lang="en-US" sz="2000" dirty="0"/>
          </a:p>
        </p:txBody>
      </p:sp>
      <p:sp>
        <p:nvSpPr>
          <p:cNvPr id="17" name="Text 15"/>
          <p:cNvSpPr/>
          <p:nvPr/>
        </p:nvSpPr>
        <p:spPr>
          <a:xfrm>
            <a:off x="6492240" y="3886200"/>
            <a:ext cx="5029200" cy="137160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5A5A5A"/>
                </a:solidFill>
                <a:latin typeface="Calibri" pitchFamily="34" charset="0"/>
                <a:ea typeface="Calibri" pitchFamily="34" charset="-122"/>
                <a:cs typeface="Calibri" pitchFamily="34" charset="-120"/>
              </a:rPr>
              <a:t>The answer does not change</a:t>
            </a:r>
            <a:endParaRPr lang="en-US" sz="1150" dirty="0"/>
          </a:p>
          <a:p>
            <a:pPr marL="342900" indent="-342900">
              <a:spcAft>
                <a:spcPts val="400"/>
              </a:spcAft>
              <a:buSzPct val="100000"/>
              <a:buChar char="✓"/>
            </a:pPr>
            <a:r>
              <a:rPr lang="en-US" sz="1150" dirty="0">
                <a:solidFill>
                  <a:srgbClr val="5A5A5A"/>
                </a:solidFill>
                <a:latin typeface="Calibri" pitchFamily="34" charset="0"/>
                <a:ea typeface="Calibri" pitchFamily="34" charset="-122"/>
                <a:cs typeface="Calibri" pitchFamily="34" charset="-120"/>
              </a:rPr>
              <a:t>New tool arrives, you add one small file</a:t>
            </a:r>
            <a:endParaRPr lang="en-US" sz="1150" dirty="0"/>
          </a:p>
          <a:p>
            <a:pPr marL="342900" indent="-342900">
              <a:spcAft>
                <a:spcPts val="400"/>
              </a:spcAft>
              <a:buSzPct val="100000"/>
              <a:buChar char="✓"/>
            </a:pPr>
            <a:r>
              <a:rPr lang="en-US" sz="1150" dirty="0">
                <a:solidFill>
                  <a:srgbClr val="5A5A5A"/>
                </a:solidFill>
                <a:latin typeface="Calibri" pitchFamily="34" charset="0"/>
                <a:ea typeface="Calibri" pitchFamily="34" charset="-122"/>
                <a:cs typeface="Calibri" pitchFamily="34" charset="-120"/>
              </a:rPr>
              <a:t>Everything you already built keeps working</a:t>
            </a:r>
            <a:endParaRPr lang="en-US" sz="1150" dirty="0"/>
          </a:p>
        </p:txBody>
      </p:sp>
      <p:sp>
        <p:nvSpPr>
          <p:cNvPr id="18" name="Shape 16"/>
          <p:cNvSpPr/>
          <p:nvPr/>
        </p:nvSpPr>
        <p:spPr>
          <a:xfrm>
            <a:off x="457200" y="5669280"/>
            <a:ext cx="11247120" cy="411480"/>
          </a:xfrm>
          <a:prstGeom prst="roundRect">
            <a:avLst>
              <a:gd name="adj" fmla="val 22222"/>
            </a:avLst>
          </a:prstGeom>
          <a:solidFill>
            <a:srgbClr val="FFF4B8"/>
          </a:solidFill>
          <a:ln w="12700">
            <a:solidFill>
              <a:srgbClr val="E5BA1F"/>
            </a:solidFill>
            <a:prstDash val="solid"/>
          </a:ln>
        </p:spPr>
      </p:sp>
      <p:sp>
        <p:nvSpPr>
          <p:cNvPr id="19" name="Text 17"/>
          <p:cNvSpPr/>
          <p:nvPr/>
        </p:nvSpPr>
        <p:spPr>
          <a:xfrm>
            <a:off x="640080" y="5669280"/>
            <a:ext cx="10881360" cy="411480"/>
          </a:xfrm>
          <a:prstGeom prst="rect">
            <a:avLst/>
          </a:prstGeom>
          <a:noFill/>
          <a:ln/>
        </p:spPr>
        <p:txBody>
          <a:bodyPr wrap="square" rtlCol="0" anchor="ctr"/>
          <a:lstStyle/>
          <a:p>
            <a:pPr algn="ctr" indent="0" marL="0">
              <a:buNone/>
            </a:pPr>
            <a:r>
              <a:rPr lang="en-US" sz="1300" b="1" i="1" dirty="0">
                <a:solidFill>
                  <a:srgbClr val="2D2D2D"/>
                </a:solidFill>
                <a:latin typeface="Calibri" pitchFamily="34" charset="0"/>
                <a:ea typeface="Calibri" pitchFamily="34" charset="-122"/>
                <a:cs typeface="Calibri" pitchFamily="34" charset="-120"/>
              </a:rPr>
              <a:t>Today we are not learning a tool. We are learning a shape you can pour any tool into.</a:t>
            </a:r>
            <a:endParaRPr lang="en-US" sz="1300" dirty="0"/>
          </a:p>
        </p:txBody>
      </p:sp>
      <p:sp>
        <p:nvSpPr>
          <p:cNvPr id="20" name="Text 18"/>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21" name="Text 19"/>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 / 28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A · LIVE DEMO</a:t>
            </a:r>
            <a:endParaRPr lang="en-US" sz="1000" dirty="0"/>
          </a:p>
        </p:txBody>
      </p:sp>
      <p:sp>
        <p:nvSpPr>
          <p:cNvPr id="4" name="Shape 2"/>
          <p:cNvSpPr/>
          <p:nvPr/>
        </p:nvSpPr>
        <p:spPr>
          <a:xfrm>
            <a:off x="457200" y="1371600"/>
            <a:ext cx="6035040" cy="91440"/>
          </a:xfrm>
          <a:prstGeom prst="roundRect">
            <a:avLst>
              <a:gd name="adj" fmla="val 50000"/>
            </a:avLst>
          </a:prstGeom>
          <a:solidFill>
            <a:srgbClr val="FFD93D">
              <a:alpha val="70000"/>
            </a:srgbClr>
          </a:solidFill>
          <a:ln w="12700">
            <a:solidFill>
              <a:srgbClr val="FFD93D">
                <a:alpha val="0"/>
              </a:srgbClr>
            </a:solidFill>
            <a:prstDash val="solid"/>
          </a:ln>
        </p:spPr>
      </p:sp>
      <p:sp>
        <p:nvSpPr>
          <p:cNvPr id="5" name="Shape 3"/>
          <p:cNvSpPr/>
          <p:nvPr/>
        </p:nvSpPr>
        <p:spPr>
          <a:xfrm>
            <a:off x="457200" y="502920"/>
            <a:ext cx="164592" cy="164592"/>
          </a:xfrm>
          <a:prstGeom prst="ellipse">
            <a:avLst/>
          </a:prstGeom>
          <a:solidFill>
            <a:srgbClr val="FFD93D"/>
          </a:solidFill>
          <a:ln w="12700">
            <a:solidFill>
              <a:srgbClr val="FFD93D"/>
            </a:solidFill>
            <a:prstDash val="solid"/>
          </a:ln>
        </p:spPr>
      </p:sp>
      <p:sp>
        <p:nvSpPr>
          <p:cNvPr id="6" name="Shape 4"/>
          <p:cNvSpPr/>
          <p:nvPr/>
        </p:nvSpPr>
        <p:spPr>
          <a:xfrm>
            <a:off x="658368" y="502920"/>
            <a:ext cx="164592" cy="164592"/>
          </a:xfrm>
          <a:prstGeom prst="ellipse">
            <a:avLst/>
          </a:prstGeom>
          <a:solidFill>
            <a:srgbClr val="9B7FBE"/>
          </a:solidFill>
          <a:ln w="12700">
            <a:solidFill>
              <a:srgbClr val="9B7FBE"/>
            </a:solidFill>
            <a:prstDash val="solid"/>
          </a:ln>
        </p:spPr>
      </p:sp>
      <p:sp>
        <p:nvSpPr>
          <p:cNvPr id="7" name="Text 5"/>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 Live Demo — Here Is a CRM</a:t>
            </a:r>
            <a:endParaRPr lang="en-US" sz="2800" dirty="0"/>
          </a:p>
        </p:txBody>
      </p:sp>
      <p:sp>
        <p:nvSpPr>
          <p:cNvPr id="8" name="Text 6"/>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Nothing about AI yet. Just watch it work.</a:t>
            </a:r>
            <a:endParaRPr lang="en-US" sz="1400" dirty="0"/>
          </a:p>
        </p:txBody>
      </p:sp>
      <p:sp>
        <p:nvSpPr>
          <p:cNvPr id="9" name="Shape 7"/>
          <p:cNvSpPr/>
          <p:nvPr/>
        </p:nvSpPr>
        <p:spPr>
          <a:xfrm>
            <a:off x="457200" y="2103120"/>
            <a:ext cx="5532120" cy="3931920"/>
          </a:xfrm>
          <a:prstGeom prst="roundRect">
            <a:avLst>
              <a:gd name="adj" fmla="val 2791"/>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0" name="Text 8"/>
          <p:cNvSpPr/>
          <p:nvPr/>
        </p:nvSpPr>
        <p:spPr>
          <a:xfrm>
            <a:off x="640080" y="2286000"/>
            <a:ext cx="516636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DO THIS ON THE PROJECTOR</a:t>
            </a:r>
            <a:endParaRPr lang="en-US" sz="1050" dirty="0"/>
          </a:p>
        </p:txBody>
      </p:sp>
      <p:sp>
        <p:nvSpPr>
          <p:cNvPr id="11" name="Text 9"/>
          <p:cNvSpPr/>
          <p:nvPr/>
        </p:nvSpPr>
        <p:spPr>
          <a:xfrm>
            <a:off x="777240" y="2606040"/>
            <a:ext cx="5029200" cy="32004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D2D2D"/>
                </a:solidFill>
                <a:latin typeface="Calibri" pitchFamily="34" charset="0"/>
                <a:ea typeface="Calibri" pitchFamily="34" charset="-122"/>
                <a:cs typeface="Calibri" pitchFamily="34" charset="-120"/>
              </a:rPr>
              <a:t>Dashboard — read one number out loud</a:t>
            </a:r>
            <a:endParaRPr lang="en-US" sz="1250" dirty="0"/>
          </a:p>
          <a:p>
            <a:pPr marL="342900" indent="-342900">
              <a:spcAft>
                <a:spcPts val="800"/>
              </a:spcAft>
              <a:buSzPct val="100000"/>
              <a:buChar char="➤"/>
            </a:pPr>
            <a:r>
              <a:rPr lang="en-US" sz="1250" dirty="0">
                <a:solidFill>
                  <a:srgbClr val="2D2D2D"/>
                </a:solidFill>
                <a:latin typeface="Calibri" pitchFamily="34" charset="0"/>
                <a:ea typeface="Calibri" pitchFamily="34" charset="-122"/>
                <a:cs typeface="Calibri" pitchFamily="34" charset="-120"/>
              </a:rPr>
              <a:t>Pipeline — drag a deal card to another column</a:t>
            </a:r>
            <a:endParaRPr lang="en-US" sz="1250" dirty="0"/>
          </a:p>
          <a:p>
            <a:pPr marL="342900" indent="-342900">
              <a:spcAft>
                <a:spcPts val="800"/>
              </a:spcAft>
              <a:buSzPct val="100000"/>
              <a:buChar char="➤"/>
            </a:pPr>
            <a:r>
              <a:rPr lang="en-US" sz="1250" dirty="0">
                <a:solidFill>
                  <a:srgbClr val="2D2D2D"/>
                </a:solidFill>
                <a:latin typeface="Calibri" pitchFamily="34" charset="0"/>
                <a:ea typeface="Calibri" pitchFamily="34" charset="-122"/>
                <a:cs typeface="Calibri" pitchFamily="34" charset="-120"/>
              </a:rPr>
              <a:t>Accounts — click a row, show the drawer</a:t>
            </a:r>
            <a:endParaRPr lang="en-US" sz="1250" dirty="0"/>
          </a:p>
          <a:p>
            <a:pPr marL="342900" indent="-342900">
              <a:spcAft>
                <a:spcPts val="800"/>
              </a:spcAft>
              <a:buSzPct val="100000"/>
              <a:buChar char="➤"/>
            </a:pPr>
            <a:r>
              <a:rPr lang="en-US" sz="1250" dirty="0">
                <a:solidFill>
                  <a:srgbClr val="2D2D2D"/>
                </a:solidFill>
                <a:latin typeface="Calibri" pitchFamily="34" charset="0"/>
                <a:ea typeface="Calibri" pitchFamily="34" charset="-122"/>
                <a:cs typeface="Calibri" pitchFamily="34" charset="-120"/>
              </a:rPr>
              <a:t>Leads — click Convert, show it created an account, a contact and a deal</a:t>
            </a:r>
            <a:endParaRPr lang="en-US" sz="1250" dirty="0"/>
          </a:p>
        </p:txBody>
      </p:sp>
      <p:sp>
        <p:nvSpPr>
          <p:cNvPr id="12" name="Shape 10"/>
          <p:cNvSpPr/>
          <p:nvPr/>
        </p:nvSpPr>
        <p:spPr>
          <a:xfrm>
            <a:off x="6172200" y="2103120"/>
            <a:ext cx="5532120" cy="3931920"/>
          </a:xfrm>
          <a:prstGeom prst="roundRect">
            <a:avLst>
              <a:gd name="adj" fmla="val 2791"/>
            </a:avLst>
          </a:prstGeom>
          <a:solidFill>
            <a:srgbClr val="FFF4B8"/>
          </a:solidFill>
          <a:ln w="25400">
            <a:solidFill>
              <a:srgbClr val="E5BA1F"/>
            </a:solidFill>
            <a:prstDash val="solid"/>
          </a:ln>
          <a:effectLst>
            <a:outerShdw sx="100000" sy="100000" kx="0" ky="0" algn="bl" rotWithShape="0" blurRad="101600" dist="25400" dir="5400000">
              <a:srgbClr val="C4B5DC">
                <a:alpha val="18000"/>
              </a:srgbClr>
            </a:outerShdw>
          </a:effectLst>
        </p:spPr>
      </p:sp>
      <p:sp>
        <p:nvSpPr>
          <p:cNvPr id="13" name="Text 11"/>
          <p:cNvSpPr/>
          <p:nvPr/>
        </p:nvSpPr>
        <p:spPr>
          <a:xfrm>
            <a:off x="6355080" y="2286000"/>
            <a:ext cx="5166360" cy="274320"/>
          </a:xfrm>
          <a:prstGeom prst="rect">
            <a:avLst/>
          </a:prstGeom>
          <a:noFill/>
          <a:ln/>
        </p:spPr>
        <p:txBody>
          <a:bodyPr wrap="square" lIns="0" tIns="0" rIns="0" bIns="0" rtlCol="0" anchor="ctr"/>
          <a:lstStyle/>
          <a:p>
            <a:pPr indent="0" marL="0">
              <a:buNone/>
            </a:pPr>
            <a:r>
              <a:rPr lang="en-US" sz="1050" b="1" spc="140" kern="0" dirty="0">
                <a:solidFill>
                  <a:srgbClr val="E5BA1F"/>
                </a:solidFill>
                <a:latin typeface="Calibri" pitchFamily="34" charset="0"/>
                <a:ea typeface="Calibri" pitchFamily="34" charset="-122"/>
                <a:cs typeface="Calibri" pitchFamily="34" charset="-120"/>
              </a:rPr>
              <a:t>SAY THIS AFTERWARDS</a:t>
            </a:r>
            <a:endParaRPr lang="en-US" sz="1050" dirty="0"/>
          </a:p>
        </p:txBody>
      </p:sp>
      <p:sp>
        <p:nvSpPr>
          <p:cNvPr id="14" name="Text 12"/>
          <p:cNvSpPr/>
          <p:nvPr/>
        </p:nvSpPr>
        <p:spPr>
          <a:xfrm>
            <a:off x="6355080" y="2651760"/>
            <a:ext cx="5166360" cy="3108960"/>
          </a:xfrm>
          <a:prstGeom prst="rect">
            <a:avLst/>
          </a:prstGeom>
          <a:noFill/>
          <a:ln/>
        </p:spPr>
        <p:txBody>
          <a:bodyPr wrap="square" lIns="0" tIns="0" rIns="0" bIns="0" rtlCol="0" anchor="ctr"/>
          <a:lstStyle/>
          <a:p>
            <a:pPr indent="0" marL="0">
              <a:buNone/>
            </a:pPr>
            <a:r>
              <a:rPr lang="en-US" sz="1500" i="1" dirty="0">
                <a:solidFill>
                  <a:srgbClr val="2D2D2D"/>
                </a:solidFill>
                <a:latin typeface="Calibri" pitchFamily="34" charset="0"/>
                <a:ea typeface="Calibri" pitchFamily="34" charset="-122"/>
                <a:cs typeface="Calibri" pitchFamily="34" charset="-120"/>
              </a:rPr>
              <a:t>"This is an ordinary business application.</a:t>
            </a:r>
            <a:endParaRPr lang="en-US" sz="1500" dirty="0"/>
          </a:p>
          <a:p>
            <a:pPr indent="0" marL="0">
              <a:buNone/>
            </a:pPr>
            <a:endParaRPr lang="en-US" sz="1500" dirty="0"/>
          </a:p>
          <a:p>
            <a:pPr indent="0" marL="0">
              <a:buNone/>
            </a:pPr>
            <a:r>
              <a:rPr lang="en-US" sz="1500" i="1" dirty="0">
                <a:solidFill>
                  <a:srgbClr val="2D2D2D"/>
                </a:solidFill>
                <a:latin typeface="Calibri" pitchFamily="34" charset="0"/>
                <a:ea typeface="Calibri" pitchFamily="34" charset="-122"/>
                <a:cs typeface="Calibri" pitchFamily="34" charset="-120"/>
              </a:rPr>
              <a:t>No AI anywhere in it.</a:t>
            </a:r>
            <a:endParaRPr lang="en-US" sz="1500" dirty="0"/>
          </a:p>
          <a:p>
            <a:pPr indent="0" marL="0">
              <a:buNone/>
            </a:pPr>
            <a:endParaRPr lang="en-US" sz="1500" dirty="0"/>
          </a:p>
          <a:p>
            <a:pPr indent="0" marL="0">
              <a:buNone/>
            </a:pPr>
            <a:r>
              <a:rPr lang="en-US" sz="1500" i="1" dirty="0">
                <a:solidFill>
                  <a:srgbClr val="2D2D2D"/>
                </a:solidFill>
                <a:latin typeface="Calibri" pitchFamily="34" charset="0"/>
                <a:ea typeface="Calibri" pitchFamily="34" charset="-122"/>
                <a:cs typeface="Calibri" pitchFamily="34" charset="-120"/>
              </a:rPr>
              <a:t>Remember what I just did with my hands —</a:t>
            </a:r>
            <a:endParaRPr lang="en-US" sz="1500" dirty="0"/>
          </a:p>
          <a:p>
            <a:pPr indent="0" marL="0">
              <a:buNone/>
            </a:pPr>
            <a:r>
              <a:rPr lang="en-US" sz="1500" i="1" dirty="0">
                <a:solidFill>
                  <a:srgbClr val="2D2D2D"/>
                </a:solidFill>
                <a:latin typeface="Calibri" pitchFamily="34" charset="0"/>
                <a:ea typeface="Calibri" pitchFamily="34" charset="-122"/>
                <a:cs typeface="Calibri" pitchFamily="34" charset="-120"/>
              </a:rPr>
              <a:t>by the end of this course, an AI agent</a:t>
            </a:r>
            <a:endParaRPr lang="en-US" sz="1500" dirty="0"/>
          </a:p>
          <a:p>
            <a:pPr indent="0" marL="0">
              <a:buNone/>
            </a:pPr>
            <a:r>
              <a:rPr lang="en-US" sz="1500" i="1" dirty="0">
                <a:solidFill>
                  <a:srgbClr val="2D2D2D"/>
                </a:solidFill>
                <a:latin typeface="Calibri" pitchFamily="34" charset="0"/>
                <a:ea typeface="Calibri" pitchFamily="34" charset="-122"/>
                <a:cs typeface="Calibri" pitchFamily="34" charset="-120"/>
              </a:rPr>
              <a:t>will be doing all of it."</a:t>
            </a:r>
            <a:endParaRPr lang="en-US" sz="1500" dirty="0"/>
          </a:p>
        </p:txBody>
      </p:sp>
      <p:sp>
        <p:nvSpPr>
          <p:cNvPr id="15" name="Text 13"/>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6" name="Text 14"/>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3 / 28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A · THE TRAP</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The Trap: Writing the Same Logic Four Times</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This is what most people do the week they discover MCP.</a:t>
            </a:r>
            <a:endParaRPr lang="en-US" sz="1400" dirty="0"/>
          </a:p>
        </p:txBody>
      </p:sp>
      <p:sp>
        <p:nvSpPr>
          <p:cNvPr id="8" name="Shape 6"/>
          <p:cNvSpPr/>
          <p:nvPr/>
        </p:nvSpPr>
        <p:spPr>
          <a:xfrm>
            <a:off x="457200" y="2103120"/>
            <a:ext cx="5532120" cy="2651760"/>
          </a:xfrm>
          <a:prstGeom prst="roundRect">
            <a:avLst>
              <a:gd name="adj" fmla="val 2759"/>
            </a:avLst>
          </a:prstGeom>
          <a:solidFill>
            <a:srgbClr val="F6F2FB"/>
          </a:solidFill>
          <a:ln w="9525">
            <a:solidFill>
              <a:srgbClr val="C5B3DC"/>
            </a:solidFill>
            <a:prstDash val="solid"/>
          </a:ln>
        </p:spPr>
      </p:sp>
      <p:sp>
        <p:nvSpPr>
          <p:cNvPr id="9" name="Text 7"/>
          <p:cNvSpPr/>
          <p:nvPr/>
        </p:nvSpPr>
        <p:spPr>
          <a:xfrm>
            <a:off x="640080" y="2212848"/>
            <a:ext cx="5166360" cy="2432304"/>
          </a:xfrm>
          <a:prstGeom prst="rect">
            <a:avLst/>
          </a:prstGeom>
          <a:noFill/>
          <a:ln/>
        </p:spPr>
        <p:txBody>
          <a:bodyPr wrap="square" lIns="0" tIns="0" rIns="0" bIns="0" rtlCol="0" anchor="t"/>
          <a:lstStyle/>
          <a:p>
            <a:pPr algn="l" indent="0" marL="0">
              <a:buNone/>
            </a:pPr>
            <a:r>
              <a:rPr lang="en-US" sz="1300" dirty="0">
                <a:solidFill>
                  <a:srgbClr val="2D2D2D"/>
                </a:solidFill>
                <a:latin typeface="Consolas" pitchFamily="34" charset="0"/>
                <a:ea typeface="Consolas" pitchFamily="34" charset="-122"/>
                <a:cs typeface="Consolas" pitchFamily="34" charset="-120"/>
              </a:rPr>
              <a:t>CLI</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 CRM logic</a:t>
            </a:r>
            <a:endParaRPr lang="en-US" sz="1300" dirty="0"/>
          </a:p>
          <a:p>
            <a:pPr algn="l" indent="0" marL="0">
              <a:buNone/>
            </a:pP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Local MCP</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 CRM logic</a:t>
            </a:r>
            <a:endParaRPr lang="en-US" sz="1300" dirty="0"/>
          </a:p>
          <a:p>
            <a:pPr algn="l" indent="0" marL="0">
              <a:buNone/>
            </a:pP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Remote MCP</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 CRM logic</a:t>
            </a:r>
            <a:endParaRPr lang="en-US" sz="1300" dirty="0"/>
          </a:p>
          <a:p>
            <a:pPr algn="l" indent="0" marL="0">
              <a:buNone/>
            </a:pP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Skill</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 CRM logic</a:t>
            </a:r>
            <a:endParaRPr lang="en-US" sz="1300" dirty="0"/>
          </a:p>
        </p:txBody>
      </p:sp>
      <p:sp>
        <p:nvSpPr>
          <p:cNvPr id="10" name="Shape 8"/>
          <p:cNvSpPr/>
          <p:nvPr/>
        </p:nvSpPr>
        <p:spPr>
          <a:xfrm>
            <a:off x="6172200" y="2103120"/>
            <a:ext cx="5532120" cy="2651760"/>
          </a:xfrm>
          <a:prstGeom prst="roundRect">
            <a:avLst>
              <a:gd name="adj" fmla="val 4138"/>
            </a:avLst>
          </a:prstGeom>
          <a:solidFill>
            <a:srgbClr val="FBEEEE"/>
          </a:solidFill>
          <a:ln w="22225">
            <a:solidFill>
              <a:srgbClr val="D67373"/>
            </a:solidFill>
            <a:prstDash val="solid"/>
          </a:ln>
          <a:effectLst>
            <a:outerShdw sx="100000" sy="100000" kx="0" ky="0" algn="bl" rotWithShape="0" blurRad="101600" dist="25400" dir="5400000">
              <a:srgbClr val="C4B5DC">
                <a:alpha val="18000"/>
              </a:srgbClr>
            </a:outerShdw>
          </a:effectLst>
        </p:spPr>
      </p:sp>
      <p:sp>
        <p:nvSpPr>
          <p:cNvPr id="11" name="Text 9"/>
          <p:cNvSpPr/>
          <p:nvPr/>
        </p:nvSpPr>
        <p:spPr>
          <a:xfrm>
            <a:off x="6355080" y="2286000"/>
            <a:ext cx="5166360" cy="274320"/>
          </a:xfrm>
          <a:prstGeom prst="rect">
            <a:avLst/>
          </a:prstGeom>
          <a:noFill/>
          <a:ln/>
        </p:spPr>
        <p:txBody>
          <a:bodyPr wrap="square" lIns="0" tIns="0" rIns="0" bIns="0" rtlCol="0" anchor="ctr"/>
          <a:lstStyle/>
          <a:p>
            <a:pPr indent="0" marL="0">
              <a:buNone/>
            </a:pPr>
            <a:r>
              <a:rPr lang="en-US" sz="1050" b="1" spc="140" kern="0" dirty="0">
                <a:solidFill>
                  <a:srgbClr val="D67373"/>
                </a:solidFill>
                <a:latin typeface="Calibri" pitchFamily="34" charset="0"/>
                <a:ea typeface="Calibri" pitchFamily="34" charset="-122"/>
                <a:cs typeface="Calibri" pitchFamily="34" charset="-120"/>
              </a:rPr>
              <a:t>WHAT THIS COSTS YOU</a:t>
            </a:r>
            <a:endParaRPr lang="en-US" sz="1050" dirty="0"/>
          </a:p>
        </p:txBody>
      </p:sp>
      <p:sp>
        <p:nvSpPr>
          <p:cNvPr id="12" name="Text 10"/>
          <p:cNvSpPr/>
          <p:nvPr/>
        </p:nvSpPr>
        <p:spPr>
          <a:xfrm>
            <a:off x="6492240" y="2651760"/>
            <a:ext cx="5029200" cy="20116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Four copies of every business rule</a:t>
            </a:r>
            <a:endParaRPr lang="en-US" sz="1200" dirty="0"/>
          </a:p>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Four places to fix every bug</a:t>
            </a:r>
            <a:endParaRPr lang="en-US" sz="1200" dirty="0"/>
          </a:p>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They drift apart within a month</a:t>
            </a:r>
            <a:endParaRPr lang="en-US" sz="1200" dirty="0"/>
          </a:p>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You will forget one. Everyone does.</a:t>
            </a:r>
            <a:endParaRPr lang="en-US" sz="1200" dirty="0"/>
          </a:p>
        </p:txBody>
      </p:sp>
      <p:sp>
        <p:nvSpPr>
          <p:cNvPr id="13" name="Shape 11"/>
          <p:cNvSpPr/>
          <p:nvPr/>
        </p:nvSpPr>
        <p:spPr>
          <a:xfrm>
            <a:off x="457200" y="4983480"/>
            <a:ext cx="11247120" cy="1005840"/>
          </a:xfrm>
          <a:prstGeom prst="roundRect">
            <a:avLst>
              <a:gd name="adj" fmla="val 9091"/>
            </a:avLst>
          </a:prstGeom>
          <a:solidFill>
            <a:srgbClr val="FFF4B8"/>
          </a:solidFill>
          <a:ln w="12700">
            <a:solidFill>
              <a:srgbClr val="E5BA1F"/>
            </a:solidFill>
            <a:prstDash val="solid"/>
          </a:ln>
        </p:spPr>
      </p:sp>
      <p:sp>
        <p:nvSpPr>
          <p:cNvPr id="14" name="Text 12"/>
          <p:cNvSpPr/>
          <p:nvPr/>
        </p:nvSpPr>
        <p:spPr>
          <a:xfrm>
            <a:off x="640080" y="4983480"/>
            <a:ext cx="10881360" cy="1005840"/>
          </a:xfrm>
          <a:prstGeom prst="rect">
            <a:avLst/>
          </a:prstGeom>
          <a:noFill/>
          <a:ln/>
        </p:spPr>
        <p:txBody>
          <a:bodyPr wrap="square" rtlCol="0" anchor="ctr"/>
          <a:lstStyle/>
          <a:p>
            <a:pPr algn="ctr" indent="0" marL="0">
              <a:buNone/>
            </a:pPr>
            <a:r>
              <a:rPr lang="en-US" sz="1300" b="1" i="1" dirty="0">
                <a:solidFill>
                  <a:srgbClr val="2D2D2D"/>
                </a:solidFill>
                <a:latin typeface="Calibri" pitchFamily="34" charset="0"/>
                <a:ea typeface="Calibri" pitchFamily="34" charset="-122"/>
                <a:cs typeface="Calibri" pitchFamily="34" charset="-120"/>
              </a:rPr>
              <a:t>Ask the room: "Your company changes its discount rule. How many files do you edit in this picture?"</a:t>
            </a:r>
            <a:endParaRPr lang="en-US" sz="1300" dirty="0"/>
          </a:p>
          <a:p>
            <a:pPr algn="ctr" indent="0" marL="0">
              <a:buNone/>
            </a:pPr>
            <a:r>
              <a:rPr lang="en-US" sz="1300" b="1" i="1" dirty="0">
                <a:solidFill>
                  <a:srgbClr val="2D2D2D"/>
                </a:solidFill>
                <a:latin typeface="Calibri" pitchFamily="34" charset="0"/>
                <a:ea typeface="Calibri" pitchFamily="34" charset="-122"/>
                <a:cs typeface="Calibri" pitchFamily="34" charset="-120"/>
              </a:rPr>
              <a:t>Answer: four. And the one you forget is the one production uses.</a:t>
            </a:r>
            <a:endParaRPr lang="en-US" sz="1300" dirty="0"/>
          </a:p>
        </p:txBody>
      </p:sp>
      <p:sp>
        <p:nvSpPr>
          <p:cNvPr id="15" name="Text 13"/>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6" name="Text 14"/>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4 / 28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A · THE SHAPE</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The Shape We Build Instead</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Copy this into your notes. You will see it in every session.</a:t>
            </a:r>
            <a:endParaRPr lang="en-US" sz="1400" dirty="0"/>
          </a:p>
        </p:txBody>
      </p:sp>
      <p:sp>
        <p:nvSpPr>
          <p:cNvPr id="8" name="Shape 6"/>
          <p:cNvSpPr/>
          <p:nvPr/>
        </p:nvSpPr>
        <p:spPr>
          <a:xfrm>
            <a:off x="4206240" y="2057400"/>
            <a:ext cx="3749040" cy="868680"/>
          </a:xfrm>
          <a:prstGeom prst="roundRect">
            <a:avLst>
              <a:gd name="adj" fmla="val 12632"/>
            </a:avLst>
          </a:prstGeom>
          <a:solidFill>
            <a:srgbClr val="FFF4B8"/>
          </a:solidFill>
          <a:ln w="31750">
            <a:solidFill>
              <a:srgbClr val="6B4E96"/>
            </a:solidFill>
            <a:prstDash val="solid"/>
          </a:ln>
          <a:effectLst>
            <a:outerShdw sx="100000" sy="100000" kx="0" ky="0" algn="bl" rotWithShape="0" blurRad="101600" dist="25400" dir="5400000">
              <a:srgbClr val="C4B5DC">
                <a:alpha val="18000"/>
              </a:srgbClr>
            </a:outerShdw>
          </a:effectLst>
        </p:spPr>
      </p:sp>
      <p:sp>
        <p:nvSpPr>
          <p:cNvPr id="9" name="Text 7"/>
          <p:cNvSpPr/>
          <p:nvPr/>
        </p:nvSpPr>
        <p:spPr>
          <a:xfrm>
            <a:off x="4206240" y="2148840"/>
            <a:ext cx="3749040" cy="365760"/>
          </a:xfrm>
          <a:prstGeom prst="rect">
            <a:avLst/>
          </a:prstGeom>
          <a:noFill/>
          <a:ln/>
        </p:spPr>
        <p:txBody>
          <a:bodyPr wrap="square" lIns="0" tIns="0" rIns="0" bIns="0" rtlCol="0" anchor="ctr"/>
          <a:lstStyle/>
          <a:p>
            <a:pPr algn="ctr" indent="0" marL="0">
              <a:buNone/>
            </a:pPr>
            <a:r>
              <a:rPr lang="en-US" sz="1800" b="1" spc="100" kern="0" dirty="0">
                <a:solidFill>
                  <a:srgbClr val="6B4E96"/>
                </a:solidFill>
                <a:latin typeface="Calibri" pitchFamily="34" charset="0"/>
                <a:ea typeface="Calibri" pitchFamily="34" charset="-122"/>
                <a:cs typeface="Calibri" pitchFamily="34" charset="-120"/>
              </a:rPr>
              <a:t>SHARED CORE</a:t>
            </a:r>
            <a:endParaRPr lang="en-US" sz="1800" dirty="0"/>
          </a:p>
        </p:txBody>
      </p:sp>
      <p:sp>
        <p:nvSpPr>
          <p:cNvPr id="10" name="Text 8"/>
          <p:cNvSpPr/>
          <p:nvPr/>
        </p:nvSpPr>
        <p:spPr>
          <a:xfrm>
            <a:off x="4206240" y="2514600"/>
            <a:ext cx="3749040" cy="274320"/>
          </a:xfrm>
          <a:prstGeom prst="rect">
            <a:avLst/>
          </a:prstGeom>
          <a:noFill/>
          <a:ln/>
        </p:spPr>
        <p:txBody>
          <a:bodyPr wrap="square" lIns="0" tIns="0" rIns="0" bIns="0" rtlCol="0" anchor="ctr"/>
          <a:lstStyle/>
          <a:p>
            <a:pPr algn="ctr" indent="0" marL="0">
              <a:buNone/>
            </a:pPr>
            <a:r>
              <a:rPr lang="en-US" sz="1100" i="1" dirty="0">
                <a:solidFill>
                  <a:srgbClr val="5A5A5A"/>
                </a:solidFill>
                <a:latin typeface="Calibri" pitchFamily="34" charset="0"/>
                <a:ea typeface="Calibri" pitchFamily="34" charset="-122"/>
                <a:cs typeface="Calibri" pitchFamily="34" charset="-120"/>
              </a:rPr>
              <a:t>all business logic  ·  one copy</a:t>
            </a:r>
            <a:endParaRPr lang="en-US" sz="1100" dirty="0"/>
          </a:p>
        </p:txBody>
      </p:sp>
      <p:sp>
        <p:nvSpPr>
          <p:cNvPr id="11" name="Shape 9"/>
          <p:cNvSpPr/>
          <p:nvPr/>
        </p:nvSpPr>
        <p:spPr>
          <a:xfrm>
            <a:off x="6080760" y="2926080"/>
            <a:ext cx="-4535424" cy="685800"/>
          </a:xfrm>
          <a:prstGeom prst="line">
            <a:avLst/>
          </a:prstGeom>
          <a:noFill/>
          <a:ln w="19050">
            <a:solidFill>
              <a:srgbClr val="C5B3DC"/>
            </a:solidFill>
            <a:prstDash val="dash"/>
          </a:ln>
        </p:spPr>
      </p:sp>
      <p:sp>
        <p:nvSpPr>
          <p:cNvPr id="12" name="Shape 10"/>
          <p:cNvSpPr/>
          <p:nvPr/>
        </p:nvSpPr>
        <p:spPr>
          <a:xfrm>
            <a:off x="457200" y="3611880"/>
            <a:ext cx="2176272" cy="1737360"/>
          </a:xfrm>
          <a:prstGeom prst="roundRect">
            <a:avLst>
              <a:gd name="adj" fmla="val 6316"/>
            </a:avLst>
          </a:prstGeom>
          <a:solidFill>
            <a:srgbClr val="FFFFFF"/>
          </a:solidFill>
          <a:ln w="25400">
            <a:solidFill>
              <a:srgbClr val="5A9C5A"/>
            </a:solidFill>
            <a:prstDash val="solid"/>
          </a:ln>
          <a:effectLst>
            <a:outerShdw sx="100000" sy="100000" kx="0" ky="0" algn="bl" rotWithShape="0" blurRad="101600" dist="25400" dir="5400000">
              <a:srgbClr val="C4B5DC">
                <a:alpha val="18000"/>
              </a:srgbClr>
            </a:outerShdw>
          </a:effectLst>
        </p:spPr>
      </p:sp>
      <p:sp>
        <p:nvSpPr>
          <p:cNvPr id="13" name="Text 11"/>
          <p:cNvSpPr/>
          <p:nvPr/>
        </p:nvSpPr>
        <p:spPr>
          <a:xfrm>
            <a:off x="457200" y="3794760"/>
            <a:ext cx="2176272" cy="320040"/>
          </a:xfrm>
          <a:prstGeom prst="rect">
            <a:avLst/>
          </a:prstGeom>
          <a:noFill/>
          <a:ln/>
        </p:spPr>
        <p:txBody>
          <a:bodyPr wrap="square" lIns="0" tIns="0" rIns="0" bIns="0" rtlCol="0" anchor="ctr"/>
          <a:lstStyle/>
          <a:p>
            <a:pPr algn="ctr" indent="0" marL="0">
              <a:buNone/>
            </a:pPr>
            <a:r>
              <a:rPr lang="en-US" sz="1300" b="1" dirty="0">
                <a:solidFill>
                  <a:srgbClr val="5A9C5A"/>
                </a:solidFill>
                <a:latin typeface="Calibri" pitchFamily="34" charset="0"/>
                <a:ea typeface="Calibri" pitchFamily="34" charset="-122"/>
                <a:cs typeface="Calibri" pitchFamily="34" charset="-120"/>
              </a:rPr>
              <a:t>CLI</a:t>
            </a:r>
            <a:endParaRPr lang="en-US" sz="1300" dirty="0"/>
          </a:p>
        </p:txBody>
      </p:sp>
      <p:sp>
        <p:nvSpPr>
          <p:cNvPr id="14" name="Text 12"/>
          <p:cNvSpPr/>
          <p:nvPr/>
        </p:nvSpPr>
        <p:spPr>
          <a:xfrm>
            <a:off x="457200" y="4114800"/>
            <a:ext cx="2176272" cy="274320"/>
          </a:xfrm>
          <a:prstGeom prst="rect">
            <a:avLst/>
          </a:prstGeom>
          <a:noFill/>
          <a:ln/>
        </p:spPr>
        <p:txBody>
          <a:bodyPr wrap="square" lIns="0" tIns="0" rIns="0" bIns="0" rtlCol="0" anchor="ctr"/>
          <a:lstStyle/>
          <a:p>
            <a:pPr algn="ctr" indent="0" marL="0">
              <a:buNone/>
            </a:pPr>
            <a:r>
              <a:rPr lang="en-US" sz="1100" dirty="0">
                <a:solidFill>
                  <a:srgbClr val="2D2D2D"/>
                </a:solidFill>
                <a:latin typeface="Consolas" pitchFamily="34" charset="0"/>
                <a:ea typeface="Consolas" pitchFamily="34" charset="-122"/>
                <a:cs typeface="Consolas" pitchFamily="34" charset="-120"/>
              </a:rPr>
              <a:t>terminal</a:t>
            </a:r>
            <a:endParaRPr lang="en-US" sz="1100" dirty="0"/>
          </a:p>
        </p:txBody>
      </p:sp>
      <p:sp>
        <p:nvSpPr>
          <p:cNvPr id="15" name="Text 13"/>
          <p:cNvSpPr/>
          <p:nvPr/>
        </p:nvSpPr>
        <p:spPr>
          <a:xfrm>
            <a:off x="457200" y="4389120"/>
            <a:ext cx="2176272" cy="274320"/>
          </a:xfrm>
          <a:prstGeom prst="rect">
            <a:avLst/>
          </a:prstGeom>
          <a:noFill/>
          <a:ln/>
        </p:spPr>
        <p:txBody>
          <a:bodyPr wrap="square" lIns="0" tIns="0" rIns="0" bIns="0" rtlCol="0" anchor="ctr"/>
          <a:lstStyle/>
          <a:p>
            <a:pPr algn="ctr" indent="0" marL="0">
              <a:buNone/>
            </a:pPr>
            <a:r>
              <a:rPr lang="en-US" sz="1050" i="1" dirty="0">
                <a:solidFill>
                  <a:srgbClr val="8A8A8A"/>
                </a:solidFill>
                <a:latin typeface="Calibri" pitchFamily="34" charset="0"/>
                <a:ea typeface="Calibri" pitchFamily="34" charset="-122"/>
                <a:cs typeface="Calibri" pitchFamily="34" charset="-120"/>
              </a:rPr>
              <a:t>humans</a:t>
            </a:r>
            <a:endParaRPr lang="en-US" sz="1050" dirty="0"/>
          </a:p>
        </p:txBody>
      </p:sp>
      <p:sp>
        <p:nvSpPr>
          <p:cNvPr id="16" name="Shape 14"/>
          <p:cNvSpPr/>
          <p:nvPr/>
        </p:nvSpPr>
        <p:spPr>
          <a:xfrm>
            <a:off x="960120" y="4800600"/>
            <a:ext cx="1170432" cy="320040"/>
          </a:xfrm>
          <a:prstGeom prst="roundRect">
            <a:avLst>
              <a:gd name="adj" fmla="val 34286"/>
            </a:avLst>
          </a:prstGeom>
          <a:solidFill>
            <a:srgbClr val="F0F8F0"/>
          </a:solidFill>
          <a:ln w="12700">
            <a:solidFill>
              <a:srgbClr val="5A9C5A"/>
            </a:solidFill>
            <a:prstDash val="solid"/>
          </a:ln>
        </p:spPr>
      </p:sp>
      <p:sp>
        <p:nvSpPr>
          <p:cNvPr id="17" name="Text 15"/>
          <p:cNvSpPr/>
          <p:nvPr/>
        </p:nvSpPr>
        <p:spPr>
          <a:xfrm>
            <a:off x="960120" y="4800600"/>
            <a:ext cx="1170432" cy="320040"/>
          </a:xfrm>
          <a:prstGeom prst="rect">
            <a:avLst/>
          </a:prstGeom>
          <a:noFill/>
          <a:ln/>
        </p:spPr>
        <p:txBody>
          <a:bodyPr wrap="square" lIns="0" tIns="0" rIns="0" bIns="0" rtlCol="0" anchor="ctr"/>
          <a:lstStyle/>
          <a:p>
            <a:pPr algn="ctr" indent="0" marL="0">
              <a:buNone/>
            </a:pPr>
            <a:r>
              <a:rPr lang="en-US" sz="950" b="1" spc="100" kern="0" dirty="0">
                <a:solidFill>
                  <a:srgbClr val="5A9C5A"/>
                </a:solidFill>
                <a:latin typeface="Calibri" pitchFamily="34" charset="0"/>
                <a:ea typeface="Calibri" pitchFamily="34" charset="-122"/>
                <a:cs typeface="Calibri" pitchFamily="34" charset="-120"/>
              </a:rPr>
              <a:t>TODAY</a:t>
            </a:r>
            <a:endParaRPr lang="en-US" sz="950" dirty="0"/>
          </a:p>
        </p:txBody>
      </p:sp>
      <p:sp>
        <p:nvSpPr>
          <p:cNvPr id="18" name="Shape 16"/>
          <p:cNvSpPr/>
          <p:nvPr/>
        </p:nvSpPr>
        <p:spPr>
          <a:xfrm>
            <a:off x="6080760" y="2926080"/>
            <a:ext cx="-2240280" cy="685800"/>
          </a:xfrm>
          <a:prstGeom prst="line">
            <a:avLst/>
          </a:prstGeom>
          <a:noFill/>
          <a:ln w="19050">
            <a:solidFill>
              <a:srgbClr val="C5B3DC"/>
            </a:solidFill>
            <a:prstDash val="dash"/>
          </a:ln>
        </p:spPr>
      </p:sp>
      <p:sp>
        <p:nvSpPr>
          <p:cNvPr id="19" name="Shape 17"/>
          <p:cNvSpPr/>
          <p:nvPr/>
        </p:nvSpPr>
        <p:spPr>
          <a:xfrm>
            <a:off x="2752344" y="3611880"/>
            <a:ext cx="2176272" cy="1737360"/>
          </a:xfrm>
          <a:prstGeom prst="roundRect">
            <a:avLst>
              <a:gd name="adj" fmla="val 6316"/>
            </a:avLst>
          </a:prstGeom>
          <a:solidFill>
            <a:srgbClr val="FFFFFF"/>
          </a:solidFill>
          <a:ln w="25400">
            <a:solidFill>
              <a:srgbClr val="5A9C5A"/>
            </a:solidFill>
            <a:prstDash val="solid"/>
          </a:ln>
          <a:effectLst>
            <a:outerShdw sx="100000" sy="100000" kx="0" ky="0" algn="bl" rotWithShape="0" blurRad="101600" dist="25400" dir="5400000">
              <a:srgbClr val="C4B5DC">
                <a:alpha val="18000"/>
              </a:srgbClr>
            </a:outerShdw>
          </a:effectLst>
        </p:spPr>
      </p:sp>
      <p:sp>
        <p:nvSpPr>
          <p:cNvPr id="20" name="Text 18"/>
          <p:cNvSpPr/>
          <p:nvPr/>
        </p:nvSpPr>
        <p:spPr>
          <a:xfrm>
            <a:off x="2752344" y="3794760"/>
            <a:ext cx="2176272" cy="320040"/>
          </a:xfrm>
          <a:prstGeom prst="rect">
            <a:avLst/>
          </a:prstGeom>
          <a:noFill/>
          <a:ln/>
        </p:spPr>
        <p:txBody>
          <a:bodyPr wrap="square" lIns="0" tIns="0" rIns="0" bIns="0" rtlCol="0" anchor="ctr"/>
          <a:lstStyle/>
          <a:p>
            <a:pPr algn="ctr" indent="0" marL="0">
              <a:buNone/>
            </a:pPr>
            <a:r>
              <a:rPr lang="en-US" sz="1300" b="1" dirty="0">
                <a:solidFill>
                  <a:srgbClr val="5A9C5A"/>
                </a:solidFill>
                <a:latin typeface="Calibri" pitchFamily="34" charset="0"/>
                <a:ea typeface="Calibri" pitchFamily="34" charset="-122"/>
                <a:cs typeface="Calibri" pitchFamily="34" charset="-120"/>
              </a:rPr>
              <a:t>WEB / REST</a:t>
            </a:r>
            <a:endParaRPr lang="en-US" sz="1300" dirty="0"/>
          </a:p>
        </p:txBody>
      </p:sp>
      <p:sp>
        <p:nvSpPr>
          <p:cNvPr id="21" name="Text 19"/>
          <p:cNvSpPr/>
          <p:nvPr/>
        </p:nvSpPr>
        <p:spPr>
          <a:xfrm>
            <a:off x="2752344" y="4114800"/>
            <a:ext cx="2176272" cy="274320"/>
          </a:xfrm>
          <a:prstGeom prst="rect">
            <a:avLst/>
          </a:prstGeom>
          <a:noFill/>
          <a:ln/>
        </p:spPr>
        <p:txBody>
          <a:bodyPr wrap="square" lIns="0" tIns="0" rIns="0" bIns="0" rtlCol="0" anchor="ctr"/>
          <a:lstStyle/>
          <a:p>
            <a:pPr algn="ctr" indent="0" marL="0">
              <a:buNone/>
            </a:pPr>
            <a:r>
              <a:rPr lang="en-US" sz="1100" dirty="0">
                <a:solidFill>
                  <a:srgbClr val="2D2D2D"/>
                </a:solidFill>
                <a:latin typeface="Consolas" pitchFamily="34" charset="0"/>
                <a:ea typeface="Consolas" pitchFamily="34" charset="-122"/>
                <a:cs typeface="Consolas" pitchFamily="34" charset="-120"/>
              </a:rPr>
              <a:t>browser</a:t>
            </a:r>
            <a:endParaRPr lang="en-US" sz="1100" dirty="0"/>
          </a:p>
        </p:txBody>
      </p:sp>
      <p:sp>
        <p:nvSpPr>
          <p:cNvPr id="22" name="Text 20"/>
          <p:cNvSpPr/>
          <p:nvPr/>
        </p:nvSpPr>
        <p:spPr>
          <a:xfrm>
            <a:off x="2752344" y="4389120"/>
            <a:ext cx="2176272" cy="274320"/>
          </a:xfrm>
          <a:prstGeom prst="rect">
            <a:avLst/>
          </a:prstGeom>
          <a:noFill/>
          <a:ln/>
        </p:spPr>
        <p:txBody>
          <a:bodyPr wrap="square" lIns="0" tIns="0" rIns="0" bIns="0" rtlCol="0" anchor="ctr"/>
          <a:lstStyle/>
          <a:p>
            <a:pPr algn="ctr" indent="0" marL="0">
              <a:buNone/>
            </a:pPr>
            <a:r>
              <a:rPr lang="en-US" sz="1050" i="1" dirty="0">
                <a:solidFill>
                  <a:srgbClr val="8A8A8A"/>
                </a:solidFill>
                <a:latin typeface="Calibri" pitchFamily="34" charset="0"/>
                <a:ea typeface="Calibri" pitchFamily="34" charset="-122"/>
                <a:cs typeface="Calibri" pitchFamily="34" charset="-120"/>
              </a:rPr>
              <a:t>humans</a:t>
            </a:r>
            <a:endParaRPr lang="en-US" sz="1050" dirty="0"/>
          </a:p>
        </p:txBody>
      </p:sp>
      <p:sp>
        <p:nvSpPr>
          <p:cNvPr id="23" name="Shape 21"/>
          <p:cNvSpPr/>
          <p:nvPr/>
        </p:nvSpPr>
        <p:spPr>
          <a:xfrm>
            <a:off x="3255264" y="4800600"/>
            <a:ext cx="1170432" cy="320040"/>
          </a:xfrm>
          <a:prstGeom prst="roundRect">
            <a:avLst>
              <a:gd name="adj" fmla="val 34286"/>
            </a:avLst>
          </a:prstGeom>
          <a:solidFill>
            <a:srgbClr val="F0F8F0"/>
          </a:solidFill>
          <a:ln w="12700">
            <a:solidFill>
              <a:srgbClr val="5A9C5A"/>
            </a:solidFill>
            <a:prstDash val="solid"/>
          </a:ln>
        </p:spPr>
      </p:sp>
      <p:sp>
        <p:nvSpPr>
          <p:cNvPr id="24" name="Text 22"/>
          <p:cNvSpPr/>
          <p:nvPr/>
        </p:nvSpPr>
        <p:spPr>
          <a:xfrm>
            <a:off x="3255264" y="4800600"/>
            <a:ext cx="1170432" cy="320040"/>
          </a:xfrm>
          <a:prstGeom prst="rect">
            <a:avLst/>
          </a:prstGeom>
          <a:noFill/>
          <a:ln/>
        </p:spPr>
        <p:txBody>
          <a:bodyPr wrap="square" lIns="0" tIns="0" rIns="0" bIns="0" rtlCol="0" anchor="ctr"/>
          <a:lstStyle/>
          <a:p>
            <a:pPr algn="ctr" indent="0" marL="0">
              <a:buNone/>
            </a:pPr>
            <a:r>
              <a:rPr lang="en-US" sz="950" b="1" spc="100" kern="0" dirty="0">
                <a:solidFill>
                  <a:srgbClr val="5A9C5A"/>
                </a:solidFill>
                <a:latin typeface="Calibri" pitchFamily="34" charset="0"/>
                <a:ea typeface="Calibri" pitchFamily="34" charset="-122"/>
                <a:cs typeface="Calibri" pitchFamily="34" charset="-120"/>
              </a:rPr>
              <a:t>TODAY</a:t>
            </a:r>
            <a:endParaRPr lang="en-US" sz="950" dirty="0"/>
          </a:p>
        </p:txBody>
      </p:sp>
      <p:sp>
        <p:nvSpPr>
          <p:cNvPr id="25" name="Shape 23"/>
          <p:cNvSpPr/>
          <p:nvPr/>
        </p:nvSpPr>
        <p:spPr>
          <a:xfrm>
            <a:off x="6080760" y="2926080"/>
            <a:ext cx="54864" cy="685800"/>
          </a:xfrm>
          <a:prstGeom prst="line">
            <a:avLst/>
          </a:prstGeom>
          <a:noFill/>
          <a:ln w="19050">
            <a:solidFill>
              <a:srgbClr val="C5B3DC"/>
            </a:solidFill>
            <a:prstDash val="dash"/>
          </a:ln>
        </p:spPr>
      </p:sp>
      <p:sp>
        <p:nvSpPr>
          <p:cNvPr id="26" name="Shape 24"/>
          <p:cNvSpPr/>
          <p:nvPr/>
        </p:nvSpPr>
        <p:spPr>
          <a:xfrm>
            <a:off x="5047488" y="3611880"/>
            <a:ext cx="2176272" cy="1737360"/>
          </a:xfrm>
          <a:prstGeom prst="roundRect">
            <a:avLst>
              <a:gd name="adj" fmla="val 6316"/>
            </a:avLst>
          </a:prstGeom>
          <a:solidFill>
            <a:srgbClr val="FFFFFF"/>
          </a:solidFill>
          <a:ln w="17780">
            <a:solidFill>
              <a:srgbClr val="6B4E96"/>
            </a:solidFill>
            <a:prstDash val="solid"/>
          </a:ln>
          <a:effectLst>
            <a:outerShdw sx="100000" sy="100000" kx="0" ky="0" algn="bl" rotWithShape="0" blurRad="101600" dist="25400" dir="5400000">
              <a:srgbClr val="C4B5DC">
                <a:alpha val="18000"/>
              </a:srgbClr>
            </a:outerShdw>
          </a:effectLst>
        </p:spPr>
      </p:sp>
      <p:sp>
        <p:nvSpPr>
          <p:cNvPr id="27" name="Text 25"/>
          <p:cNvSpPr/>
          <p:nvPr/>
        </p:nvSpPr>
        <p:spPr>
          <a:xfrm>
            <a:off x="5047488" y="3794760"/>
            <a:ext cx="2176272" cy="320040"/>
          </a:xfrm>
          <a:prstGeom prst="rect">
            <a:avLst/>
          </a:prstGeom>
          <a:noFill/>
          <a:ln/>
        </p:spPr>
        <p:txBody>
          <a:bodyPr wrap="square" lIns="0" tIns="0" rIns="0" bIns="0" rtlCol="0" anchor="ctr"/>
          <a:lstStyle/>
          <a:p>
            <a:pPr algn="ctr" indent="0" marL="0">
              <a:buNone/>
            </a:pPr>
            <a:r>
              <a:rPr lang="en-US" sz="1300" b="1" dirty="0">
                <a:solidFill>
                  <a:srgbClr val="6B4E96"/>
                </a:solidFill>
                <a:latin typeface="Calibri" pitchFamily="34" charset="0"/>
                <a:ea typeface="Calibri" pitchFamily="34" charset="-122"/>
                <a:cs typeface="Calibri" pitchFamily="34" charset="-120"/>
              </a:rPr>
              <a:t>LOCAL MCP</a:t>
            </a:r>
            <a:endParaRPr lang="en-US" sz="1300" dirty="0"/>
          </a:p>
        </p:txBody>
      </p:sp>
      <p:sp>
        <p:nvSpPr>
          <p:cNvPr id="28" name="Text 26"/>
          <p:cNvSpPr/>
          <p:nvPr/>
        </p:nvSpPr>
        <p:spPr>
          <a:xfrm>
            <a:off x="5047488" y="4114800"/>
            <a:ext cx="2176272" cy="274320"/>
          </a:xfrm>
          <a:prstGeom prst="rect">
            <a:avLst/>
          </a:prstGeom>
          <a:noFill/>
          <a:ln/>
        </p:spPr>
        <p:txBody>
          <a:bodyPr wrap="square" lIns="0" tIns="0" rIns="0" bIns="0" rtlCol="0" anchor="ctr"/>
          <a:lstStyle/>
          <a:p>
            <a:pPr algn="ctr" indent="0" marL="0">
              <a:buNone/>
            </a:pPr>
            <a:r>
              <a:rPr lang="en-US" sz="1100" dirty="0">
                <a:solidFill>
                  <a:srgbClr val="2D2D2D"/>
                </a:solidFill>
                <a:latin typeface="Consolas" pitchFamily="34" charset="0"/>
                <a:ea typeface="Consolas" pitchFamily="34" charset="-122"/>
                <a:cs typeface="Consolas" pitchFamily="34" charset="-120"/>
              </a:rPr>
              <a:t>Claude Code</a:t>
            </a:r>
            <a:endParaRPr lang="en-US" sz="1100" dirty="0"/>
          </a:p>
        </p:txBody>
      </p:sp>
      <p:sp>
        <p:nvSpPr>
          <p:cNvPr id="29" name="Text 27"/>
          <p:cNvSpPr/>
          <p:nvPr/>
        </p:nvSpPr>
        <p:spPr>
          <a:xfrm>
            <a:off x="5047488" y="4389120"/>
            <a:ext cx="2176272" cy="274320"/>
          </a:xfrm>
          <a:prstGeom prst="rect">
            <a:avLst/>
          </a:prstGeom>
          <a:noFill/>
          <a:ln/>
        </p:spPr>
        <p:txBody>
          <a:bodyPr wrap="square" lIns="0" tIns="0" rIns="0" bIns="0" rtlCol="0" anchor="ctr"/>
          <a:lstStyle/>
          <a:p>
            <a:pPr algn="ctr" indent="0" marL="0">
              <a:buNone/>
            </a:pPr>
            <a:r>
              <a:rPr lang="en-US" sz="1050" i="1" dirty="0">
                <a:solidFill>
                  <a:srgbClr val="8A8A8A"/>
                </a:solidFill>
                <a:latin typeface="Calibri" pitchFamily="34" charset="0"/>
                <a:ea typeface="Calibri" pitchFamily="34" charset="-122"/>
                <a:cs typeface="Calibri" pitchFamily="34" charset="-120"/>
              </a:rPr>
              <a:t>coding agents</a:t>
            </a:r>
            <a:endParaRPr lang="en-US" sz="1050" dirty="0"/>
          </a:p>
        </p:txBody>
      </p:sp>
      <p:sp>
        <p:nvSpPr>
          <p:cNvPr id="30" name="Shape 28"/>
          <p:cNvSpPr/>
          <p:nvPr/>
        </p:nvSpPr>
        <p:spPr>
          <a:xfrm>
            <a:off x="5550408" y="4800600"/>
            <a:ext cx="1170432" cy="320040"/>
          </a:xfrm>
          <a:prstGeom prst="roundRect">
            <a:avLst>
              <a:gd name="adj" fmla="val 34286"/>
            </a:avLst>
          </a:prstGeom>
          <a:solidFill>
            <a:srgbClr val="EDE5F7"/>
          </a:solidFill>
          <a:ln w="12700">
            <a:solidFill>
              <a:srgbClr val="C5B3DC"/>
            </a:solidFill>
            <a:prstDash val="solid"/>
          </a:ln>
        </p:spPr>
      </p:sp>
      <p:sp>
        <p:nvSpPr>
          <p:cNvPr id="31" name="Text 29"/>
          <p:cNvSpPr/>
          <p:nvPr/>
        </p:nvSpPr>
        <p:spPr>
          <a:xfrm>
            <a:off x="5550408" y="4800600"/>
            <a:ext cx="1170432" cy="320040"/>
          </a:xfrm>
          <a:prstGeom prst="rect">
            <a:avLst/>
          </a:prstGeom>
          <a:noFill/>
          <a:ln/>
        </p:spPr>
        <p:txBody>
          <a:bodyPr wrap="square" lIns="0" tIns="0" rIns="0" bIns="0" rtlCol="0" anchor="ctr"/>
          <a:lstStyle/>
          <a:p>
            <a:pPr algn="ctr" indent="0" marL="0">
              <a:buNone/>
            </a:pPr>
            <a:r>
              <a:rPr lang="en-US" sz="950" b="1" spc="100" kern="0" dirty="0">
                <a:solidFill>
                  <a:srgbClr val="9B7FBE"/>
                </a:solidFill>
                <a:latin typeface="Calibri" pitchFamily="34" charset="0"/>
                <a:ea typeface="Calibri" pitchFamily="34" charset="-122"/>
                <a:cs typeface="Calibri" pitchFamily="34" charset="-120"/>
              </a:rPr>
              <a:t>LATER</a:t>
            </a:r>
            <a:endParaRPr lang="en-US" sz="950" dirty="0"/>
          </a:p>
        </p:txBody>
      </p:sp>
      <p:sp>
        <p:nvSpPr>
          <p:cNvPr id="32" name="Shape 30"/>
          <p:cNvSpPr/>
          <p:nvPr/>
        </p:nvSpPr>
        <p:spPr>
          <a:xfrm>
            <a:off x="6080760" y="2926080"/>
            <a:ext cx="2350008" cy="685800"/>
          </a:xfrm>
          <a:prstGeom prst="line">
            <a:avLst/>
          </a:prstGeom>
          <a:noFill/>
          <a:ln w="19050">
            <a:solidFill>
              <a:srgbClr val="C5B3DC"/>
            </a:solidFill>
            <a:prstDash val="dash"/>
          </a:ln>
        </p:spPr>
      </p:sp>
      <p:sp>
        <p:nvSpPr>
          <p:cNvPr id="33" name="Shape 31"/>
          <p:cNvSpPr/>
          <p:nvPr/>
        </p:nvSpPr>
        <p:spPr>
          <a:xfrm>
            <a:off x="7342632" y="3611880"/>
            <a:ext cx="2176272" cy="1737360"/>
          </a:xfrm>
          <a:prstGeom prst="roundRect">
            <a:avLst>
              <a:gd name="adj" fmla="val 6316"/>
            </a:avLst>
          </a:prstGeom>
          <a:solidFill>
            <a:srgbClr val="FFFFFF"/>
          </a:solidFill>
          <a:ln w="17780">
            <a:solidFill>
              <a:srgbClr val="9B7FBE"/>
            </a:solidFill>
            <a:prstDash val="solid"/>
          </a:ln>
          <a:effectLst>
            <a:outerShdw sx="100000" sy="100000" kx="0" ky="0" algn="bl" rotWithShape="0" blurRad="101600" dist="25400" dir="5400000">
              <a:srgbClr val="C4B5DC">
                <a:alpha val="18000"/>
              </a:srgbClr>
            </a:outerShdw>
          </a:effectLst>
        </p:spPr>
      </p:sp>
      <p:sp>
        <p:nvSpPr>
          <p:cNvPr id="34" name="Text 32"/>
          <p:cNvSpPr/>
          <p:nvPr/>
        </p:nvSpPr>
        <p:spPr>
          <a:xfrm>
            <a:off x="7342632" y="3794760"/>
            <a:ext cx="2176272" cy="320040"/>
          </a:xfrm>
          <a:prstGeom prst="rect">
            <a:avLst/>
          </a:prstGeom>
          <a:noFill/>
          <a:ln/>
        </p:spPr>
        <p:txBody>
          <a:bodyPr wrap="square" lIns="0" tIns="0" rIns="0" bIns="0" rtlCol="0" anchor="ctr"/>
          <a:lstStyle/>
          <a:p>
            <a:pPr algn="ctr" indent="0" marL="0">
              <a:buNone/>
            </a:pPr>
            <a:r>
              <a:rPr lang="en-US" sz="1300" b="1" dirty="0">
                <a:solidFill>
                  <a:srgbClr val="9B7FBE"/>
                </a:solidFill>
                <a:latin typeface="Calibri" pitchFamily="34" charset="0"/>
                <a:ea typeface="Calibri" pitchFamily="34" charset="-122"/>
                <a:cs typeface="Calibri" pitchFamily="34" charset="-120"/>
              </a:rPr>
              <a:t>REMOTE MCP</a:t>
            </a:r>
            <a:endParaRPr lang="en-US" sz="1300" dirty="0"/>
          </a:p>
        </p:txBody>
      </p:sp>
      <p:sp>
        <p:nvSpPr>
          <p:cNvPr id="35" name="Text 33"/>
          <p:cNvSpPr/>
          <p:nvPr/>
        </p:nvSpPr>
        <p:spPr>
          <a:xfrm>
            <a:off x="7342632" y="4114800"/>
            <a:ext cx="2176272" cy="274320"/>
          </a:xfrm>
          <a:prstGeom prst="rect">
            <a:avLst/>
          </a:prstGeom>
          <a:noFill/>
          <a:ln/>
        </p:spPr>
        <p:txBody>
          <a:bodyPr wrap="square" lIns="0" tIns="0" rIns="0" bIns="0" rtlCol="0" anchor="ctr"/>
          <a:lstStyle/>
          <a:p>
            <a:pPr algn="ctr" indent="0" marL="0">
              <a:buNone/>
            </a:pPr>
            <a:r>
              <a:rPr lang="en-US" sz="1100" dirty="0">
                <a:solidFill>
                  <a:srgbClr val="2D2D2D"/>
                </a:solidFill>
                <a:latin typeface="Consolas" pitchFamily="34" charset="0"/>
                <a:ea typeface="Consolas" pitchFamily="34" charset="-122"/>
                <a:cs typeface="Consolas" pitchFamily="34" charset="-120"/>
              </a:rPr>
              <a:t>ChatGPT</a:t>
            </a:r>
            <a:endParaRPr lang="en-US" sz="1100" dirty="0"/>
          </a:p>
        </p:txBody>
      </p:sp>
      <p:sp>
        <p:nvSpPr>
          <p:cNvPr id="36" name="Text 34"/>
          <p:cNvSpPr/>
          <p:nvPr/>
        </p:nvSpPr>
        <p:spPr>
          <a:xfrm>
            <a:off x="7342632" y="4389120"/>
            <a:ext cx="2176272" cy="274320"/>
          </a:xfrm>
          <a:prstGeom prst="rect">
            <a:avLst/>
          </a:prstGeom>
          <a:noFill/>
          <a:ln/>
        </p:spPr>
        <p:txBody>
          <a:bodyPr wrap="square" lIns="0" tIns="0" rIns="0" bIns="0" rtlCol="0" anchor="ctr"/>
          <a:lstStyle/>
          <a:p>
            <a:pPr algn="ctr" indent="0" marL="0">
              <a:buNone/>
            </a:pPr>
            <a:r>
              <a:rPr lang="en-US" sz="1050" i="1" dirty="0">
                <a:solidFill>
                  <a:srgbClr val="8A8A8A"/>
                </a:solidFill>
                <a:latin typeface="Calibri" pitchFamily="34" charset="0"/>
                <a:ea typeface="Calibri" pitchFamily="34" charset="-122"/>
                <a:cs typeface="Calibri" pitchFamily="34" charset="-120"/>
              </a:rPr>
              <a:t>cloud agents</a:t>
            </a:r>
            <a:endParaRPr lang="en-US" sz="1050" dirty="0"/>
          </a:p>
        </p:txBody>
      </p:sp>
      <p:sp>
        <p:nvSpPr>
          <p:cNvPr id="37" name="Shape 35"/>
          <p:cNvSpPr/>
          <p:nvPr/>
        </p:nvSpPr>
        <p:spPr>
          <a:xfrm>
            <a:off x="7845552" y="4800600"/>
            <a:ext cx="1170432" cy="320040"/>
          </a:xfrm>
          <a:prstGeom prst="roundRect">
            <a:avLst>
              <a:gd name="adj" fmla="val 34286"/>
            </a:avLst>
          </a:prstGeom>
          <a:solidFill>
            <a:srgbClr val="EDE5F7"/>
          </a:solidFill>
          <a:ln w="12700">
            <a:solidFill>
              <a:srgbClr val="C5B3DC"/>
            </a:solidFill>
            <a:prstDash val="solid"/>
          </a:ln>
        </p:spPr>
      </p:sp>
      <p:sp>
        <p:nvSpPr>
          <p:cNvPr id="38" name="Text 36"/>
          <p:cNvSpPr/>
          <p:nvPr/>
        </p:nvSpPr>
        <p:spPr>
          <a:xfrm>
            <a:off x="7845552" y="4800600"/>
            <a:ext cx="1170432" cy="320040"/>
          </a:xfrm>
          <a:prstGeom prst="rect">
            <a:avLst/>
          </a:prstGeom>
          <a:noFill/>
          <a:ln/>
        </p:spPr>
        <p:txBody>
          <a:bodyPr wrap="square" lIns="0" tIns="0" rIns="0" bIns="0" rtlCol="0" anchor="ctr"/>
          <a:lstStyle/>
          <a:p>
            <a:pPr algn="ctr" indent="0" marL="0">
              <a:buNone/>
            </a:pPr>
            <a:r>
              <a:rPr lang="en-US" sz="950" b="1" spc="100" kern="0" dirty="0">
                <a:solidFill>
                  <a:srgbClr val="9B7FBE"/>
                </a:solidFill>
                <a:latin typeface="Calibri" pitchFamily="34" charset="0"/>
                <a:ea typeface="Calibri" pitchFamily="34" charset="-122"/>
                <a:cs typeface="Calibri" pitchFamily="34" charset="-120"/>
              </a:rPr>
              <a:t>LATER</a:t>
            </a:r>
            <a:endParaRPr lang="en-US" sz="950" dirty="0"/>
          </a:p>
        </p:txBody>
      </p:sp>
      <p:sp>
        <p:nvSpPr>
          <p:cNvPr id="39" name="Shape 37"/>
          <p:cNvSpPr/>
          <p:nvPr/>
        </p:nvSpPr>
        <p:spPr>
          <a:xfrm>
            <a:off x="6080760" y="2926080"/>
            <a:ext cx="4645152" cy="685800"/>
          </a:xfrm>
          <a:prstGeom prst="line">
            <a:avLst/>
          </a:prstGeom>
          <a:noFill/>
          <a:ln w="19050">
            <a:solidFill>
              <a:srgbClr val="C5B3DC"/>
            </a:solidFill>
            <a:prstDash val="dash"/>
          </a:ln>
        </p:spPr>
      </p:sp>
      <p:sp>
        <p:nvSpPr>
          <p:cNvPr id="40" name="Shape 38"/>
          <p:cNvSpPr/>
          <p:nvPr/>
        </p:nvSpPr>
        <p:spPr>
          <a:xfrm>
            <a:off x="9637776" y="3611880"/>
            <a:ext cx="2176272" cy="1737360"/>
          </a:xfrm>
          <a:prstGeom prst="roundRect">
            <a:avLst>
              <a:gd name="adj" fmla="val 6316"/>
            </a:avLst>
          </a:prstGeom>
          <a:solidFill>
            <a:srgbClr val="FFFFFF"/>
          </a:solidFill>
          <a:ln w="17780">
            <a:solidFill>
              <a:srgbClr val="E5BA1F"/>
            </a:solidFill>
            <a:prstDash val="solid"/>
          </a:ln>
          <a:effectLst>
            <a:outerShdw sx="100000" sy="100000" kx="0" ky="0" algn="bl" rotWithShape="0" blurRad="101600" dist="25400" dir="5400000">
              <a:srgbClr val="C4B5DC">
                <a:alpha val="18000"/>
              </a:srgbClr>
            </a:outerShdw>
          </a:effectLst>
        </p:spPr>
      </p:sp>
      <p:sp>
        <p:nvSpPr>
          <p:cNvPr id="41" name="Text 39"/>
          <p:cNvSpPr/>
          <p:nvPr/>
        </p:nvSpPr>
        <p:spPr>
          <a:xfrm>
            <a:off x="9637776" y="3794760"/>
            <a:ext cx="2176272" cy="320040"/>
          </a:xfrm>
          <a:prstGeom prst="rect">
            <a:avLst/>
          </a:prstGeom>
          <a:noFill/>
          <a:ln/>
        </p:spPr>
        <p:txBody>
          <a:bodyPr wrap="square" lIns="0" tIns="0" rIns="0" bIns="0" rtlCol="0" anchor="ctr"/>
          <a:lstStyle/>
          <a:p>
            <a:pPr algn="ctr" indent="0" marL="0">
              <a:buNone/>
            </a:pPr>
            <a:r>
              <a:rPr lang="en-US" sz="1300" b="1" dirty="0">
                <a:solidFill>
                  <a:srgbClr val="E5BA1F"/>
                </a:solidFill>
                <a:latin typeface="Calibri" pitchFamily="34" charset="0"/>
                <a:ea typeface="Calibri" pitchFamily="34" charset="-122"/>
                <a:cs typeface="Calibri" pitchFamily="34" charset="-120"/>
              </a:rPr>
              <a:t>SKILL</a:t>
            </a:r>
            <a:endParaRPr lang="en-US" sz="1300" dirty="0"/>
          </a:p>
        </p:txBody>
      </p:sp>
      <p:sp>
        <p:nvSpPr>
          <p:cNvPr id="42" name="Text 40"/>
          <p:cNvSpPr/>
          <p:nvPr/>
        </p:nvSpPr>
        <p:spPr>
          <a:xfrm>
            <a:off x="9637776" y="4114800"/>
            <a:ext cx="2176272" cy="274320"/>
          </a:xfrm>
          <a:prstGeom prst="rect">
            <a:avLst/>
          </a:prstGeom>
          <a:noFill/>
          <a:ln/>
        </p:spPr>
        <p:txBody>
          <a:bodyPr wrap="square" lIns="0" tIns="0" rIns="0" bIns="0" rtlCol="0" anchor="ctr"/>
          <a:lstStyle/>
          <a:p>
            <a:pPr algn="ctr" indent="0" marL="0">
              <a:buNone/>
            </a:pPr>
            <a:r>
              <a:rPr lang="en-US" sz="1100" dirty="0">
                <a:solidFill>
                  <a:srgbClr val="2D2D2D"/>
                </a:solidFill>
                <a:latin typeface="Consolas" pitchFamily="34" charset="0"/>
                <a:ea typeface="Consolas" pitchFamily="34" charset="-122"/>
                <a:cs typeface="Consolas" pitchFamily="34" charset="-120"/>
              </a:rPr>
              <a:t>instructions</a:t>
            </a:r>
            <a:endParaRPr lang="en-US" sz="1100" dirty="0"/>
          </a:p>
        </p:txBody>
      </p:sp>
      <p:sp>
        <p:nvSpPr>
          <p:cNvPr id="43" name="Text 41"/>
          <p:cNvSpPr/>
          <p:nvPr/>
        </p:nvSpPr>
        <p:spPr>
          <a:xfrm>
            <a:off x="9637776" y="4389120"/>
            <a:ext cx="2176272" cy="274320"/>
          </a:xfrm>
          <a:prstGeom prst="rect">
            <a:avLst/>
          </a:prstGeom>
          <a:noFill/>
          <a:ln/>
        </p:spPr>
        <p:txBody>
          <a:bodyPr wrap="square" lIns="0" tIns="0" rIns="0" bIns="0" rtlCol="0" anchor="ctr"/>
          <a:lstStyle/>
          <a:p>
            <a:pPr algn="ctr" indent="0" marL="0">
              <a:buNone/>
            </a:pPr>
            <a:r>
              <a:rPr lang="en-US" sz="1050" i="1" dirty="0">
                <a:solidFill>
                  <a:srgbClr val="8A8A8A"/>
                </a:solidFill>
                <a:latin typeface="Calibri" pitchFamily="34" charset="0"/>
                <a:ea typeface="Calibri" pitchFamily="34" charset="-122"/>
                <a:cs typeface="Calibri" pitchFamily="34" charset="-120"/>
              </a:rPr>
              <a:t>any agent</a:t>
            </a:r>
            <a:endParaRPr lang="en-US" sz="1050" dirty="0"/>
          </a:p>
        </p:txBody>
      </p:sp>
      <p:sp>
        <p:nvSpPr>
          <p:cNvPr id="44" name="Shape 42"/>
          <p:cNvSpPr/>
          <p:nvPr/>
        </p:nvSpPr>
        <p:spPr>
          <a:xfrm>
            <a:off x="10140696" y="4800600"/>
            <a:ext cx="1170432" cy="320040"/>
          </a:xfrm>
          <a:prstGeom prst="roundRect">
            <a:avLst>
              <a:gd name="adj" fmla="val 34286"/>
            </a:avLst>
          </a:prstGeom>
          <a:solidFill>
            <a:srgbClr val="EDE5F7"/>
          </a:solidFill>
          <a:ln w="12700">
            <a:solidFill>
              <a:srgbClr val="C5B3DC"/>
            </a:solidFill>
            <a:prstDash val="solid"/>
          </a:ln>
        </p:spPr>
      </p:sp>
      <p:sp>
        <p:nvSpPr>
          <p:cNvPr id="45" name="Text 43"/>
          <p:cNvSpPr/>
          <p:nvPr/>
        </p:nvSpPr>
        <p:spPr>
          <a:xfrm>
            <a:off x="10140696" y="4800600"/>
            <a:ext cx="1170432" cy="320040"/>
          </a:xfrm>
          <a:prstGeom prst="rect">
            <a:avLst/>
          </a:prstGeom>
          <a:noFill/>
          <a:ln/>
        </p:spPr>
        <p:txBody>
          <a:bodyPr wrap="square" lIns="0" tIns="0" rIns="0" bIns="0" rtlCol="0" anchor="ctr"/>
          <a:lstStyle/>
          <a:p>
            <a:pPr algn="ctr" indent="0" marL="0">
              <a:buNone/>
            </a:pPr>
            <a:r>
              <a:rPr lang="en-US" sz="950" b="1" spc="100" kern="0" dirty="0">
                <a:solidFill>
                  <a:srgbClr val="9B7FBE"/>
                </a:solidFill>
                <a:latin typeface="Calibri" pitchFamily="34" charset="0"/>
                <a:ea typeface="Calibri" pitchFamily="34" charset="-122"/>
                <a:cs typeface="Calibri" pitchFamily="34" charset="-120"/>
              </a:rPr>
              <a:t>LATER</a:t>
            </a:r>
            <a:endParaRPr lang="en-US" sz="950" dirty="0"/>
          </a:p>
        </p:txBody>
      </p:sp>
      <p:sp>
        <p:nvSpPr>
          <p:cNvPr id="46" name="Shape 44"/>
          <p:cNvSpPr/>
          <p:nvPr/>
        </p:nvSpPr>
        <p:spPr>
          <a:xfrm>
            <a:off x="457200" y="5623560"/>
            <a:ext cx="11247120" cy="457200"/>
          </a:xfrm>
          <a:prstGeom prst="roundRect">
            <a:avLst>
              <a:gd name="adj" fmla="val 20000"/>
            </a:avLst>
          </a:prstGeom>
          <a:solidFill>
            <a:srgbClr val="FFF4B8"/>
          </a:solidFill>
          <a:ln w="12700">
            <a:solidFill>
              <a:srgbClr val="E5BA1F"/>
            </a:solidFill>
            <a:prstDash val="solid"/>
          </a:ln>
        </p:spPr>
      </p:sp>
      <p:sp>
        <p:nvSpPr>
          <p:cNvPr id="47" name="Text 45"/>
          <p:cNvSpPr/>
          <p:nvPr/>
        </p:nvSpPr>
        <p:spPr>
          <a:xfrm>
            <a:off x="640080" y="5623560"/>
            <a:ext cx="10881360" cy="457200"/>
          </a:xfrm>
          <a:prstGeom prst="rect">
            <a:avLst/>
          </a:prstGeom>
          <a:noFill/>
          <a:ln/>
        </p:spPr>
        <p:txBody>
          <a:bodyPr wrap="square" rtlCol="0" anchor="ctr"/>
          <a:lstStyle/>
          <a:p>
            <a:pPr algn="ctr" indent="0" marL="0">
              <a:buNone/>
            </a:pPr>
            <a:r>
              <a:rPr lang="en-US" sz="1500" b="1" dirty="0">
                <a:solidFill>
                  <a:srgbClr val="2D2D2D"/>
                </a:solidFill>
                <a:latin typeface="Calibri" pitchFamily="34" charset="0"/>
                <a:ea typeface="Calibri" pitchFamily="34" charset="-122"/>
                <a:cs typeface="Calibri" pitchFamily="34" charset="-120"/>
              </a:rPr>
              <a:t>The core owns the CAPABILITY.  The adapter owns the INTERFACE.</a:t>
            </a:r>
            <a:endParaRPr lang="en-US" sz="1500" dirty="0"/>
          </a:p>
        </p:txBody>
      </p:sp>
      <p:sp>
        <p:nvSpPr>
          <p:cNvPr id="48" name="Text 46"/>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49" name="Text 47"/>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5 / 28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A · MAP</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Five Doors Into the Same Room</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Different users, different protocols, identical logic behind them.</a:t>
            </a:r>
            <a:endParaRPr lang="en-US" sz="1400" dirty="0"/>
          </a:p>
        </p:txBody>
      </p:sp>
      <p:sp>
        <p:nvSpPr>
          <p:cNvPr id="8" name="Text 6"/>
          <p:cNvSpPr/>
          <p:nvPr/>
        </p:nvSpPr>
        <p:spPr>
          <a:xfrm>
            <a:off x="457200" y="2103120"/>
            <a:ext cx="246888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INTERFACE</a:t>
            </a:r>
            <a:endParaRPr lang="en-US" sz="1050" dirty="0"/>
          </a:p>
        </p:txBody>
      </p:sp>
      <p:sp>
        <p:nvSpPr>
          <p:cNvPr id="9" name="Text 7"/>
          <p:cNvSpPr/>
          <p:nvPr/>
        </p:nvSpPr>
        <p:spPr>
          <a:xfrm>
            <a:off x="3017520" y="2103120"/>
            <a:ext cx="365760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WHO USES IT</a:t>
            </a:r>
            <a:endParaRPr lang="en-US" sz="1050" dirty="0"/>
          </a:p>
        </p:txBody>
      </p:sp>
      <p:sp>
        <p:nvSpPr>
          <p:cNvPr id="10" name="Text 8"/>
          <p:cNvSpPr/>
          <p:nvPr/>
        </p:nvSpPr>
        <p:spPr>
          <a:xfrm>
            <a:off x="6766560" y="2103120"/>
            <a:ext cx="265176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HOW IT TALKS</a:t>
            </a:r>
            <a:endParaRPr lang="en-US" sz="1050" dirty="0"/>
          </a:p>
        </p:txBody>
      </p:sp>
      <p:sp>
        <p:nvSpPr>
          <p:cNvPr id="11" name="Text 9"/>
          <p:cNvSpPr/>
          <p:nvPr/>
        </p:nvSpPr>
        <p:spPr>
          <a:xfrm>
            <a:off x="9509760" y="2103120"/>
            <a:ext cx="219456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WHEN WE BUILD IT</a:t>
            </a:r>
            <a:endParaRPr lang="en-US" sz="1050" dirty="0"/>
          </a:p>
        </p:txBody>
      </p:sp>
      <p:sp>
        <p:nvSpPr>
          <p:cNvPr id="12" name="Shape 10"/>
          <p:cNvSpPr/>
          <p:nvPr/>
        </p:nvSpPr>
        <p:spPr>
          <a:xfrm>
            <a:off x="457200" y="2468880"/>
            <a:ext cx="11247120" cy="512064"/>
          </a:xfrm>
          <a:prstGeom prst="roundRect">
            <a:avLst>
              <a:gd name="adj" fmla="val 21429"/>
            </a:avLst>
          </a:prstGeom>
          <a:solidFill>
            <a:srgbClr val="FFFFFF"/>
          </a:solidFill>
          <a:ln w="12700">
            <a:solidFill>
              <a:srgbClr val="E4DAEF"/>
            </a:solidFill>
            <a:prstDash val="solid"/>
          </a:ln>
          <a:effectLst>
            <a:outerShdw sx="100000" sy="100000" kx="0" ky="0" algn="bl" rotWithShape="0" blurRad="101600" dist="25400" dir="5400000">
              <a:srgbClr val="C4B5DC">
                <a:alpha val="18000"/>
              </a:srgbClr>
            </a:outerShdw>
          </a:effectLst>
        </p:spPr>
      </p:sp>
      <p:sp>
        <p:nvSpPr>
          <p:cNvPr id="13" name="Text 11"/>
          <p:cNvSpPr/>
          <p:nvPr/>
        </p:nvSpPr>
        <p:spPr>
          <a:xfrm>
            <a:off x="594360" y="2468880"/>
            <a:ext cx="2468880" cy="512064"/>
          </a:xfrm>
          <a:prstGeom prst="rect">
            <a:avLst/>
          </a:prstGeom>
          <a:noFill/>
          <a:ln/>
        </p:spPr>
        <p:txBody>
          <a:bodyPr wrap="square" lIns="0" tIns="0" rIns="0" bIns="0" rtlCol="0" anchor="ctr"/>
          <a:lstStyle/>
          <a:p>
            <a:pPr indent="0" marL="0">
              <a:buNone/>
            </a:pPr>
            <a:r>
              <a:rPr lang="en-US" sz="1300" b="1" dirty="0">
                <a:solidFill>
                  <a:srgbClr val="5A9C5A"/>
                </a:solidFill>
                <a:latin typeface="Calibri" pitchFamily="34" charset="0"/>
                <a:ea typeface="Calibri" pitchFamily="34" charset="-122"/>
                <a:cs typeface="Calibri" pitchFamily="34" charset="-120"/>
              </a:rPr>
              <a:t>Web / REST</a:t>
            </a:r>
            <a:endParaRPr lang="en-US" sz="1300" dirty="0"/>
          </a:p>
        </p:txBody>
      </p:sp>
      <p:sp>
        <p:nvSpPr>
          <p:cNvPr id="14" name="Text 12"/>
          <p:cNvSpPr/>
          <p:nvPr/>
        </p:nvSpPr>
        <p:spPr>
          <a:xfrm>
            <a:off x="3017520" y="2468880"/>
            <a:ext cx="3657600" cy="512064"/>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humans</a:t>
            </a:r>
            <a:endParaRPr lang="en-US" sz="1200" dirty="0"/>
          </a:p>
        </p:txBody>
      </p:sp>
      <p:sp>
        <p:nvSpPr>
          <p:cNvPr id="15" name="Text 13"/>
          <p:cNvSpPr/>
          <p:nvPr/>
        </p:nvSpPr>
        <p:spPr>
          <a:xfrm>
            <a:off x="6766560" y="2468880"/>
            <a:ext cx="2651760" cy="512064"/>
          </a:xfrm>
          <a:prstGeom prst="rect">
            <a:avLst/>
          </a:prstGeom>
          <a:noFill/>
          <a:ln/>
        </p:spPr>
        <p:txBody>
          <a:bodyPr wrap="square" lIns="0" tIns="0" rIns="0" bIns="0" rtlCol="0" anchor="ctr"/>
          <a:lstStyle/>
          <a:p>
            <a:pPr indent="0" marL="0">
              <a:buNone/>
            </a:pPr>
            <a:r>
              <a:rPr lang="en-US" sz="1150" dirty="0">
                <a:solidFill>
                  <a:srgbClr val="5A5A5A"/>
                </a:solidFill>
                <a:latin typeface="Consolas" pitchFamily="34" charset="0"/>
                <a:ea typeface="Consolas" pitchFamily="34" charset="-122"/>
                <a:cs typeface="Consolas" pitchFamily="34" charset="-120"/>
              </a:rPr>
              <a:t>browser</a:t>
            </a:r>
            <a:endParaRPr lang="en-US" sz="1150" dirty="0"/>
          </a:p>
        </p:txBody>
      </p:sp>
      <p:sp>
        <p:nvSpPr>
          <p:cNvPr id="16" name="Text 14"/>
          <p:cNvSpPr/>
          <p:nvPr/>
        </p:nvSpPr>
        <p:spPr>
          <a:xfrm>
            <a:off x="9509760" y="2468880"/>
            <a:ext cx="2194560" cy="512064"/>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Session 1</a:t>
            </a:r>
            <a:endParaRPr lang="en-US" sz="1200" dirty="0"/>
          </a:p>
        </p:txBody>
      </p:sp>
      <p:sp>
        <p:nvSpPr>
          <p:cNvPr id="17" name="Shape 15"/>
          <p:cNvSpPr/>
          <p:nvPr/>
        </p:nvSpPr>
        <p:spPr>
          <a:xfrm>
            <a:off x="457200" y="3072384"/>
            <a:ext cx="11247120" cy="512064"/>
          </a:xfrm>
          <a:prstGeom prst="roundRect">
            <a:avLst>
              <a:gd name="adj" fmla="val 21429"/>
            </a:avLst>
          </a:prstGeom>
          <a:solidFill>
            <a:srgbClr val="FFFFFF"/>
          </a:solidFill>
          <a:ln w="12700">
            <a:solidFill>
              <a:srgbClr val="E4DAEF"/>
            </a:solidFill>
            <a:prstDash val="solid"/>
          </a:ln>
          <a:effectLst>
            <a:outerShdw sx="100000" sy="100000" kx="0" ky="0" algn="bl" rotWithShape="0" blurRad="101600" dist="25400" dir="5400000">
              <a:srgbClr val="C4B5DC">
                <a:alpha val="18000"/>
              </a:srgbClr>
            </a:outerShdw>
          </a:effectLst>
        </p:spPr>
      </p:sp>
      <p:sp>
        <p:nvSpPr>
          <p:cNvPr id="18" name="Text 16"/>
          <p:cNvSpPr/>
          <p:nvPr/>
        </p:nvSpPr>
        <p:spPr>
          <a:xfrm>
            <a:off x="594360" y="3072384"/>
            <a:ext cx="2468880" cy="512064"/>
          </a:xfrm>
          <a:prstGeom prst="rect">
            <a:avLst/>
          </a:prstGeom>
          <a:noFill/>
          <a:ln/>
        </p:spPr>
        <p:txBody>
          <a:bodyPr wrap="square" lIns="0" tIns="0" rIns="0" bIns="0" rtlCol="0" anchor="ctr"/>
          <a:lstStyle/>
          <a:p>
            <a:pPr indent="0" marL="0">
              <a:buNone/>
            </a:pPr>
            <a:r>
              <a:rPr lang="en-US" sz="1300" b="1" dirty="0">
                <a:solidFill>
                  <a:srgbClr val="5A9C5A"/>
                </a:solidFill>
                <a:latin typeface="Calibri" pitchFamily="34" charset="0"/>
                <a:ea typeface="Calibri" pitchFamily="34" charset="-122"/>
                <a:cs typeface="Calibri" pitchFamily="34" charset="-120"/>
              </a:rPr>
              <a:t>CLI</a:t>
            </a:r>
            <a:endParaRPr lang="en-US" sz="1300" dirty="0"/>
          </a:p>
        </p:txBody>
      </p:sp>
      <p:sp>
        <p:nvSpPr>
          <p:cNvPr id="19" name="Text 17"/>
          <p:cNvSpPr/>
          <p:nvPr/>
        </p:nvSpPr>
        <p:spPr>
          <a:xfrm>
            <a:off x="3017520" y="3072384"/>
            <a:ext cx="3657600" cy="512064"/>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humans</a:t>
            </a:r>
            <a:endParaRPr lang="en-US" sz="1200" dirty="0"/>
          </a:p>
        </p:txBody>
      </p:sp>
      <p:sp>
        <p:nvSpPr>
          <p:cNvPr id="20" name="Text 18"/>
          <p:cNvSpPr/>
          <p:nvPr/>
        </p:nvSpPr>
        <p:spPr>
          <a:xfrm>
            <a:off x="6766560" y="3072384"/>
            <a:ext cx="2651760" cy="512064"/>
          </a:xfrm>
          <a:prstGeom prst="rect">
            <a:avLst/>
          </a:prstGeom>
          <a:noFill/>
          <a:ln/>
        </p:spPr>
        <p:txBody>
          <a:bodyPr wrap="square" lIns="0" tIns="0" rIns="0" bIns="0" rtlCol="0" anchor="ctr"/>
          <a:lstStyle/>
          <a:p>
            <a:pPr indent="0" marL="0">
              <a:buNone/>
            </a:pPr>
            <a:r>
              <a:rPr lang="en-US" sz="1150" dirty="0">
                <a:solidFill>
                  <a:srgbClr val="5A5A5A"/>
                </a:solidFill>
                <a:latin typeface="Consolas" pitchFamily="34" charset="0"/>
                <a:ea typeface="Consolas" pitchFamily="34" charset="-122"/>
                <a:cs typeface="Consolas" pitchFamily="34" charset="-120"/>
              </a:rPr>
              <a:t>terminal</a:t>
            </a:r>
            <a:endParaRPr lang="en-US" sz="1150" dirty="0"/>
          </a:p>
        </p:txBody>
      </p:sp>
      <p:sp>
        <p:nvSpPr>
          <p:cNvPr id="21" name="Text 19"/>
          <p:cNvSpPr/>
          <p:nvPr/>
        </p:nvSpPr>
        <p:spPr>
          <a:xfrm>
            <a:off x="9509760" y="3072384"/>
            <a:ext cx="2194560" cy="512064"/>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Session 2</a:t>
            </a:r>
            <a:endParaRPr lang="en-US" sz="1200" dirty="0"/>
          </a:p>
        </p:txBody>
      </p:sp>
      <p:sp>
        <p:nvSpPr>
          <p:cNvPr id="22" name="Shape 20"/>
          <p:cNvSpPr/>
          <p:nvPr/>
        </p:nvSpPr>
        <p:spPr>
          <a:xfrm>
            <a:off x="457200" y="3675888"/>
            <a:ext cx="11247120" cy="512064"/>
          </a:xfrm>
          <a:prstGeom prst="roundRect">
            <a:avLst>
              <a:gd name="adj" fmla="val 21429"/>
            </a:avLst>
          </a:prstGeom>
          <a:solidFill>
            <a:srgbClr val="FFFFFF"/>
          </a:solidFill>
          <a:ln w="12700">
            <a:solidFill>
              <a:srgbClr val="E4DAEF"/>
            </a:solidFill>
            <a:prstDash val="solid"/>
          </a:ln>
          <a:effectLst>
            <a:outerShdw sx="100000" sy="100000" kx="0" ky="0" algn="bl" rotWithShape="0" blurRad="101600" dist="25400" dir="5400000">
              <a:srgbClr val="C4B5DC">
                <a:alpha val="18000"/>
              </a:srgbClr>
            </a:outerShdw>
          </a:effectLst>
        </p:spPr>
      </p:sp>
      <p:sp>
        <p:nvSpPr>
          <p:cNvPr id="23" name="Text 21"/>
          <p:cNvSpPr/>
          <p:nvPr/>
        </p:nvSpPr>
        <p:spPr>
          <a:xfrm>
            <a:off x="594360" y="3675888"/>
            <a:ext cx="2468880" cy="512064"/>
          </a:xfrm>
          <a:prstGeom prst="rect">
            <a:avLst/>
          </a:prstGeom>
          <a:noFill/>
          <a:ln/>
        </p:spPr>
        <p:txBody>
          <a:bodyPr wrap="square" lIns="0" tIns="0" rIns="0" bIns="0" rtlCol="0" anchor="ctr"/>
          <a:lstStyle/>
          <a:p>
            <a:pPr indent="0" marL="0">
              <a:buNone/>
            </a:pPr>
            <a:r>
              <a:rPr lang="en-US" sz="1300" b="1" dirty="0">
                <a:solidFill>
                  <a:srgbClr val="6B4E96"/>
                </a:solidFill>
                <a:latin typeface="Calibri" pitchFamily="34" charset="0"/>
                <a:ea typeface="Calibri" pitchFamily="34" charset="-122"/>
                <a:cs typeface="Calibri" pitchFamily="34" charset="-120"/>
              </a:rPr>
              <a:t>Local MCP</a:t>
            </a:r>
            <a:endParaRPr lang="en-US" sz="1300" dirty="0"/>
          </a:p>
        </p:txBody>
      </p:sp>
      <p:sp>
        <p:nvSpPr>
          <p:cNvPr id="24" name="Text 22"/>
          <p:cNvSpPr/>
          <p:nvPr/>
        </p:nvSpPr>
        <p:spPr>
          <a:xfrm>
            <a:off x="3017520" y="3675888"/>
            <a:ext cx="3657600" cy="512064"/>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coding agents on your laptop</a:t>
            </a:r>
            <a:endParaRPr lang="en-US" sz="1200" dirty="0"/>
          </a:p>
        </p:txBody>
      </p:sp>
      <p:sp>
        <p:nvSpPr>
          <p:cNvPr id="25" name="Text 23"/>
          <p:cNvSpPr/>
          <p:nvPr/>
        </p:nvSpPr>
        <p:spPr>
          <a:xfrm>
            <a:off x="6766560" y="3675888"/>
            <a:ext cx="2651760" cy="512064"/>
          </a:xfrm>
          <a:prstGeom prst="rect">
            <a:avLst/>
          </a:prstGeom>
          <a:noFill/>
          <a:ln/>
        </p:spPr>
        <p:txBody>
          <a:bodyPr wrap="square" lIns="0" tIns="0" rIns="0" bIns="0" rtlCol="0" anchor="ctr"/>
          <a:lstStyle/>
          <a:p>
            <a:pPr indent="0" marL="0">
              <a:buNone/>
            </a:pPr>
            <a:r>
              <a:rPr lang="en-US" sz="1150" dirty="0">
                <a:solidFill>
                  <a:srgbClr val="5A5A5A"/>
                </a:solidFill>
                <a:latin typeface="Consolas" pitchFamily="34" charset="0"/>
                <a:ea typeface="Consolas" pitchFamily="34" charset="-122"/>
                <a:cs typeface="Consolas" pitchFamily="34" charset="-120"/>
              </a:rPr>
              <a:t>STDIO</a:t>
            </a:r>
            <a:endParaRPr lang="en-US" sz="1150" dirty="0"/>
          </a:p>
        </p:txBody>
      </p:sp>
      <p:sp>
        <p:nvSpPr>
          <p:cNvPr id="26" name="Text 24"/>
          <p:cNvSpPr/>
          <p:nvPr/>
        </p:nvSpPr>
        <p:spPr>
          <a:xfrm>
            <a:off x="9509760" y="3675888"/>
            <a:ext cx="2194560" cy="512064"/>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Session 3</a:t>
            </a:r>
            <a:endParaRPr lang="en-US" sz="1200" dirty="0"/>
          </a:p>
        </p:txBody>
      </p:sp>
      <p:sp>
        <p:nvSpPr>
          <p:cNvPr id="27" name="Shape 25"/>
          <p:cNvSpPr/>
          <p:nvPr/>
        </p:nvSpPr>
        <p:spPr>
          <a:xfrm>
            <a:off x="457200" y="4279392"/>
            <a:ext cx="11247120" cy="512064"/>
          </a:xfrm>
          <a:prstGeom prst="roundRect">
            <a:avLst>
              <a:gd name="adj" fmla="val 21429"/>
            </a:avLst>
          </a:prstGeom>
          <a:solidFill>
            <a:srgbClr val="FFFFFF"/>
          </a:solidFill>
          <a:ln w="12700">
            <a:solidFill>
              <a:srgbClr val="E4DAEF"/>
            </a:solidFill>
            <a:prstDash val="solid"/>
          </a:ln>
          <a:effectLst>
            <a:outerShdw sx="100000" sy="100000" kx="0" ky="0" algn="bl" rotWithShape="0" blurRad="101600" dist="25400" dir="5400000">
              <a:srgbClr val="C4B5DC">
                <a:alpha val="18000"/>
              </a:srgbClr>
            </a:outerShdw>
          </a:effectLst>
        </p:spPr>
      </p:sp>
      <p:sp>
        <p:nvSpPr>
          <p:cNvPr id="28" name="Text 26"/>
          <p:cNvSpPr/>
          <p:nvPr/>
        </p:nvSpPr>
        <p:spPr>
          <a:xfrm>
            <a:off x="594360" y="4279392"/>
            <a:ext cx="2468880" cy="512064"/>
          </a:xfrm>
          <a:prstGeom prst="rect">
            <a:avLst/>
          </a:prstGeom>
          <a:noFill/>
          <a:ln/>
        </p:spPr>
        <p:txBody>
          <a:bodyPr wrap="square" lIns="0" tIns="0" rIns="0" bIns="0" rtlCol="0" anchor="ctr"/>
          <a:lstStyle/>
          <a:p>
            <a:pPr indent="0" marL="0">
              <a:buNone/>
            </a:pPr>
            <a:r>
              <a:rPr lang="en-US" sz="1300" b="1" dirty="0">
                <a:solidFill>
                  <a:srgbClr val="9B7FBE"/>
                </a:solidFill>
                <a:latin typeface="Calibri" pitchFamily="34" charset="0"/>
                <a:ea typeface="Calibri" pitchFamily="34" charset="-122"/>
                <a:cs typeface="Calibri" pitchFamily="34" charset="-120"/>
              </a:rPr>
              <a:t>Remote MCP</a:t>
            </a:r>
            <a:endParaRPr lang="en-US" sz="1300" dirty="0"/>
          </a:p>
        </p:txBody>
      </p:sp>
      <p:sp>
        <p:nvSpPr>
          <p:cNvPr id="29" name="Text 27"/>
          <p:cNvSpPr/>
          <p:nvPr/>
        </p:nvSpPr>
        <p:spPr>
          <a:xfrm>
            <a:off x="3017520" y="4279392"/>
            <a:ext cx="3657600" cy="512064"/>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ChatGPT, Claude on the web</a:t>
            </a:r>
            <a:endParaRPr lang="en-US" sz="1200" dirty="0"/>
          </a:p>
        </p:txBody>
      </p:sp>
      <p:sp>
        <p:nvSpPr>
          <p:cNvPr id="30" name="Text 28"/>
          <p:cNvSpPr/>
          <p:nvPr/>
        </p:nvSpPr>
        <p:spPr>
          <a:xfrm>
            <a:off x="6766560" y="4279392"/>
            <a:ext cx="2651760" cy="512064"/>
          </a:xfrm>
          <a:prstGeom prst="rect">
            <a:avLst/>
          </a:prstGeom>
          <a:noFill/>
          <a:ln/>
        </p:spPr>
        <p:txBody>
          <a:bodyPr wrap="square" lIns="0" tIns="0" rIns="0" bIns="0" rtlCol="0" anchor="ctr"/>
          <a:lstStyle/>
          <a:p>
            <a:pPr indent="0" marL="0">
              <a:buNone/>
            </a:pPr>
            <a:r>
              <a:rPr lang="en-US" sz="1150" dirty="0">
                <a:solidFill>
                  <a:srgbClr val="5A5A5A"/>
                </a:solidFill>
                <a:latin typeface="Consolas" pitchFamily="34" charset="0"/>
                <a:ea typeface="Consolas" pitchFamily="34" charset="-122"/>
                <a:cs typeface="Consolas" pitchFamily="34" charset="-120"/>
              </a:rPr>
              <a:t>HTTP</a:t>
            </a:r>
            <a:endParaRPr lang="en-US" sz="1150" dirty="0"/>
          </a:p>
        </p:txBody>
      </p:sp>
      <p:sp>
        <p:nvSpPr>
          <p:cNvPr id="31" name="Text 29"/>
          <p:cNvSpPr/>
          <p:nvPr/>
        </p:nvSpPr>
        <p:spPr>
          <a:xfrm>
            <a:off x="9509760" y="4279392"/>
            <a:ext cx="2194560" cy="512064"/>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Session 4</a:t>
            </a:r>
            <a:endParaRPr lang="en-US" sz="1200" dirty="0"/>
          </a:p>
        </p:txBody>
      </p:sp>
      <p:sp>
        <p:nvSpPr>
          <p:cNvPr id="32" name="Shape 30"/>
          <p:cNvSpPr/>
          <p:nvPr/>
        </p:nvSpPr>
        <p:spPr>
          <a:xfrm>
            <a:off x="457200" y="4882896"/>
            <a:ext cx="11247120" cy="512064"/>
          </a:xfrm>
          <a:prstGeom prst="roundRect">
            <a:avLst>
              <a:gd name="adj" fmla="val 21429"/>
            </a:avLst>
          </a:prstGeom>
          <a:solidFill>
            <a:srgbClr val="FFFFFF"/>
          </a:solidFill>
          <a:ln w="12700">
            <a:solidFill>
              <a:srgbClr val="E4DAEF"/>
            </a:solidFill>
            <a:prstDash val="solid"/>
          </a:ln>
          <a:effectLst>
            <a:outerShdw sx="100000" sy="100000" kx="0" ky="0" algn="bl" rotWithShape="0" blurRad="101600" dist="25400" dir="5400000">
              <a:srgbClr val="C4B5DC">
                <a:alpha val="18000"/>
              </a:srgbClr>
            </a:outerShdw>
          </a:effectLst>
        </p:spPr>
      </p:sp>
      <p:sp>
        <p:nvSpPr>
          <p:cNvPr id="33" name="Text 31"/>
          <p:cNvSpPr/>
          <p:nvPr/>
        </p:nvSpPr>
        <p:spPr>
          <a:xfrm>
            <a:off x="594360" y="4882896"/>
            <a:ext cx="2468880" cy="512064"/>
          </a:xfrm>
          <a:prstGeom prst="rect">
            <a:avLst/>
          </a:prstGeom>
          <a:noFill/>
          <a:ln/>
        </p:spPr>
        <p:txBody>
          <a:bodyPr wrap="square" lIns="0" tIns="0" rIns="0" bIns="0" rtlCol="0" anchor="ctr"/>
          <a:lstStyle/>
          <a:p>
            <a:pPr indent="0" marL="0">
              <a:buNone/>
            </a:pPr>
            <a:r>
              <a:rPr lang="en-US" sz="1300" b="1" dirty="0">
                <a:solidFill>
                  <a:srgbClr val="E5BA1F"/>
                </a:solidFill>
                <a:latin typeface="Calibri" pitchFamily="34" charset="0"/>
                <a:ea typeface="Calibri" pitchFamily="34" charset="-122"/>
                <a:cs typeface="Calibri" pitchFamily="34" charset="-120"/>
              </a:rPr>
              <a:t>Skill</a:t>
            </a:r>
            <a:endParaRPr lang="en-US" sz="1300" dirty="0"/>
          </a:p>
        </p:txBody>
      </p:sp>
      <p:sp>
        <p:nvSpPr>
          <p:cNvPr id="34" name="Text 32"/>
          <p:cNvSpPr/>
          <p:nvPr/>
        </p:nvSpPr>
        <p:spPr>
          <a:xfrm>
            <a:off x="3017520" y="4882896"/>
            <a:ext cx="3657600" cy="512064"/>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any agent</a:t>
            </a:r>
            <a:endParaRPr lang="en-US" sz="1200" dirty="0"/>
          </a:p>
        </p:txBody>
      </p:sp>
      <p:sp>
        <p:nvSpPr>
          <p:cNvPr id="35" name="Text 33"/>
          <p:cNvSpPr/>
          <p:nvPr/>
        </p:nvSpPr>
        <p:spPr>
          <a:xfrm>
            <a:off x="6766560" y="4882896"/>
            <a:ext cx="2651760" cy="512064"/>
          </a:xfrm>
          <a:prstGeom prst="rect">
            <a:avLst/>
          </a:prstGeom>
          <a:noFill/>
          <a:ln/>
        </p:spPr>
        <p:txBody>
          <a:bodyPr wrap="square" lIns="0" tIns="0" rIns="0" bIns="0" rtlCol="0" anchor="ctr"/>
          <a:lstStyle/>
          <a:p>
            <a:pPr indent="0" marL="0">
              <a:buNone/>
            </a:pPr>
            <a:r>
              <a:rPr lang="en-US" sz="1150" dirty="0">
                <a:solidFill>
                  <a:srgbClr val="5A5A5A"/>
                </a:solidFill>
                <a:latin typeface="Consolas" pitchFamily="34" charset="0"/>
                <a:ea typeface="Consolas" pitchFamily="34" charset="-122"/>
                <a:cs typeface="Consolas" pitchFamily="34" charset="-120"/>
              </a:rPr>
              <a:t>instructions</a:t>
            </a:r>
            <a:endParaRPr lang="en-US" sz="1150" dirty="0"/>
          </a:p>
        </p:txBody>
      </p:sp>
      <p:sp>
        <p:nvSpPr>
          <p:cNvPr id="36" name="Text 34"/>
          <p:cNvSpPr/>
          <p:nvPr/>
        </p:nvSpPr>
        <p:spPr>
          <a:xfrm>
            <a:off x="9509760" y="4882896"/>
            <a:ext cx="2194560" cy="512064"/>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Session 5</a:t>
            </a:r>
            <a:endParaRPr lang="en-US" sz="1200" dirty="0"/>
          </a:p>
        </p:txBody>
      </p:sp>
      <p:sp>
        <p:nvSpPr>
          <p:cNvPr id="37" name="Shape 35"/>
          <p:cNvSpPr/>
          <p:nvPr/>
        </p:nvSpPr>
        <p:spPr>
          <a:xfrm>
            <a:off x="457200" y="5486400"/>
            <a:ext cx="11247120" cy="512064"/>
          </a:xfrm>
          <a:prstGeom prst="roundRect">
            <a:avLst>
              <a:gd name="adj" fmla="val 21429"/>
            </a:avLst>
          </a:prstGeom>
          <a:solidFill>
            <a:srgbClr val="FFF4B8"/>
          </a:solidFill>
          <a:ln w="25400">
            <a:solidFill>
              <a:srgbClr val="6B4E96"/>
            </a:solidFill>
            <a:prstDash val="solid"/>
          </a:ln>
          <a:effectLst>
            <a:outerShdw sx="100000" sy="100000" kx="0" ky="0" algn="bl" rotWithShape="0" blurRad="101600" dist="25400" dir="5400000">
              <a:srgbClr val="C4B5DC">
                <a:alpha val="18000"/>
              </a:srgbClr>
            </a:outerShdw>
          </a:effectLst>
        </p:spPr>
      </p:sp>
      <p:sp>
        <p:nvSpPr>
          <p:cNvPr id="38" name="Text 36"/>
          <p:cNvSpPr/>
          <p:nvPr/>
        </p:nvSpPr>
        <p:spPr>
          <a:xfrm>
            <a:off x="594360" y="5486400"/>
            <a:ext cx="2468880" cy="512064"/>
          </a:xfrm>
          <a:prstGeom prst="rect">
            <a:avLst/>
          </a:prstGeom>
          <a:noFill/>
          <a:ln/>
        </p:spPr>
        <p:txBody>
          <a:bodyPr wrap="square" lIns="0" tIns="0" rIns="0" bIns="0" rtlCol="0" anchor="ctr"/>
          <a:lstStyle/>
          <a:p>
            <a:pPr indent="0" marL="0">
              <a:buNone/>
            </a:pPr>
            <a:r>
              <a:rPr lang="en-US" sz="1300" b="1" dirty="0">
                <a:solidFill>
                  <a:srgbClr val="2D2D2D"/>
                </a:solidFill>
                <a:latin typeface="Calibri" pitchFamily="34" charset="0"/>
                <a:ea typeface="Calibri" pitchFamily="34" charset="-122"/>
                <a:cs typeface="Calibri" pitchFamily="34" charset="-120"/>
              </a:rPr>
              <a:t>SHARED CORE</a:t>
            </a:r>
            <a:endParaRPr lang="en-US" sz="1300" dirty="0"/>
          </a:p>
        </p:txBody>
      </p:sp>
      <p:sp>
        <p:nvSpPr>
          <p:cNvPr id="39" name="Text 37"/>
          <p:cNvSpPr/>
          <p:nvPr/>
        </p:nvSpPr>
        <p:spPr>
          <a:xfrm>
            <a:off x="3017520" y="5486400"/>
            <a:ext cx="3657600" cy="512064"/>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all of them</a:t>
            </a:r>
            <a:endParaRPr lang="en-US" sz="1200" dirty="0"/>
          </a:p>
        </p:txBody>
      </p:sp>
      <p:sp>
        <p:nvSpPr>
          <p:cNvPr id="40" name="Text 38"/>
          <p:cNvSpPr/>
          <p:nvPr/>
        </p:nvSpPr>
        <p:spPr>
          <a:xfrm>
            <a:off x="6766560" y="5486400"/>
            <a:ext cx="2651760" cy="512064"/>
          </a:xfrm>
          <a:prstGeom prst="rect">
            <a:avLst/>
          </a:prstGeom>
          <a:noFill/>
          <a:ln/>
        </p:spPr>
        <p:txBody>
          <a:bodyPr wrap="square" lIns="0" tIns="0" rIns="0" bIns="0" rtlCol="0" anchor="ctr"/>
          <a:lstStyle/>
          <a:p>
            <a:pPr indent="0" marL="0">
              <a:buNone/>
            </a:pPr>
            <a:r>
              <a:rPr lang="en-US" sz="1150" dirty="0">
                <a:solidFill>
                  <a:srgbClr val="5A5A5A"/>
                </a:solidFill>
                <a:latin typeface="Consolas" pitchFamily="34" charset="0"/>
                <a:ea typeface="Consolas" pitchFamily="34" charset="-122"/>
                <a:cs typeface="Consolas" pitchFamily="34" charset="-120"/>
              </a:rPr>
              <a:t>the actual logic</a:t>
            </a:r>
            <a:endParaRPr lang="en-US" sz="1150" dirty="0"/>
          </a:p>
        </p:txBody>
      </p:sp>
      <p:sp>
        <p:nvSpPr>
          <p:cNvPr id="41" name="Text 39"/>
          <p:cNvSpPr/>
          <p:nvPr/>
        </p:nvSpPr>
        <p:spPr>
          <a:xfrm>
            <a:off x="9509760" y="5486400"/>
            <a:ext cx="2194560" cy="512064"/>
          </a:xfrm>
          <a:prstGeom prst="rect">
            <a:avLst/>
          </a:prstGeom>
          <a:noFill/>
          <a:ln/>
        </p:spPr>
        <p:txBody>
          <a:bodyPr wrap="square" lIns="0" tIns="0" rIns="0" bIns="0" rtlCol="0" anchor="ctr"/>
          <a:lstStyle/>
          <a:p>
            <a:pPr indent="0" marL="0">
              <a:buNone/>
            </a:pPr>
            <a:r>
              <a:rPr lang="en-US" sz="1200" b="1" i="1" dirty="0">
                <a:solidFill>
                  <a:srgbClr val="6B4E96"/>
                </a:solidFill>
                <a:latin typeface="Calibri" pitchFamily="34" charset="0"/>
                <a:ea typeface="Calibri" pitchFamily="34" charset="-122"/>
                <a:cs typeface="Calibri" pitchFamily="34" charset="-120"/>
              </a:rPr>
              <a:t>built today</a:t>
            </a:r>
            <a:endParaRPr lang="en-US" sz="1200" dirty="0"/>
          </a:p>
        </p:txBody>
      </p:sp>
      <p:sp>
        <p:nvSpPr>
          <p:cNvPr id="42" name="Text 40"/>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43" name="Text 41"/>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6 / 28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B · THE APPLICATION</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What Is a CRM? (assume nobody knows)</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It tracks WHO you are selling to, and WHAT you promised to do next.</a:t>
            </a:r>
            <a:endParaRPr lang="en-US" sz="1400" dirty="0"/>
          </a:p>
        </p:txBody>
      </p:sp>
      <p:sp>
        <p:nvSpPr>
          <p:cNvPr id="8" name="Shape 6"/>
          <p:cNvSpPr/>
          <p:nvPr/>
        </p:nvSpPr>
        <p:spPr>
          <a:xfrm>
            <a:off x="457200" y="2103120"/>
            <a:ext cx="3657600" cy="1600200"/>
          </a:xfrm>
          <a:prstGeom prst="roundRect">
            <a:avLst>
              <a:gd name="adj" fmla="val 6857"/>
            </a:avLst>
          </a:prstGeom>
          <a:solidFill>
            <a:srgbClr val="FFFFFF"/>
          </a:solidFill>
          <a:ln w="19050">
            <a:solidFill>
              <a:srgbClr val="9B7FBE"/>
            </a:solidFill>
            <a:prstDash val="solid"/>
          </a:ln>
          <a:effectLst>
            <a:outerShdw sx="100000" sy="100000" kx="0" ky="0" algn="bl" rotWithShape="0" blurRad="101600" dist="25400" dir="5400000">
              <a:srgbClr val="C4B5DC">
                <a:alpha val="18000"/>
              </a:srgbClr>
            </a:outerShdw>
          </a:effectLst>
        </p:spPr>
      </p:sp>
      <p:sp>
        <p:nvSpPr>
          <p:cNvPr id="9" name="Shape 7"/>
          <p:cNvSpPr/>
          <p:nvPr/>
        </p:nvSpPr>
        <p:spPr>
          <a:xfrm>
            <a:off x="621792" y="2304288"/>
            <a:ext cx="548640" cy="548640"/>
          </a:xfrm>
          <a:prstGeom prst="ellipse">
            <a:avLst/>
          </a:prstGeom>
          <a:solidFill>
            <a:srgbClr val="EDE5F7"/>
          </a:solidFill>
          <a:ln w="12700">
            <a:solidFill>
              <a:srgbClr val="9B7FBE"/>
            </a:solidFill>
            <a:prstDash val="solid"/>
          </a:ln>
        </p:spPr>
      </p:sp>
      <p:sp>
        <p:nvSpPr>
          <p:cNvPr id="10" name="Text 8"/>
          <p:cNvSpPr/>
          <p:nvPr/>
        </p:nvSpPr>
        <p:spPr>
          <a:xfrm>
            <a:off x="621792" y="2304288"/>
            <a:ext cx="548640" cy="548640"/>
          </a:xfrm>
          <a:prstGeom prst="rect">
            <a:avLst/>
          </a:prstGeom>
          <a:noFill/>
          <a:ln/>
        </p:spPr>
        <p:txBody>
          <a:bodyPr wrap="square" lIns="0" tIns="0" rIns="0" bIns="0" rtlCol="0" anchor="ctr"/>
          <a:lstStyle/>
          <a:p>
            <a:pPr algn="ctr" indent="0" marL="0">
              <a:buNone/>
            </a:pPr>
            <a:r>
              <a:rPr lang="en-US" sz="2000" dirty="0">
                <a:solidFill>
                  <a:srgbClr val="9B7FBE"/>
                </a:solidFill>
              </a:rPr>
              <a:t>✦</a:t>
            </a:r>
            <a:endParaRPr lang="en-US" sz="2000" dirty="0"/>
          </a:p>
        </p:txBody>
      </p:sp>
      <p:sp>
        <p:nvSpPr>
          <p:cNvPr id="11" name="Text 9"/>
          <p:cNvSpPr/>
          <p:nvPr/>
        </p:nvSpPr>
        <p:spPr>
          <a:xfrm>
            <a:off x="1280160" y="2331720"/>
            <a:ext cx="2651760" cy="32004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LEAD</a:t>
            </a:r>
            <a:endParaRPr lang="en-US" sz="1500" dirty="0"/>
          </a:p>
        </p:txBody>
      </p:sp>
      <p:sp>
        <p:nvSpPr>
          <p:cNvPr id="12" name="Text 10"/>
          <p:cNvSpPr/>
          <p:nvPr/>
        </p:nvSpPr>
        <p:spPr>
          <a:xfrm>
            <a:off x="1280160" y="2670048"/>
            <a:ext cx="2651760" cy="868680"/>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A stranger who might buy. Not qualified yet.</a:t>
            </a:r>
            <a:endParaRPr lang="en-US" sz="1100" dirty="0"/>
          </a:p>
        </p:txBody>
      </p:sp>
      <p:sp>
        <p:nvSpPr>
          <p:cNvPr id="13" name="Shape 11"/>
          <p:cNvSpPr/>
          <p:nvPr/>
        </p:nvSpPr>
        <p:spPr>
          <a:xfrm>
            <a:off x="4279392" y="2103120"/>
            <a:ext cx="3657600" cy="1600200"/>
          </a:xfrm>
          <a:prstGeom prst="roundRect">
            <a:avLst>
              <a:gd name="adj" fmla="val 6857"/>
            </a:avLst>
          </a:prstGeom>
          <a:solidFill>
            <a:srgbClr val="FFFFFF"/>
          </a:solidFill>
          <a:ln w="19050">
            <a:solidFill>
              <a:srgbClr val="6B4E96"/>
            </a:solidFill>
            <a:prstDash val="solid"/>
          </a:ln>
          <a:effectLst>
            <a:outerShdw sx="100000" sy="100000" kx="0" ky="0" algn="bl" rotWithShape="0" blurRad="101600" dist="25400" dir="5400000">
              <a:srgbClr val="C4B5DC">
                <a:alpha val="18000"/>
              </a:srgbClr>
            </a:outerShdw>
          </a:effectLst>
        </p:spPr>
      </p:sp>
      <p:sp>
        <p:nvSpPr>
          <p:cNvPr id="14" name="Shape 12"/>
          <p:cNvSpPr/>
          <p:nvPr/>
        </p:nvSpPr>
        <p:spPr>
          <a:xfrm>
            <a:off x="4443984" y="2304288"/>
            <a:ext cx="548640" cy="548640"/>
          </a:xfrm>
          <a:prstGeom prst="ellipse">
            <a:avLst/>
          </a:prstGeom>
          <a:solidFill>
            <a:srgbClr val="EDE5F7"/>
          </a:solidFill>
          <a:ln w="12700">
            <a:solidFill>
              <a:srgbClr val="6B4E96"/>
            </a:solidFill>
            <a:prstDash val="solid"/>
          </a:ln>
        </p:spPr>
      </p:sp>
      <p:sp>
        <p:nvSpPr>
          <p:cNvPr id="15" name="Text 13"/>
          <p:cNvSpPr/>
          <p:nvPr/>
        </p:nvSpPr>
        <p:spPr>
          <a:xfrm>
            <a:off x="4443984" y="2304288"/>
            <a:ext cx="548640" cy="548640"/>
          </a:xfrm>
          <a:prstGeom prst="rect">
            <a:avLst/>
          </a:prstGeom>
          <a:noFill/>
          <a:ln/>
        </p:spPr>
        <p:txBody>
          <a:bodyPr wrap="square" lIns="0" tIns="0" rIns="0" bIns="0" rtlCol="0" anchor="ctr"/>
          <a:lstStyle/>
          <a:p>
            <a:pPr algn="ctr" indent="0" marL="0">
              <a:buNone/>
            </a:pPr>
            <a:r>
              <a:rPr lang="en-US" sz="2000" dirty="0">
                <a:solidFill>
                  <a:srgbClr val="6B4E96"/>
                </a:solidFill>
              </a:rPr>
              <a:t>▦</a:t>
            </a:r>
            <a:endParaRPr lang="en-US" sz="2000" dirty="0"/>
          </a:p>
        </p:txBody>
      </p:sp>
      <p:sp>
        <p:nvSpPr>
          <p:cNvPr id="16" name="Text 14"/>
          <p:cNvSpPr/>
          <p:nvPr/>
        </p:nvSpPr>
        <p:spPr>
          <a:xfrm>
            <a:off x="5102352" y="2331720"/>
            <a:ext cx="2651760" cy="32004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ACCOUNT</a:t>
            </a:r>
            <a:endParaRPr lang="en-US" sz="1500" dirty="0"/>
          </a:p>
        </p:txBody>
      </p:sp>
      <p:sp>
        <p:nvSpPr>
          <p:cNvPr id="17" name="Text 15"/>
          <p:cNvSpPr/>
          <p:nvPr/>
        </p:nvSpPr>
        <p:spPr>
          <a:xfrm>
            <a:off x="5102352" y="2670048"/>
            <a:ext cx="2651760" cy="868680"/>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A company that is now a real prospect or customer.</a:t>
            </a:r>
            <a:endParaRPr lang="en-US" sz="1100" dirty="0"/>
          </a:p>
        </p:txBody>
      </p:sp>
      <p:sp>
        <p:nvSpPr>
          <p:cNvPr id="18" name="Shape 16"/>
          <p:cNvSpPr/>
          <p:nvPr/>
        </p:nvSpPr>
        <p:spPr>
          <a:xfrm>
            <a:off x="8101584" y="2103120"/>
            <a:ext cx="3657600" cy="1600200"/>
          </a:xfrm>
          <a:prstGeom prst="roundRect">
            <a:avLst>
              <a:gd name="adj" fmla="val 6857"/>
            </a:avLst>
          </a:prstGeom>
          <a:solidFill>
            <a:srgbClr val="FFFFFF"/>
          </a:solidFill>
          <a:ln w="19050">
            <a:solidFill>
              <a:srgbClr val="9B7FBE"/>
            </a:solidFill>
            <a:prstDash val="solid"/>
          </a:ln>
          <a:effectLst>
            <a:outerShdw sx="100000" sy="100000" kx="0" ky="0" algn="bl" rotWithShape="0" blurRad="101600" dist="25400" dir="5400000">
              <a:srgbClr val="C4B5DC">
                <a:alpha val="18000"/>
              </a:srgbClr>
            </a:outerShdw>
          </a:effectLst>
        </p:spPr>
      </p:sp>
      <p:sp>
        <p:nvSpPr>
          <p:cNvPr id="19" name="Shape 17"/>
          <p:cNvSpPr/>
          <p:nvPr/>
        </p:nvSpPr>
        <p:spPr>
          <a:xfrm>
            <a:off x="8266176" y="2304288"/>
            <a:ext cx="548640" cy="548640"/>
          </a:xfrm>
          <a:prstGeom prst="ellipse">
            <a:avLst/>
          </a:prstGeom>
          <a:solidFill>
            <a:srgbClr val="EDE5F7"/>
          </a:solidFill>
          <a:ln w="12700">
            <a:solidFill>
              <a:srgbClr val="9B7FBE"/>
            </a:solidFill>
            <a:prstDash val="solid"/>
          </a:ln>
        </p:spPr>
      </p:sp>
      <p:sp>
        <p:nvSpPr>
          <p:cNvPr id="20" name="Text 18"/>
          <p:cNvSpPr/>
          <p:nvPr/>
        </p:nvSpPr>
        <p:spPr>
          <a:xfrm>
            <a:off x="8266176" y="2304288"/>
            <a:ext cx="548640" cy="548640"/>
          </a:xfrm>
          <a:prstGeom prst="rect">
            <a:avLst/>
          </a:prstGeom>
          <a:noFill/>
          <a:ln/>
        </p:spPr>
        <p:txBody>
          <a:bodyPr wrap="square" lIns="0" tIns="0" rIns="0" bIns="0" rtlCol="0" anchor="ctr"/>
          <a:lstStyle/>
          <a:p>
            <a:pPr algn="ctr" indent="0" marL="0">
              <a:buNone/>
            </a:pPr>
            <a:r>
              <a:rPr lang="en-US" sz="2000" dirty="0">
                <a:solidFill>
                  <a:srgbClr val="9B7FBE"/>
                </a:solidFill>
              </a:rPr>
              <a:t>☺</a:t>
            </a:r>
            <a:endParaRPr lang="en-US" sz="2000" dirty="0"/>
          </a:p>
        </p:txBody>
      </p:sp>
      <p:sp>
        <p:nvSpPr>
          <p:cNvPr id="21" name="Text 19"/>
          <p:cNvSpPr/>
          <p:nvPr/>
        </p:nvSpPr>
        <p:spPr>
          <a:xfrm>
            <a:off x="8924544" y="2331720"/>
            <a:ext cx="2651760" cy="32004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CONTACT</a:t>
            </a:r>
            <a:endParaRPr lang="en-US" sz="1500" dirty="0"/>
          </a:p>
        </p:txBody>
      </p:sp>
      <p:sp>
        <p:nvSpPr>
          <p:cNvPr id="22" name="Text 20"/>
          <p:cNvSpPr/>
          <p:nvPr/>
        </p:nvSpPr>
        <p:spPr>
          <a:xfrm>
            <a:off x="8924544" y="2670048"/>
            <a:ext cx="2651760" cy="868680"/>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A person who works at that company.</a:t>
            </a:r>
            <a:endParaRPr lang="en-US" sz="1100" dirty="0"/>
          </a:p>
        </p:txBody>
      </p:sp>
      <p:sp>
        <p:nvSpPr>
          <p:cNvPr id="23" name="Shape 21"/>
          <p:cNvSpPr/>
          <p:nvPr/>
        </p:nvSpPr>
        <p:spPr>
          <a:xfrm>
            <a:off x="457200" y="3886200"/>
            <a:ext cx="3657600" cy="1600200"/>
          </a:xfrm>
          <a:prstGeom prst="roundRect">
            <a:avLst>
              <a:gd name="adj" fmla="val 6857"/>
            </a:avLst>
          </a:prstGeom>
          <a:solidFill>
            <a:srgbClr val="FFFFFF"/>
          </a:solidFill>
          <a:ln w="19050">
            <a:solidFill>
              <a:srgbClr val="E5BA1F"/>
            </a:solidFill>
            <a:prstDash val="solid"/>
          </a:ln>
          <a:effectLst>
            <a:outerShdw sx="100000" sy="100000" kx="0" ky="0" algn="bl" rotWithShape="0" blurRad="101600" dist="25400" dir="5400000">
              <a:srgbClr val="C4B5DC">
                <a:alpha val="18000"/>
              </a:srgbClr>
            </a:outerShdw>
          </a:effectLst>
        </p:spPr>
      </p:sp>
      <p:sp>
        <p:nvSpPr>
          <p:cNvPr id="24" name="Shape 22"/>
          <p:cNvSpPr/>
          <p:nvPr/>
        </p:nvSpPr>
        <p:spPr>
          <a:xfrm>
            <a:off x="621792" y="4087368"/>
            <a:ext cx="548640" cy="548640"/>
          </a:xfrm>
          <a:prstGeom prst="ellipse">
            <a:avLst/>
          </a:prstGeom>
          <a:solidFill>
            <a:srgbClr val="EDE5F7"/>
          </a:solidFill>
          <a:ln w="12700">
            <a:solidFill>
              <a:srgbClr val="E5BA1F"/>
            </a:solidFill>
            <a:prstDash val="solid"/>
          </a:ln>
        </p:spPr>
      </p:sp>
      <p:sp>
        <p:nvSpPr>
          <p:cNvPr id="25" name="Text 23"/>
          <p:cNvSpPr/>
          <p:nvPr/>
        </p:nvSpPr>
        <p:spPr>
          <a:xfrm>
            <a:off x="621792" y="4087368"/>
            <a:ext cx="548640" cy="548640"/>
          </a:xfrm>
          <a:prstGeom prst="rect">
            <a:avLst/>
          </a:prstGeom>
          <a:noFill/>
          <a:ln/>
        </p:spPr>
        <p:txBody>
          <a:bodyPr wrap="square" lIns="0" tIns="0" rIns="0" bIns="0" rtlCol="0" anchor="ctr"/>
          <a:lstStyle/>
          <a:p>
            <a:pPr algn="ctr" indent="0" marL="0">
              <a:buNone/>
            </a:pPr>
            <a:r>
              <a:rPr lang="en-US" sz="2000" dirty="0">
                <a:solidFill>
                  <a:srgbClr val="E5BA1F"/>
                </a:solidFill>
              </a:rPr>
              <a:t>◈</a:t>
            </a:r>
            <a:endParaRPr lang="en-US" sz="2000" dirty="0"/>
          </a:p>
        </p:txBody>
      </p:sp>
      <p:sp>
        <p:nvSpPr>
          <p:cNvPr id="26" name="Text 24"/>
          <p:cNvSpPr/>
          <p:nvPr/>
        </p:nvSpPr>
        <p:spPr>
          <a:xfrm>
            <a:off x="1280160" y="4114800"/>
            <a:ext cx="2651760" cy="32004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DEAL</a:t>
            </a:r>
            <a:endParaRPr lang="en-US" sz="1500" dirty="0"/>
          </a:p>
        </p:txBody>
      </p:sp>
      <p:sp>
        <p:nvSpPr>
          <p:cNvPr id="27" name="Text 25"/>
          <p:cNvSpPr/>
          <p:nvPr/>
        </p:nvSpPr>
        <p:spPr>
          <a:xfrm>
            <a:off x="1280160" y="4453128"/>
            <a:ext cx="2651760" cy="868680"/>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One opportunity. Has a value and a stage.</a:t>
            </a:r>
            <a:endParaRPr lang="en-US" sz="1100" dirty="0"/>
          </a:p>
        </p:txBody>
      </p:sp>
      <p:sp>
        <p:nvSpPr>
          <p:cNvPr id="28" name="Shape 26"/>
          <p:cNvSpPr/>
          <p:nvPr/>
        </p:nvSpPr>
        <p:spPr>
          <a:xfrm>
            <a:off x="4279392" y="3886200"/>
            <a:ext cx="3657600" cy="1600200"/>
          </a:xfrm>
          <a:prstGeom prst="roundRect">
            <a:avLst>
              <a:gd name="adj" fmla="val 6857"/>
            </a:avLst>
          </a:prstGeom>
          <a:solidFill>
            <a:srgbClr val="FFFFFF"/>
          </a:solidFill>
          <a:ln w="19050">
            <a:solidFill>
              <a:srgbClr val="5A9C5A"/>
            </a:solidFill>
            <a:prstDash val="solid"/>
          </a:ln>
          <a:effectLst>
            <a:outerShdw sx="100000" sy="100000" kx="0" ky="0" algn="bl" rotWithShape="0" blurRad="101600" dist="25400" dir="5400000">
              <a:srgbClr val="C4B5DC">
                <a:alpha val="18000"/>
              </a:srgbClr>
            </a:outerShdw>
          </a:effectLst>
        </p:spPr>
      </p:sp>
      <p:sp>
        <p:nvSpPr>
          <p:cNvPr id="29" name="Shape 27"/>
          <p:cNvSpPr/>
          <p:nvPr/>
        </p:nvSpPr>
        <p:spPr>
          <a:xfrm>
            <a:off x="4443984" y="4087368"/>
            <a:ext cx="548640" cy="548640"/>
          </a:xfrm>
          <a:prstGeom prst="ellipse">
            <a:avLst/>
          </a:prstGeom>
          <a:solidFill>
            <a:srgbClr val="EDE5F7"/>
          </a:solidFill>
          <a:ln w="12700">
            <a:solidFill>
              <a:srgbClr val="5A9C5A"/>
            </a:solidFill>
            <a:prstDash val="solid"/>
          </a:ln>
        </p:spPr>
      </p:sp>
      <p:sp>
        <p:nvSpPr>
          <p:cNvPr id="30" name="Text 28"/>
          <p:cNvSpPr/>
          <p:nvPr/>
        </p:nvSpPr>
        <p:spPr>
          <a:xfrm>
            <a:off x="4443984" y="4087368"/>
            <a:ext cx="548640" cy="548640"/>
          </a:xfrm>
          <a:prstGeom prst="rect">
            <a:avLst/>
          </a:prstGeom>
          <a:noFill/>
          <a:ln/>
        </p:spPr>
        <p:txBody>
          <a:bodyPr wrap="square" lIns="0" tIns="0" rIns="0" bIns="0" rtlCol="0" anchor="ctr"/>
          <a:lstStyle/>
          <a:p>
            <a:pPr algn="ctr" indent="0" marL="0">
              <a:buNone/>
            </a:pPr>
            <a:r>
              <a:rPr lang="en-US" sz="2000" dirty="0">
                <a:solidFill>
                  <a:srgbClr val="5A9C5A"/>
                </a:solidFill>
              </a:rPr>
              <a:t>✓</a:t>
            </a:r>
            <a:endParaRPr lang="en-US" sz="2000" dirty="0"/>
          </a:p>
        </p:txBody>
      </p:sp>
      <p:sp>
        <p:nvSpPr>
          <p:cNvPr id="31" name="Text 29"/>
          <p:cNvSpPr/>
          <p:nvPr/>
        </p:nvSpPr>
        <p:spPr>
          <a:xfrm>
            <a:off x="5102352" y="4114800"/>
            <a:ext cx="2651760" cy="32004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TASK</a:t>
            </a:r>
            <a:endParaRPr lang="en-US" sz="1500" dirty="0"/>
          </a:p>
        </p:txBody>
      </p:sp>
      <p:sp>
        <p:nvSpPr>
          <p:cNvPr id="32" name="Text 30"/>
          <p:cNvSpPr/>
          <p:nvPr/>
        </p:nvSpPr>
        <p:spPr>
          <a:xfrm>
            <a:off x="5102352" y="4453128"/>
            <a:ext cx="2651760" cy="868680"/>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Something you must do, by a date.</a:t>
            </a:r>
            <a:endParaRPr lang="en-US" sz="1100" dirty="0"/>
          </a:p>
        </p:txBody>
      </p:sp>
      <p:sp>
        <p:nvSpPr>
          <p:cNvPr id="33" name="Shape 31"/>
          <p:cNvSpPr/>
          <p:nvPr/>
        </p:nvSpPr>
        <p:spPr>
          <a:xfrm>
            <a:off x="8101584" y="3886200"/>
            <a:ext cx="3657600" cy="1600200"/>
          </a:xfrm>
          <a:prstGeom prst="roundRect">
            <a:avLst>
              <a:gd name="adj" fmla="val 6857"/>
            </a:avLst>
          </a:prstGeom>
          <a:solidFill>
            <a:srgbClr val="FFFFFF"/>
          </a:solidFill>
          <a:ln w="19050">
            <a:solidFill>
              <a:srgbClr val="5A5A5A"/>
            </a:solidFill>
            <a:prstDash val="solid"/>
          </a:ln>
          <a:effectLst>
            <a:outerShdw sx="100000" sy="100000" kx="0" ky="0" algn="bl" rotWithShape="0" blurRad="101600" dist="25400" dir="5400000">
              <a:srgbClr val="C4B5DC">
                <a:alpha val="18000"/>
              </a:srgbClr>
            </a:outerShdw>
          </a:effectLst>
        </p:spPr>
      </p:sp>
      <p:sp>
        <p:nvSpPr>
          <p:cNvPr id="34" name="Shape 32"/>
          <p:cNvSpPr/>
          <p:nvPr/>
        </p:nvSpPr>
        <p:spPr>
          <a:xfrm>
            <a:off x="8266176" y="4087368"/>
            <a:ext cx="548640" cy="548640"/>
          </a:xfrm>
          <a:prstGeom prst="ellipse">
            <a:avLst/>
          </a:prstGeom>
          <a:solidFill>
            <a:srgbClr val="EDE5F7"/>
          </a:solidFill>
          <a:ln w="12700">
            <a:solidFill>
              <a:srgbClr val="5A5A5A"/>
            </a:solidFill>
            <a:prstDash val="solid"/>
          </a:ln>
        </p:spPr>
      </p:sp>
      <p:sp>
        <p:nvSpPr>
          <p:cNvPr id="35" name="Text 33"/>
          <p:cNvSpPr/>
          <p:nvPr/>
        </p:nvSpPr>
        <p:spPr>
          <a:xfrm>
            <a:off x="8266176" y="4087368"/>
            <a:ext cx="548640" cy="548640"/>
          </a:xfrm>
          <a:prstGeom prst="rect">
            <a:avLst/>
          </a:prstGeom>
          <a:noFill/>
          <a:ln/>
        </p:spPr>
        <p:txBody>
          <a:bodyPr wrap="square" lIns="0" tIns="0" rIns="0" bIns="0" rtlCol="0" anchor="ctr"/>
          <a:lstStyle/>
          <a:p>
            <a:pPr algn="ctr" indent="0" marL="0">
              <a:buNone/>
            </a:pPr>
            <a:r>
              <a:rPr lang="en-US" sz="2000" dirty="0">
                <a:solidFill>
                  <a:srgbClr val="5A5A5A"/>
                </a:solidFill>
              </a:rPr>
              <a:t>◷</a:t>
            </a:r>
            <a:endParaRPr lang="en-US" sz="2000" dirty="0"/>
          </a:p>
        </p:txBody>
      </p:sp>
      <p:sp>
        <p:nvSpPr>
          <p:cNvPr id="36" name="Text 34"/>
          <p:cNvSpPr/>
          <p:nvPr/>
        </p:nvSpPr>
        <p:spPr>
          <a:xfrm>
            <a:off x="8924544" y="4114800"/>
            <a:ext cx="2651760" cy="32004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ACTIVITY</a:t>
            </a:r>
            <a:endParaRPr lang="en-US" sz="1500" dirty="0"/>
          </a:p>
        </p:txBody>
      </p:sp>
      <p:sp>
        <p:nvSpPr>
          <p:cNvPr id="37" name="Text 35"/>
          <p:cNvSpPr/>
          <p:nvPr/>
        </p:nvSpPr>
        <p:spPr>
          <a:xfrm>
            <a:off x="8924544" y="4453128"/>
            <a:ext cx="2651760" cy="868680"/>
          </a:xfrm>
          <a:prstGeom prst="rect">
            <a:avLst/>
          </a:prstGeom>
          <a:noFill/>
          <a:ln/>
        </p:spPr>
        <p:txBody>
          <a:bodyPr wrap="square" lIns="0" tIns="0" rIns="0" bIns="0" rtlCol="0" anchor="ctr"/>
          <a:lstStyle/>
          <a:p>
            <a:pPr indent="0" marL="0">
              <a:buNone/>
            </a:pPr>
            <a:r>
              <a:rPr lang="en-US" sz="1100" dirty="0">
                <a:solidFill>
                  <a:srgbClr val="5A5A5A"/>
                </a:solidFill>
                <a:latin typeface="Calibri" pitchFamily="34" charset="0"/>
                <a:ea typeface="Calibri" pitchFamily="34" charset="-122"/>
                <a:cs typeface="Calibri" pitchFamily="34" charset="-120"/>
              </a:rPr>
              <a:t>Something that already happened. Call, email, meeting.</a:t>
            </a:r>
            <a:endParaRPr lang="en-US" sz="1100" dirty="0"/>
          </a:p>
        </p:txBody>
      </p:sp>
      <p:sp>
        <p:nvSpPr>
          <p:cNvPr id="38" name="Shape 36"/>
          <p:cNvSpPr/>
          <p:nvPr/>
        </p:nvSpPr>
        <p:spPr>
          <a:xfrm>
            <a:off x="457200" y="5806440"/>
            <a:ext cx="11247120" cy="411480"/>
          </a:xfrm>
          <a:prstGeom prst="roundRect">
            <a:avLst>
              <a:gd name="adj" fmla="val 22222"/>
            </a:avLst>
          </a:prstGeom>
          <a:solidFill>
            <a:srgbClr val="FFF4B8"/>
          </a:solidFill>
          <a:ln w="12700">
            <a:solidFill>
              <a:srgbClr val="E5BA1F"/>
            </a:solidFill>
            <a:prstDash val="solid"/>
          </a:ln>
        </p:spPr>
      </p:sp>
      <p:sp>
        <p:nvSpPr>
          <p:cNvPr id="39" name="Text 37"/>
          <p:cNvSpPr/>
          <p:nvPr/>
        </p:nvSpPr>
        <p:spPr>
          <a:xfrm>
            <a:off x="640080" y="5806440"/>
            <a:ext cx="10881360" cy="411480"/>
          </a:xfrm>
          <a:prstGeom prst="rect">
            <a:avLst/>
          </a:prstGeom>
          <a:noFill/>
          <a:ln/>
        </p:spPr>
        <p:txBody>
          <a:bodyPr wrap="square" rtlCol="0" anchor="ctr"/>
          <a:lstStyle/>
          <a:p>
            <a:pPr algn="ctr" indent="0" marL="0">
              <a:buNone/>
            </a:pPr>
            <a:r>
              <a:rPr lang="en-US" sz="1200" i="1" dirty="0">
                <a:solidFill>
                  <a:srgbClr val="2D2D2D"/>
                </a:solidFill>
                <a:latin typeface="Calibri" pitchFamily="34" charset="0"/>
                <a:ea typeface="Calibri" pitchFamily="34" charset="-122"/>
                <a:cs typeface="Calibri" pitchFamily="34" charset="-120"/>
              </a:rPr>
              <a:t>Priya gets a card at a conference → LEAD. Call goes well → convert it → ACCOUNT + CONTACT + DEAL. Logs the call → ACTIVITY. Sends pricing Friday → TASK.</a:t>
            </a:r>
            <a:endParaRPr lang="en-US" sz="1200" dirty="0"/>
          </a:p>
        </p:txBody>
      </p:sp>
      <p:sp>
        <p:nvSpPr>
          <p:cNvPr id="40" name="Text 38"/>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41" name="Text 39"/>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7 / 28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B · THE ONE BIG RULE</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The Pipeline: Six Stages, One Rule</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Every deal sits in exactly one stage. The stage sets the probability.</a:t>
            </a:r>
            <a:endParaRPr lang="en-US" sz="1400" dirty="0"/>
          </a:p>
        </p:txBody>
      </p:sp>
      <p:sp>
        <p:nvSpPr>
          <p:cNvPr id="8" name="Shape 6"/>
          <p:cNvSpPr/>
          <p:nvPr/>
        </p:nvSpPr>
        <p:spPr>
          <a:xfrm>
            <a:off x="457200" y="2240280"/>
            <a:ext cx="1783080" cy="1371600"/>
          </a:xfrm>
          <a:prstGeom prst="roundRect">
            <a:avLst>
              <a:gd name="adj" fmla="val 8000"/>
            </a:avLst>
          </a:prstGeom>
          <a:solidFill>
            <a:srgbClr val="FFFFFF"/>
          </a:solidFill>
          <a:ln w="20320">
            <a:solidFill>
              <a:srgbClr val="9B7FBE"/>
            </a:solidFill>
            <a:prstDash val="solid"/>
          </a:ln>
          <a:effectLst>
            <a:outerShdw sx="100000" sy="100000" kx="0" ky="0" algn="bl" rotWithShape="0" blurRad="101600" dist="25400" dir="5400000">
              <a:srgbClr val="C4B5DC">
                <a:alpha val="18000"/>
              </a:srgbClr>
            </a:outerShdw>
          </a:effectLst>
        </p:spPr>
      </p:sp>
      <p:sp>
        <p:nvSpPr>
          <p:cNvPr id="9" name="Text 7"/>
          <p:cNvSpPr/>
          <p:nvPr/>
        </p:nvSpPr>
        <p:spPr>
          <a:xfrm>
            <a:off x="530352" y="2395728"/>
            <a:ext cx="1636776"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Consolas" pitchFamily="34" charset="0"/>
                <a:ea typeface="Consolas" pitchFamily="34" charset="-122"/>
                <a:cs typeface="Consolas" pitchFamily="34" charset="-120"/>
              </a:rPr>
              <a:t>qualification</a:t>
            </a:r>
            <a:endParaRPr lang="en-US" sz="1100" dirty="0"/>
          </a:p>
        </p:txBody>
      </p:sp>
      <p:sp>
        <p:nvSpPr>
          <p:cNvPr id="10" name="Text 8"/>
          <p:cNvSpPr/>
          <p:nvPr/>
        </p:nvSpPr>
        <p:spPr>
          <a:xfrm>
            <a:off x="457200" y="2971800"/>
            <a:ext cx="1783080" cy="457200"/>
          </a:xfrm>
          <a:prstGeom prst="rect">
            <a:avLst/>
          </a:prstGeom>
          <a:noFill/>
          <a:ln/>
        </p:spPr>
        <p:txBody>
          <a:bodyPr wrap="square" lIns="0" tIns="0" rIns="0" bIns="0" rtlCol="0" anchor="ctr"/>
          <a:lstStyle/>
          <a:p>
            <a:pPr algn="ctr" indent="0" marL="0">
              <a:buNone/>
            </a:pPr>
            <a:r>
              <a:rPr lang="en-US" sz="2100" b="1" dirty="0">
                <a:solidFill>
                  <a:srgbClr val="9B7FBE"/>
                </a:solidFill>
                <a:latin typeface="Calibri" pitchFamily="34" charset="0"/>
                <a:ea typeface="Calibri" pitchFamily="34" charset="-122"/>
                <a:cs typeface="Calibri" pitchFamily="34" charset="-120"/>
              </a:rPr>
              <a:t>10%</a:t>
            </a:r>
            <a:endParaRPr lang="en-US" sz="2100" dirty="0"/>
          </a:p>
        </p:txBody>
      </p:sp>
      <p:sp>
        <p:nvSpPr>
          <p:cNvPr id="11" name="Text 9"/>
          <p:cNvSpPr/>
          <p:nvPr/>
        </p:nvSpPr>
        <p:spPr>
          <a:xfrm>
            <a:off x="2221992" y="2697480"/>
            <a:ext cx="137160" cy="365760"/>
          </a:xfrm>
          <a:prstGeom prst="rect">
            <a:avLst/>
          </a:prstGeom>
          <a:noFill/>
          <a:ln/>
        </p:spPr>
        <p:txBody>
          <a:bodyPr wrap="square" lIns="0" tIns="0" rIns="0" bIns="0" rtlCol="0" anchor="ctr"/>
          <a:lstStyle/>
          <a:p>
            <a:pPr algn="ctr" indent="0" marL="0">
              <a:buNone/>
            </a:pPr>
            <a:r>
              <a:rPr lang="en-US" sz="1500" dirty="0">
                <a:solidFill>
                  <a:srgbClr val="C5B3DC"/>
                </a:solidFill>
              </a:rPr>
              <a:t>→</a:t>
            </a:r>
            <a:endParaRPr lang="en-US" sz="1500" dirty="0"/>
          </a:p>
        </p:txBody>
      </p:sp>
      <p:sp>
        <p:nvSpPr>
          <p:cNvPr id="12" name="Shape 10"/>
          <p:cNvSpPr/>
          <p:nvPr/>
        </p:nvSpPr>
        <p:spPr>
          <a:xfrm>
            <a:off x="2340864" y="2240280"/>
            <a:ext cx="1783080" cy="1371600"/>
          </a:xfrm>
          <a:prstGeom prst="roundRect">
            <a:avLst>
              <a:gd name="adj" fmla="val 8000"/>
            </a:avLst>
          </a:prstGeom>
          <a:solidFill>
            <a:srgbClr val="FFFFFF"/>
          </a:solidFill>
          <a:ln w="20320">
            <a:solidFill>
              <a:srgbClr val="9B7FBE"/>
            </a:solidFill>
            <a:prstDash val="solid"/>
          </a:ln>
          <a:effectLst>
            <a:outerShdw sx="100000" sy="100000" kx="0" ky="0" algn="bl" rotWithShape="0" blurRad="101600" dist="25400" dir="5400000">
              <a:srgbClr val="C4B5DC">
                <a:alpha val="18000"/>
              </a:srgbClr>
            </a:outerShdw>
          </a:effectLst>
        </p:spPr>
      </p:sp>
      <p:sp>
        <p:nvSpPr>
          <p:cNvPr id="13" name="Text 11"/>
          <p:cNvSpPr/>
          <p:nvPr/>
        </p:nvSpPr>
        <p:spPr>
          <a:xfrm>
            <a:off x="2414016" y="2395728"/>
            <a:ext cx="1636776"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Consolas" pitchFamily="34" charset="0"/>
                <a:ea typeface="Consolas" pitchFamily="34" charset="-122"/>
                <a:cs typeface="Consolas" pitchFamily="34" charset="-120"/>
              </a:rPr>
              <a:t>needs_analysis</a:t>
            </a:r>
            <a:endParaRPr lang="en-US" sz="1100" dirty="0"/>
          </a:p>
        </p:txBody>
      </p:sp>
      <p:sp>
        <p:nvSpPr>
          <p:cNvPr id="14" name="Text 12"/>
          <p:cNvSpPr/>
          <p:nvPr/>
        </p:nvSpPr>
        <p:spPr>
          <a:xfrm>
            <a:off x="2340864" y="2971800"/>
            <a:ext cx="1783080" cy="457200"/>
          </a:xfrm>
          <a:prstGeom prst="rect">
            <a:avLst/>
          </a:prstGeom>
          <a:noFill/>
          <a:ln/>
        </p:spPr>
        <p:txBody>
          <a:bodyPr wrap="square" lIns="0" tIns="0" rIns="0" bIns="0" rtlCol="0" anchor="ctr"/>
          <a:lstStyle/>
          <a:p>
            <a:pPr algn="ctr" indent="0" marL="0">
              <a:buNone/>
            </a:pPr>
            <a:r>
              <a:rPr lang="en-US" sz="2100" b="1" dirty="0">
                <a:solidFill>
                  <a:srgbClr val="9B7FBE"/>
                </a:solidFill>
                <a:latin typeface="Calibri" pitchFamily="34" charset="0"/>
                <a:ea typeface="Calibri" pitchFamily="34" charset="-122"/>
                <a:cs typeface="Calibri" pitchFamily="34" charset="-120"/>
              </a:rPr>
              <a:t>25%</a:t>
            </a:r>
            <a:endParaRPr lang="en-US" sz="2100" dirty="0"/>
          </a:p>
        </p:txBody>
      </p:sp>
      <p:sp>
        <p:nvSpPr>
          <p:cNvPr id="15" name="Text 13"/>
          <p:cNvSpPr/>
          <p:nvPr/>
        </p:nvSpPr>
        <p:spPr>
          <a:xfrm>
            <a:off x="4105656" y="2697480"/>
            <a:ext cx="137160" cy="365760"/>
          </a:xfrm>
          <a:prstGeom prst="rect">
            <a:avLst/>
          </a:prstGeom>
          <a:noFill/>
          <a:ln/>
        </p:spPr>
        <p:txBody>
          <a:bodyPr wrap="square" lIns="0" tIns="0" rIns="0" bIns="0" rtlCol="0" anchor="ctr"/>
          <a:lstStyle/>
          <a:p>
            <a:pPr algn="ctr" indent="0" marL="0">
              <a:buNone/>
            </a:pPr>
            <a:r>
              <a:rPr lang="en-US" sz="1500" dirty="0">
                <a:solidFill>
                  <a:srgbClr val="C5B3DC"/>
                </a:solidFill>
              </a:rPr>
              <a:t>→</a:t>
            </a:r>
            <a:endParaRPr lang="en-US" sz="1500" dirty="0"/>
          </a:p>
        </p:txBody>
      </p:sp>
      <p:sp>
        <p:nvSpPr>
          <p:cNvPr id="16" name="Shape 14"/>
          <p:cNvSpPr/>
          <p:nvPr/>
        </p:nvSpPr>
        <p:spPr>
          <a:xfrm>
            <a:off x="4224528" y="2240280"/>
            <a:ext cx="1783080" cy="1371600"/>
          </a:xfrm>
          <a:prstGeom prst="roundRect">
            <a:avLst>
              <a:gd name="adj" fmla="val 8000"/>
            </a:avLst>
          </a:prstGeom>
          <a:solidFill>
            <a:srgbClr val="FFFFFF"/>
          </a:solidFill>
          <a:ln w="20320">
            <a:solidFill>
              <a:srgbClr val="E5BA1F"/>
            </a:solidFill>
            <a:prstDash val="solid"/>
          </a:ln>
          <a:effectLst>
            <a:outerShdw sx="100000" sy="100000" kx="0" ky="0" algn="bl" rotWithShape="0" blurRad="101600" dist="25400" dir="5400000">
              <a:srgbClr val="C4B5DC">
                <a:alpha val="18000"/>
              </a:srgbClr>
            </a:outerShdw>
          </a:effectLst>
        </p:spPr>
      </p:sp>
      <p:sp>
        <p:nvSpPr>
          <p:cNvPr id="17" name="Text 15"/>
          <p:cNvSpPr/>
          <p:nvPr/>
        </p:nvSpPr>
        <p:spPr>
          <a:xfrm>
            <a:off x="4297680" y="2395728"/>
            <a:ext cx="1636776"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Consolas" pitchFamily="34" charset="0"/>
                <a:ea typeface="Consolas" pitchFamily="34" charset="-122"/>
                <a:cs typeface="Consolas" pitchFamily="34" charset="-120"/>
              </a:rPr>
              <a:t>proposal</a:t>
            </a:r>
            <a:endParaRPr lang="en-US" sz="1100" dirty="0"/>
          </a:p>
        </p:txBody>
      </p:sp>
      <p:sp>
        <p:nvSpPr>
          <p:cNvPr id="18" name="Text 16"/>
          <p:cNvSpPr/>
          <p:nvPr/>
        </p:nvSpPr>
        <p:spPr>
          <a:xfrm>
            <a:off x="4224528" y="2971800"/>
            <a:ext cx="1783080" cy="457200"/>
          </a:xfrm>
          <a:prstGeom prst="rect">
            <a:avLst/>
          </a:prstGeom>
          <a:noFill/>
          <a:ln/>
        </p:spPr>
        <p:txBody>
          <a:bodyPr wrap="square" lIns="0" tIns="0" rIns="0" bIns="0" rtlCol="0" anchor="ctr"/>
          <a:lstStyle/>
          <a:p>
            <a:pPr algn="ctr" indent="0" marL="0">
              <a:buNone/>
            </a:pPr>
            <a:r>
              <a:rPr lang="en-US" sz="2100" b="1" dirty="0">
                <a:solidFill>
                  <a:srgbClr val="E5BA1F"/>
                </a:solidFill>
                <a:latin typeface="Calibri" pitchFamily="34" charset="0"/>
                <a:ea typeface="Calibri" pitchFamily="34" charset="-122"/>
                <a:cs typeface="Calibri" pitchFamily="34" charset="-120"/>
              </a:rPr>
              <a:t>50%</a:t>
            </a:r>
            <a:endParaRPr lang="en-US" sz="2100" dirty="0"/>
          </a:p>
        </p:txBody>
      </p:sp>
      <p:sp>
        <p:nvSpPr>
          <p:cNvPr id="19" name="Text 17"/>
          <p:cNvSpPr/>
          <p:nvPr/>
        </p:nvSpPr>
        <p:spPr>
          <a:xfrm>
            <a:off x="5989320" y="2697480"/>
            <a:ext cx="137160" cy="365760"/>
          </a:xfrm>
          <a:prstGeom prst="rect">
            <a:avLst/>
          </a:prstGeom>
          <a:noFill/>
          <a:ln/>
        </p:spPr>
        <p:txBody>
          <a:bodyPr wrap="square" lIns="0" tIns="0" rIns="0" bIns="0" rtlCol="0" anchor="ctr"/>
          <a:lstStyle/>
          <a:p>
            <a:pPr algn="ctr" indent="0" marL="0">
              <a:buNone/>
            </a:pPr>
            <a:r>
              <a:rPr lang="en-US" sz="1500" dirty="0">
                <a:solidFill>
                  <a:srgbClr val="C5B3DC"/>
                </a:solidFill>
              </a:rPr>
              <a:t>→</a:t>
            </a:r>
            <a:endParaRPr lang="en-US" sz="1500" dirty="0"/>
          </a:p>
        </p:txBody>
      </p:sp>
      <p:sp>
        <p:nvSpPr>
          <p:cNvPr id="20" name="Shape 18"/>
          <p:cNvSpPr/>
          <p:nvPr/>
        </p:nvSpPr>
        <p:spPr>
          <a:xfrm>
            <a:off x="6108192" y="2240280"/>
            <a:ext cx="1783080" cy="1371600"/>
          </a:xfrm>
          <a:prstGeom prst="roundRect">
            <a:avLst>
              <a:gd name="adj" fmla="val 8000"/>
            </a:avLst>
          </a:prstGeom>
          <a:solidFill>
            <a:srgbClr val="FFFFFF"/>
          </a:solidFill>
          <a:ln w="20320">
            <a:solidFill>
              <a:srgbClr val="E5BA1F"/>
            </a:solidFill>
            <a:prstDash val="solid"/>
          </a:ln>
          <a:effectLst>
            <a:outerShdw sx="100000" sy="100000" kx="0" ky="0" algn="bl" rotWithShape="0" blurRad="101600" dist="25400" dir="5400000">
              <a:srgbClr val="C4B5DC">
                <a:alpha val="18000"/>
              </a:srgbClr>
            </a:outerShdw>
          </a:effectLst>
        </p:spPr>
      </p:sp>
      <p:sp>
        <p:nvSpPr>
          <p:cNvPr id="21" name="Text 19"/>
          <p:cNvSpPr/>
          <p:nvPr/>
        </p:nvSpPr>
        <p:spPr>
          <a:xfrm>
            <a:off x="6181344" y="2395728"/>
            <a:ext cx="1636776"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Consolas" pitchFamily="34" charset="0"/>
                <a:ea typeface="Consolas" pitchFamily="34" charset="-122"/>
                <a:cs typeface="Consolas" pitchFamily="34" charset="-120"/>
              </a:rPr>
              <a:t>negotiation</a:t>
            </a:r>
            <a:endParaRPr lang="en-US" sz="1100" dirty="0"/>
          </a:p>
        </p:txBody>
      </p:sp>
      <p:sp>
        <p:nvSpPr>
          <p:cNvPr id="22" name="Text 20"/>
          <p:cNvSpPr/>
          <p:nvPr/>
        </p:nvSpPr>
        <p:spPr>
          <a:xfrm>
            <a:off x="6108192" y="2971800"/>
            <a:ext cx="1783080" cy="457200"/>
          </a:xfrm>
          <a:prstGeom prst="rect">
            <a:avLst/>
          </a:prstGeom>
          <a:noFill/>
          <a:ln/>
        </p:spPr>
        <p:txBody>
          <a:bodyPr wrap="square" lIns="0" tIns="0" rIns="0" bIns="0" rtlCol="0" anchor="ctr"/>
          <a:lstStyle/>
          <a:p>
            <a:pPr algn="ctr" indent="0" marL="0">
              <a:buNone/>
            </a:pPr>
            <a:r>
              <a:rPr lang="en-US" sz="2100" b="1" dirty="0">
                <a:solidFill>
                  <a:srgbClr val="E5BA1F"/>
                </a:solidFill>
                <a:latin typeface="Calibri" pitchFamily="34" charset="0"/>
                <a:ea typeface="Calibri" pitchFamily="34" charset="-122"/>
                <a:cs typeface="Calibri" pitchFamily="34" charset="-120"/>
              </a:rPr>
              <a:t>75%</a:t>
            </a:r>
            <a:endParaRPr lang="en-US" sz="2100" dirty="0"/>
          </a:p>
        </p:txBody>
      </p:sp>
      <p:sp>
        <p:nvSpPr>
          <p:cNvPr id="23" name="Text 21"/>
          <p:cNvSpPr/>
          <p:nvPr/>
        </p:nvSpPr>
        <p:spPr>
          <a:xfrm>
            <a:off x="7872984" y="2697480"/>
            <a:ext cx="137160" cy="365760"/>
          </a:xfrm>
          <a:prstGeom prst="rect">
            <a:avLst/>
          </a:prstGeom>
          <a:noFill/>
          <a:ln/>
        </p:spPr>
        <p:txBody>
          <a:bodyPr wrap="square" lIns="0" tIns="0" rIns="0" bIns="0" rtlCol="0" anchor="ctr"/>
          <a:lstStyle/>
          <a:p>
            <a:pPr algn="ctr" indent="0" marL="0">
              <a:buNone/>
            </a:pPr>
            <a:r>
              <a:rPr lang="en-US" sz="1500" dirty="0">
                <a:solidFill>
                  <a:srgbClr val="C5B3DC"/>
                </a:solidFill>
              </a:rPr>
              <a:t>→</a:t>
            </a:r>
            <a:endParaRPr lang="en-US" sz="1500" dirty="0"/>
          </a:p>
        </p:txBody>
      </p:sp>
      <p:sp>
        <p:nvSpPr>
          <p:cNvPr id="24" name="Shape 22"/>
          <p:cNvSpPr/>
          <p:nvPr/>
        </p:nvSpPr>
        <p:spPr>
          <a:xfrm>
            <a:off x="7991856" y="2240280"/>
            <a:ext cx="1783080" cy="1371600"/>
          </a:xfrm>
          <a:prstGeom prst="roundRect">
            <a:avLst>
              <a:gd name="adj" fmla="val 8000"/>
            </a:avLst>
          </a:prstGeom>
          <a:solidFill>
            <a:srgbClr val="F0F8F0"/>
          </a:solidFill>
          <a:ln w="20320">
            <a:solidFill>
              <a:srgbClr val="5A9C5A"/>
            </a:solidFill>
            <a:prstDash val="solid"/>
          </a:ln>
          <a:effectLst>
            <a:outerShdw sx="100000" sy="100000" kx="0" ky="0" algn="bl" rotWithShape="0" blurRad="101600" dist="25400" dir="5400000">
              <a:srgbClr val="C4B5DC">
                <a:alpha val="18000"/>
              </a:srgbClr>
            </a:outerShdw>
          </a:effectLst>
        </p:spPr>
      </p:sp>
      <p:sp>
        <p:nvSpPr>
          <p:cNvPr id="25" name="Text 23"/>
          <p:cNvSpPr/>
          <p:nvPr/>
        </p:nvSpPr>
        <p:spPr>
          <a:xfrm>
            <a:off x="8065008" y="2395728"/>
            <a:ext cx="1636776"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Consolas" pitchFamily="34" charset="0"/>
                <a:ea typeface="Consolas" pitchFamily="34" charset="-122"/>
                <a:cs typeface="Consolas" pitchFamily="34" charset="-120"/>
              </a:rPr>
              <a:t>closed_won</a:t>
            </a:r>
            <a:endParaRPr lang="en-US" sz="1100" dirty="0"/>
          </a:p>
        </p:txBody>
      </p:sp>
      <p:sp>
        <p:nvSpPr>
          <p:cNvPr id="26" name="Text 24"/>
          <p:cNvSpPr/>
          <p:nvPr/>
        </p:nvSpPr>
        <p:spPr>
          <a:xfrm>
            <a:off x="7991856" y="2971800"/>
            <a:ext cx="1783080" cy="457200"/>
          </a:xfrm>
          <a:prstGeom prst="rect">
            <a:avLst/>
          </a:prstGeom>
          <a:noFill/>
          <a:ln/>
        </p:spPr>
        <p:txBody>
          <a:bodyPr wrap="square" lIns="0" tIns="0" rIns="0" bIns="0" rtlCol="0" anchor="ctr"/>
          <a:lstStyle/>
          <a:p>
            <a:pPr algn="ctr" indent="0" marL="0">
              <a:buNone/>
            </a:pPr>
            <a:r>
              <a:rPr lang="en-US" sz="2100" b="1" dirty="0">
                <a:solidFill>
                  <a:srgbClr val="5A9C5A"/>
                </a:solidFill>
                <a:latin typeface="Calibri" pitchFamily="34" charset="0"/>
                <a:ea typeface="Calibri" pitchFamily="34" charset="-122"/>
                <a:cs typeface="Calibri" pitchFamily="34" charset="-120"/>
              </a:rPr>
              <a:t>100%</a:t>
            </a:r>
            <a:endParaRPr lang="en-US" sz="2100" dirty="0"/>
          </a:p>
        </p:txBody>
      </p:sp>
      <p:sp>
        <p:nvSpPr>
          <p:cNvPr id="27" name="Shape 25"/>
          <p:cNvSpPr/>
          <p:nvPr/>
        </p:nvSpPr>
        <p:spPr>
          <a:xfrm>
            <a:off x="9875520" y="2240280"/>
            <a:ext cx="1783080" cy="1371600"/>
          </a:xfrm>
          <a:prstGeom prst="roundRect">
            <a:avLst>
              <a:gd name="adj" fmla="val 8000"/>
            </a:avLst>
          </a:prstGeom>
          <a:solidFill>
            <a:srgbClr val="FBEEEE"/>
          </a:solidFill>
          <a:ln w="20320">
            <a:solidFill>
              <a:srgbClr val="D67373"/>
            </a:solidFill>
            <a:prstDash val="solid"/>
          </a:ln>
          <a:effectLst>
            <a:outerShdw sx="100000" sy="100000" kx="0" ky="0" algn="bl" rotWithShape="0" blurRad="101600" dist="25400" dir="5400000">
              <a:srgbClr val="C4B5DC">
                <a:alpha val="18000"/>
              </a:srgbClr>
            </a:outerShdw>
          </a:effectLst>
        </p:spPr>
      </p:sp>
      <p:sp>
        <p:nvSpPr>
          <p:cNvPr id="28" name="Text 26"/>
          <p:cNvSpPr/>
          <p:nvPr/>
        </p:nvSpPr>
        <p:spPr>
          <a:xfrm>
            <a:off x="9948672" y="2395728"/>
            <a:ext cx="1636776" cy="548640"/>
          </a:xfrm>
          <a:prstGeom prst="rect">
            <a:avLst/>
          </a:prstGeom>
          <a:noFill/>
          <a:ln/>
        </p:spPr>
        <p:txBody>
          <a:bodyPr wrap="square" lIns="0" tIns="0" rIns="0" bIns="0" rtlCol="0" anchor="ctr"/>
          <a:lstStyle/>
          <a:p>
            <a:pPr algn="ctr" indent="0" marL="0">
              <a:buNone/>
            </a:pPr>
            <a:r>
              <a:rPr lang="en-US" sz="1100" b="1" dirty="0">
                <a:solidFill>
                  <a:srgbClr val="2D2D2D"/>
                </a:solidFill>
                <a:latin typeface="Consolas" pitchFamily="34" charset="0"/>
                <a:ea typeface="Consolas" pitchFamily="34" charset="-122"/>
                <a:cs typeface="Consolas" pitchFamily="34" charset="-120"/>
              </a:rPr>
              <a:t>closed_lost</a:t>
            </a:r>
            <a:endParaRPr lang="en-US" sz="1100" dirty="0"/>
          </a:p>
        </p:txBody>
      </p:sp>
      <p:sp>
        <p:nvSpPr>
          <p:cNvPr id="29" name="Text 27"/>
          <p:cNvSpPr/>
          <p:nvPr/>
        </p:nvSpPr>
        <p:spPr>
          <a:xfrm>
            <a:off x="9875520" y="2971800"/>
            <a:ext cx="1783080" cy="457200"/>
          </a:xfrm>
          <a:prstGeom prst="rect">
            <a:avLst/>
          </a:prstGeom>
          <a:noFill/>
          <a:ln/>
        </p:spPr>
        <p:txBody>
          <a:bodyPr wrap="square" lIns="0" tIns="0" rIns="0" bIns="0" rtlCol="0" anchor="ctr"/>
          <a:lstStyle/>
          <a:p>
            <a:pPr algn="ctr" indent="0" marL="0">
              <a:buNone/>
            </a:pPr>
            <a:r>
              <a:rPr lang="en-US" sz="2100" b="1" dirty="0">
                <a:solidFill>
                  <a:srgbClr val="D67373"/>
                </a:solidFill>
                <a:latin typeface="Calibri" pitchFamily="34" charset="0"/>
                <a:ea typeface="Calibri" pitchFamily="34" charset="-122"/>
                <a:cs typeface="Calibri" pitchFamily="34" charset="-120"/>
              </a:rPr>
              <a:t>0%</a:t>
            </a:r>
            <a:endParaRPr lang="en-US" sz="2100" dirty="0"/>
          </a:p>
        </p:txBody>
      </p:sp>
      <p:sp>
        <p:nvSpPr>
          <p:cNvPr id="30" name="Shape 28"/>
          <p:cNvSpPr/>
          <p:nvPr/>
        </p:nvSpPr>
        <p:spPr>
          <a:xfrm>
            <a:off x="457200" y="3840480"/>
            <a:ext cx="5532120" cy="1828800"/>
          </a:xfrm>
          <a:prstGeom prst="roundRect">
            <a:avLst>
              <a:gd name="adj" fmla="val 6000"/>
            </a:avLst>
          </a:prstGeom>
          <a:solidFill>
            <a:srgbClr val="FFFFFF"/>
          </a:solidFill>
          <a:ln w="19050">
            <a:solidFill>
              <a:srgbClr val="6B4E96"/>
            </a:solidFill>
            <a:prstDash val="solid"/>
          </a:ln>
          <a:effectLst>
            <a:outerShdw sx="100000" sy="100000" kx="0" ky="0" algn="bl" rotWithShape="0" blurRad="101600" dist="25400" dir="5400000">
              <a:srgbClr val="C4B5DC">
                <a:alpha val="18000"/>
              </a:srgbClr>
            </a:outerShdw>
          </a:effectLst>
        </p:spPr>
      </p:sp>
      <p:sp>
        <p:nvSpPr>
          <p:cNvPr id="31" name="Text 29"/>
          <p:cNvSpPr/>
          <p:nvPr/>
        </p:nvSpPr>
        <p:spPr>
          <a:xfrm>
            <a:off x="640080" y="4023360"/>
            <a:ext cx="516636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WHY THIS MATTERS</a:t>
            </a:r>
            <a:endParaRPr lang="en-US" sz="1050" dirty="0"/>
          </a:p>
        </p:txBody>
      </p:sp>
      <p:sp>
        <p:nvSpPr>
          <p:cNvPr id="32" name="Text 30"/>
          <p:cNvSpPr/>
          <p:nvPr/>
        </p:nvSpPr>
        <p:spPr>
          <a:xfrm>
            <a:off x="777240" y="4343400"/>
            <a:ext cx="5029200" cy="123444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The kanban board is literally these six columns</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The forecast is amount × probability</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Every report groups by this field</a:t>
            </a:r>
            <a:endParaRPr lang="en-US" sz="1150" dirty="0"/>
          </a:p>
        </p:txBody>
      </p:sp>
      <p:sp>
        <p:nvSpPr>
          <p:cNvPr id="33" name="Shape 31"/>
          <p:cNvSpPr/>
          <p:nvPr/>
        </p:nvSpPr>
        <p:spPr>
          <a:xfrm>
            <a:off x="6172200" y="3840480"/>
            <a:ext cx="5532120" cy="1828800"/>
          </a:xfrm>
          <a:prstGeom prst="roundRect">
            <a:avLst>
              <a:gd name="adj" fmla="val 6000"/>
            </a:avLst>
          </a:prstGeom>
          <a:solidFill>
            <a:srgbClr val="FBEEEE"/>
          </a:solidFill>
          <a:ln w="25400">
            <a:solidFill>
              <a:srgbClr val="D67373"/>
            </a:solidFill>
            <a:prstDash val="solid"/>
          </a:ln>
          <a:effectLst>
            <a:outerShdw sx="100000" sy="100000" kx="0" ky="0" algn="bl" rotWithShape="0" blurRad="101600" dist="25400" dir="5400000">
              <a:srgbClr val="C4B5DC">
                <a:alpha val="18000"/>
              </a:srgbClr>
            </a:outerShdw>
          </a:effectLst>
        </p:spPr>
      </p:sp>
      <p:sp>
        <p:nvSpPr>
          <p:cNvPr id="34" name="Text 32"/>
          <p:cNvSpPr/>
          <p:nvPr/>
        </p:nvSpPr>
        <p:spPr>
          <a:xfrm>
            <a:off x="6355080" y="4023360"/>
            <a:ext cx="5166360" cy="274320"/>
          </a:xfrm>
          <a:prstGeom prst="rect">
            <a:avLst/>
          </a:prstGeom>
          <a:noFill/>
          <a:ln/>
        </p:spPr>
        <p:txBody>
          <a:bodyPr wrap="square" lIns="0" tIns="0" rIns="0" bIns="0" rtlCol="0" anchor="ctr"/>
          <a:lstStyle/>
          <a:p>
            <a:pPr indent="0" marL="0">
              <a:buNone/>
            </a:pPr>
            <a:r>
              <a:rPr lang="en-US" sz="1050" b="1" spc="140" kern="0" dirty="0">
                <a:solidFill>
                  <a:srgbClr val="D67373"/>
                </a:solidFill>
                <a:latin typeface="Calibri" pitchFamily="34" charset="0"/>
                <a:ea typeface="Calibri" pitchFamily="34" charset="-122"/>
                <a:cs typeface="Calibri" pitchFamily="34" charset="-120"/>
              </a:rPr>
              <a:t>AND ONE EXTRA RULE</a:t>
            </a:r>
            <a:endParaRPr lang="en-US" sz="1050" dirty="0"/>
          </a:p>
        </p:txBody>
      </p:sp>
      <p:sp>
        <p:nvSpPr>
          <p:cNvPr id="35" name="Text 33"/>
          <p:cNvSpPr/>
          <p:nvPr/>
        </p:nvSpPr>
        <p:spPr>
          <a:xfrm>
            <a:off x="6355080" y="4343400"/>
            <a:ext cx="5166360" cy="123444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Moving a deal to closed_lost requires a reason.</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Hold on to that rule. You will see it enforced in three different places today — and written exactly once.</a:t>
            </a:r>
            <a:endParaRPr lang="en-US" sz="1200" dirty="0"/>
          </a:p>
        </p:txBody>
      </p:sp>
      <p:sp>
        <p:nvSpPr>
          <p:cNvPr id="36" name="Text 34"/>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37" name="Text 35"/>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8 / 28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B · DATA MODEL</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Seven Tables. That Is the Whole Database.</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Small on purpose — the lesson is the architecture, not the schema.</a:t>
            </a:r>
            <a:endParaRPr lang="en-US" sz="1400" dirty="0"/>
          </a:p>
        </p:txBody>
      </p:sp>
      <p:sp>
        <p:nvSpPr>
          <p:cNvPr id="8" name="Shape 6"/>
          <p:cNvSpPr/>
          <p:nvPr/>
        </p:nvSpPr>
        <p:spPr>
          <a:xfrm>
            <a:off x="457200" y="2103120"/>
            <a:ext cx="6858000" cy="3200400"/>
          </a:xfrm>
          <a:prstGeom prst="roundRect">
            <a:avLst>
              <a:gd name="adj" fmla="val 2286"/>
            </a:avLst>
          </a:prstGeom>
          <a:solidFill>
            <a:srgbClr val="F6F2FB"/>
          </a:solidFill>
          <a:ln w="9525">
            <a:solidFill>
              <a:srgbClr val="C5B3DC"/>
            </a:solidFill>
            <a:prstDash val="solid"/>
          </a:ln>
        </p:spPr>
      </p:sp>
      <p:sp>
        <p:nvSpPr>
          <p:cNvPr id="9" name="Text 7"/>
          <p:cNvSpPr/>
          <p:nvPr/>
        </p:nvSpPr>
        <p:spPr>
          <a:xfrm>
            <a:off x="640080" y="2212848"/>
            <a:ext cx="6492240" cy="2980944"/>
          </a:xfrm>
          <a:prstGeom prst="rect">
            <a:avLst/>
          </a:prstGeom>
          <a:noFill/>
          <a:ln/>
        </p:spPr>
        <p:txBody>
          <a:bodyPr wrap="square" lIns="0" tIns="0" rIns="0" bIns="0" rtlCol="0" anchor="t"/>
          <a:lstStyle/>
          <a:p>
            <a:pPr algn="l" indent="0" marL="0">
              <a:buNone/>
            </a:pPr>
            <a:r>
              <a:rPr lang="en-US" sz="1300" dirty="0">
                <a:solidFill>
                  <a:srgbClr val="2D2D2D"/>
                </a:solidFill>
                <a:latin typeface="Consolas" pitchFamily="34" charset="0"/>
                <a:ea typeface="Consolas" pitchFamily="34" charset="-122"/>
                <a:cs typeface="Consolas" pitchFamily="34" charset="-120"/>
              </a:rPr>
              <a:t>users</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accounts ------&lt; contacts</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                 |</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+------&lt; deals &gt;--+</a:t>
            </a:r>
            <a:endParaRPr lang="en-US" sz="1300" dirty="0"/>
          </a:p>
          <a:p>
            <a:pPr algn="l" indent="0" marL="0">
              <a:buNone/>
            </a:pP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leads  --(convert)--&gt;  account + contact + deal</a:t>
            </a:r>
            <a:endParaRPr lang="en-US" sz="1300" dirty="0"/>
          </a:p>
          <a:p>
            <a:pPr algn="l" indent="0" marL="0">
              <a:buNone/>
            </a:pP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tasks       -&gt;  can attach to any of the four</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activities  -&gt;  can attach to any of the four</a:t>
            </a:r>
            <a:endParaRPr lang="en-US" sz="1300" dirty="0"/>
          </a:p>
        </p:txBody>
      </p:sp>
      <p:sp>
        <p:nvSpPr>
          <p:cNvPr id="10" name="Shape 8"/>
          <p:cNvSpPr/>
          <p:nvPr/>
        </p:nvSpPr>
        <p:spPr>
          <a:xfrm>
            <a:off x="7498080" y="2103120"/>
            <a:ext cx="4206240" cy="3200400"/>
          </a:xfrm>
          <a:prstGeom prst="roundRect">
            <a:avLst>
              <a:gd name="adj" fmla="val 3429"/>
            </a:avLst>
          </a:prstGeom>
          <a:solidFill>
            <a:srgbClr val="FFF4B8"/>
          </a:solidFill>
          <a:ln w="25400">
            <a:solidFill>
              <a:srgbClr val="E5BA1F"/>
            </a:solidFill>
            <a:prstDash val="solid"/>
          </a:ln>
          <a:effectLst>
            <a:outerShdw sx="100000" sy="100000" kx="0" ky="0" algn="bl" rotWithShape="0" blurRad="101600" dist="25400" dir="5400000">
              <a:srgbClr val="C4B5DC">
                <a:alpha val="18000"/>
              </a:srgbClr>
            </a:outerShdw>
          </a:effectLst>
        </p:spPr>
      </p:sp>
      <p:sp>
        <p:nvSpPr>
          <p:cNvPr id="11" name="Text 9"/>
          <p:cNvSpPr/>
          <p:nvPr/>
        </p:nvSpPr>
        <p:spPr>
          <a:xfrm>
            <a:off x="7680960" y="2286000"/>
            <a:ext cx="3840480" cy="274320"/>
          </a:xfrm>
          <a:prstGeom prst="rect">
            <a:avLst/>
          </a:prstGeom>
          <a:noFill/>
          <a:ln/>
        </p:spPr>
        <p:txBody>
          <a:bodyPr wrap="square" lIns="0" tIns="0" rIns="0" bIns="0" rtlCol="0" anchor="ctr"/>
          <a:lstStyle/>
          <a:p>
            <a:pPr indent="0" marL="0">
              <a:buNone/>
            </a:pPr>
            <a:r>
              <a:rPr lang="en-US" sz="1050" b="1" spc="140" kern="0" dirty="0">
                <a:solidFill>
                  <a:srgbClr val="E5BA1F"/>
                </a:solidFill>
                <a:latin typeface="Calibri" pitchFamily="34" charset="0"/>
                <a:ea typeface="Calibri" pitchFamily="34" charset="-122"/>
                <a:cs typeface="Calibri" pitchFamily="34" charset="-120"/>
              </a:rPr>
              <a:t>WATCH THIS ARROW</a:t>
            </a:r>
            <a:endParaRPr lang="en-US" sz="1050" dirty="0"/>
          </a:p>
        </p:txBody>
      </p:sp>
      <p:sp>
        <p:nvSpPr>
          <p:cNvPr id="12" name="Text 10"/>
          <p:cNvSpPr/>
          <p:nvPr/>
        </p:nvSpPr>
        <p:spPr>
          <a:xfrm>
            <a:off x="7680960" y="2651760"/>
            <a:ext cx="3840480" cy="320040"/>
          </a:xfrm>
          <a:prstGeom prst="rect">
            <a:avLst/>
          </a:prstGeom>
          <a:noFill/>
          <a:ln/>
        </p:spPr>
        <p:txBody>
          <a:bodyPr wrap="square" lIns="0" tIns="0" rIns="0" bIns="0" rtlCol="0" anchor="ctr"/>
          <a:lstStyle/>
          <a:p>
            <a:pPr indent="0" marL="0">
              <a:buNone/>
            </a:pPr>
            <a:r>
              <a:rPr lang="en-US" sz="1400" b="1" dirty="0">
                <a:solidFill>
                  <a:srgbClr val="6B4E96"/>
                </a:solidFill>
                <a:latin typeface="Consolas" pitchFamily="34" charset="0"/>
                <a:ea typeface="Consolas" pitchFamily="34" charset="-122"/>
                <a:cs typeface="Consolas" pitchFamily="34" charset="-120"/>
              </a:rPr>
              <a:t>leads --(convert)--&gt;</a:t>
            </a:r>
            <a:endParaRPr lang="en-US" sz="1400" dirty="0"/>
          </a:p>
        </p:txBody>
      </p:sp>
      <p:sp>
        <p:nvSpPr>
          <p:cNvPr id="13" name="Text 11"/>
          <p:cNvSpPr/>
          <p:nvPr/>
        </p:nvSpPr>
        <p:spPr>
          <a:xfrm>
            <a:off x="7680960" y="3063240"/>
            <a:ext cx="3840480" cy="210312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One click that creates three records and updates a fourth.</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It is the most interesting function in the codebase.</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We come back to it twice today — and again in Session 3, when an AI agent triggers it with one sentence.</a:t>
            </a:r>
            <a:endParaRPr lang="en-US" sz="1200" dirty="0"/>
          </a:p>
        </p:txBody>
      </p:sp>
      <p:sp>
        <p:nvSpPr>
          <p:cNvPr id="14" name="Shape 12"/>
          <p:cNvSpPr/>
          <p:nvPr/>
        </p:nvSpPr>
        <p:spPr>
          <a:xfrm>
            <a:off x="457200" y="5532120"/>
            <a:ext cx="11247120" cy="411480"/>
          </a:xfrm>
          <a:prstGeom prst="roundRect">
            <a:avLst>
              <a:gd name="adj" fmla="val 22222"/>
            </a:avLst>
          </a:prstGeom>
          <a:solidFill>
            <a:srgbClr val="FFF4B8"/>
          </a:solidFill>
          <a:ln w="12700">
            <a:solidFill>
              <a:srgbClr val="E5BA1F"/>
            </a:solidFill>
            <a:prstDash val="solid"/>
          </a:ln>
        </p:spPr>
      </p:sp>
      <p:sp>
        <p:nvSpPr>
          <p:cNvPr id="15" name="Text 13"/>
          <p:cNvSpPr/>
          <p:nvPr/>
        </p:nvSpPr>
        <p:spPr>
          <a:xfrm>
            <a:off x="640080" y="5532120"/>
            <a:ext cx="10881360" cy="411480"/>
          </a:xfrm>
          <a:prstGeom prst="rect">
            <a:avLst/>
          </a:prstGeom>
          <a:noFill/>
          <a:ln/>
        </p:spPr>
        <p:txBody>
          <a:bodyPr wrap="square" rtlCol="0" anchor="ctr"/>
          <a:lstStyle/>
          <a:p>
            <a:pPr algn="ctr" indent="0" marL="0">
              <a:buNone/>
            </a:pPr>
            <a:r>
              <a:rPr lang="en-US" sz="1250" i="1" dirty="0">
                <a:solidFill>
                  <a:srgbClr val="2D2D2D"/>
                </a:solidFill>
                <a:latin typeface="Calibri" pitchFamily="34" charset="0"/>
                <a:ea typeface="Calibri" pitchFamily="34" charset="-122"/>
                <a:cs typeface="Calibri" pitchFamily="34" charset="-120"/>
              </a:rPr>
              <a:t>Tasks and activities point at ANY record type. That is why they carry a related_type plus a related_id.</a:t>
            </a:r>
            <a:endParaRPr lang="en-US" sz="1250" dirty="0"/>
          </a:p>
        </p:txBody>
      </p:sp>
      <p:sp>
        <p:nvSpPr>
          <p:cNvPr id="16" name="Text 14"/>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7" name="Text 15"/>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9 / 28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B · CODE TOUR</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Open the Folder. Look at the Sizes.</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The biggest folder is core/. The API is surprisingly small.</a:t>
            </a:r>
            <a:endParaRPr lang="en-US" sz="1400" dirty="0"/>
          </a:p>
        </p:txBody>
      </p:sp>
      <p:sp>
        <p:nvSpPr>
          <p:cNvPr id="8" name="Shape 6"/>
          <p:cNvSpPr/>
          <p:nvPr/>
        </p:nvSpPr>
        <p:spPr>
          <a:xfrm>
            <a:off x="457200" y="2103120"/>
            <a:ext cx="6858000" cy="3657600"/>
          </a:xfrm>
          <a:prstGeom prst="roundRect">
            <a:avLst>
              <a:gd name="adj" fmla="val 2000"/>
            </a:avLst>
          </a:prstGeom>
          <a:solidFill>
            <a:srgbClr val="F6F2FB"/>
          </a:solidFill>
          <a:ln w="9525">
            <a:solidFill>
              <a:srgbClr val="C5B3DC"/>
            </a:solidFill>
            <a:prstDash val="solid"/>
          </a:ln>
        </p:spPr>
      </p:sp>
      <p:sp>
        <p:nvSpPr>
          <p:cNvPr id="9" name="Text 7"/>
          <p:cNvSpPr/>
          <p:nvPr/>
        </p:nvSpPr>
        <p:spPr>
          <a:xfrm>
            <a:off x="640080" y="2212848"/>
            <a:ext cx="6492240" cy="3438144"/>
          </a:xfrm>
          <a:prstGeom prst="rect">
            <a:avLst/>
          </a:prstGeom>
          <a:noFill/>
          <a:ln/>
        </p:spPr>
        <p:txBody>
          <a:bodyPr wrap="square" lIns="0" tIns="0" rIns="0" bIns="0" rtlCol="0" anchor="t"/>
          <a:lstStyle/>
          <a:p>
            <a:pPr algn="l" indent="0" marL="0">
              <a:buNone/>
            </a:pPr>
            <a:r>
              <a:rPr lang="en-US" sz="1200" dirty="0">
                <a:solidFill>
                  <a:srgbClr val="2D2D2D"/>
                </a:solidFill>
                <a:latin typeface="Consolas" pitchFamily="34" charset="0"/>
                <a:ea typeface="Consolas" pitchFamily="34" charset="-122"/>
                <a:cs typeface="Consolas" pitchFamily="34" charset="-120"/>
              </a:rPr>
              <a:t>minicrm/</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core/          &lt;- ALL the business logic. One copy.</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 models.py      the contract: what a valid record is</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 db.py          SQLite tables</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 errors.py      structured errors</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 accounts.py  contacts.py  leads.py</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 deals.py     tasks.py     activities.py</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 analytics.py   dashboard numbers</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web/           &lt;- ADAPTER 1: REST API + browser UI</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cli.py         &lt;- ADAPTER 2: terminal</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seed.py           demo data</a:t>
            </a:r>
            <a:endParaRPr lang="en-US" sz="1200" dirty="0"/>
          </a:p>
        </p:txBody>
      </p:sp>
      <p:sp>
        <p:nvSpPr>
          <p:cNvPr id="10" name="Shape 8"/>
          <p:cNvSpPr/>
          <p:nvPr/>
        </p:nvSpPr>
        <p:spPr>
          <a:xfrm>
            <a:off x="7498080" y="2103120"/>
            <a:ext cx="4206240" cy="3657600"/>
          </a:xfrm>
          <a:prstGeom prst="roundRect">
            <a:avLst>
              <a:gd name="adj" fmla="val 3000"/>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1" name="Text 9"/>
          <p:cNvSpPr/>
          <p:nvPr/>
        </p:nvSpPr>
        <p:spPr>
          <a:xfrm>
            <a:off x="7680960" y="2286000"/>
            <a:ext cx="384048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ASK THE ROOM</a:t>
            </a:r>
            <a:endParaRPr lang="en-US" sz="1050" dirty="0"/>
          </a:p>
        </p:txBody>
      </p:sp>
      <p:sp>
        <p:nvSpPr>
          <p:cNvPr id="12" name="Text 10"/>
          <p:cNvSpPr/>
          <p:nvPr/>
        </p:nvSpPr>
        <p:spPr>
          <a:xfrm>
            <a:off x="7680960" y="2651760"/>
            <a:ext cx="3840480" cy="822960"/>
          </a:xfrm>
          <a:prstGeom prst="rect">
            <a:avLst/>
          </a:prstGeom>
          <a:noFill/>
          <a:ln/>
        </p:spPr>
        <p:txBody>
          <a:bodyPr wrap="square" lIns="0" tIns="0" rIns="0" bIns="0" rtlCol="0" anchor="ctr"/>
          <a:lstStyle/>
          <a:p>
            <a:pPr indent="0" marL="0">
              <a:buNone/>
            </a:pPr>
            <a:r>
              <a:rPr lang="en-US" sz="1500" b="1" dirty="0">
                <a:solidFill>
                  <a:srgbClr val="2D2D2D"/>
                </a:solidFill>
                <a:latin typeface="Calibri" pitchFamily="34" charset="0"/>
                <a:ea typeface="Calibri" pitchFamily="34" charset="-122"/>
                <a:cs typeface="Calibri" pitchFamily="34" charset="-120"/>
              </a:rPr>
              <a:t>"If I delete the web/ folder,</a:t>
            </a:r>
            <a:endParaRPr lang="en-US" sz="1500" dirty="0"/>
          </a:p>
          <a:p>
            <a:pPr indent="0" marL="0">
              <a:buNone/>
            </a:pPr>
            <a:r>
              <a:rPr lang="en-US" sz="1500" b="1" dirty="0">
                <a:solidFill>
                  <a:srgbClr val="2D2D2D"/>
                </a:solidFill>
                <a:latin typeface="Calibri" pitchFamily="34" charset="0"/>
                <a:ea typeface="Calibri" pitchFamily="34" charset="-122"/>
                <a:cs typeface="Calibri" pitchFamily="34" charset="-120"/>
              </a:rPr>
              <a:t>does the CRM still work?"</a:t>
            </a:r>
            <a:endParaRPr lang="en-US" sz="1500" dirty="0"/>
          </a:p>
        </p:txBody>
      </p:sp>
      <p:sp>
        <p:nvSpPr>
          <p:cNvPr id="13" name="Text 11"/>
          <p:cNvSpPr/>
          <p:nvPr/>
        </p:nvSpPr>
        <p:spPr>
          <a:xfrm>
            <a:off x="7680960" y="3474720"/>
            <a:ext cx="3840480" cy="274320"/>
          </a:xfrm>
          <a:prstGeom prst="rect">
            <a:avLst/>
          </a:prstGeom>
          <a:noFill/>
          <a:ln/>
        </p:spPr>
        <p:txBody>
          <a:bodyPr wrap="square" lIns="0" tIns="0" rIns="0" bIns="0" rtlCol="0" anchor="ctr"/>
          <a:lstStyle/>
          <a:p>
            <a:pPr indent="0" marL="0">
              <a:buNone/>
            </a:pPr>
            <a:r>
              <a:rPr lang="en-US" sz="1100" i="1" dirty="0">
                <a:solidFill>
                  <a:srgbClr val="8A8A8A"/>
                </a:solidFill>
                <a:latin typeface="Calibri" pitchFamily="34" charset="0"/>
                <a:ea typeface="Calibri" pitchFamily="34" charset="-122"/>
                <a:cs typeface="Calibri" pitchFamily="34" charset="-120"/>
              </a:rPr>
              <a:t>Let them argue for 30 seconds.</a:t>
            </a:r>
            <a:endParaRPr lang="en-US" sz="1100" dirty="0"/>
          </a:p>
        </p:txBody>
      </p:sp>
      <p:sp>
        <p:nvSpPr>
          <p:cNvPr id="14" name="Shape 12"/>
          <p:cNvSpPr/>
          <p:nvPr/>
        </p:nvSpPr>
        <p:spPr>
          <a:xfrm>
            <a:off x="7680960" y="3840480"/>
            <a:ext cx="1371600" cy="365760"/>
          </a:xfrm>
          <a:prstGeom prst="roundRect">
            <a:avLst>
              <a:gd name="adj" fmla="val 30000"/>
            </a:avLst>
          </a:prstGeom>
          <a:solidFill>
            <a:srgbClr val="F0F8F0"/>
          </a:solidFill>
          <a:ln w="19050">
            <a:solidFill>
              <a:srgbClr val="5A9C5A"/>
            </a:solidFill>
            <a:prstDash val="solid"/>
          </a:ln>
        </p:spPr>
      </p:sp>
      <p:sp>
        <p:nvSpPr>
          <p:cNvPr id="15" name="Text 13"/>
          <p:cNvSpPr/>
          <p:nvPr/>
        </p:nvSpPr>
        <p:spPr>
          <a:xfrm>
            <a:off x="7680960" y="3840480"/>
            <a:ext cx="1371600" cy="365760"/>
          </a:xfrm>
          <a:prstGeom prst="rect">
            <a:avLst/>
          </a:prstGeom>
          <a:noFill/>
          <a:ln/>
        </p:spPr>
        <p:txBody>
          <a:bodyPr wrap="square" lIns="0" tIns="0" rIns="0" bIns="0" rtlCol="0" anchor="ctr"/>
          <a:lstStyle/>
          <a:p>
            <a:pPr algn="ctr" indent="0" marL="0">
              <a:buNone/>
            </a:pPr>
            <a:r>
              <a:rPr lang="en-US" sz="1200" b="1" dirty="0">
                <a:solidFill>
                  <a:srgbClr val="5A9C5A"/>
                </a:solidFill>
                <a:latin typeface="Calibri" pitchFamily="34" charset="0"/>
                <a:ea typeface="Calibri" pitchFamily="34" charset="-122"/>
                <a:cs typeface="Calibri" pitchFamily="34" charset="-120"/>
              </a:rPr>
              <a:t>✓  YES</a:t>
            </a:r>
            <a:endParaRPr lang="en-US" sz="1200" dirty="0"/>
          </a:p>
        </p:txBody>
      </p:sp>
      <p:sp>
        <p:nvSpPr>
          <p:cNvPr id="16" name="Text 14"/>
          <p:cNvSpPr/>
          <p:nvPr/>
        </p:nvSpPr>
        <p:spPr>
          <a:xfrm>
            <a:off x="7680960" y="4343400"/>
            <a:ext cx="3840480" cy="12801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The capability survives.</a:t>
            </a: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Only one door closes.</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That is the whole test of whether your architecture is right.</a:t>
            </a:r>
            <a:endParaRPr lang="en-US" sz="1200" dirty="0"/>
          </a:p>
        </p:txBody>
      </p:sp>
      <p:sp>
        <p:nvSpPr>
          <p:cNvPr id="17" name="Text 15"/>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8" name="Text 16"/>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10 / 28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B · THE RULE</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What an Adapter Is Allowed to Do</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Recite this tomorrow morning. It is the whole course in three lines.</a:t>
            </a:r>
            <a:endParaRPr lang="en-US" sz="1400" dirty="0"/>
          </a:p>
        </p:txBody>
      </p:sp>
      <p:sp>
        <p:nvSpPr>
          <p:cNvPr id="8" name="Shape 6"/>
          <p:cNvSpPr/>
          <p:nvPr/>
        </p:nvSpPr>
        <p:spPr>
          <a:xfrm>
            <a:off x="457200" y="2148840"/>
            <a:ext cx="3703320" cy="2194560"/>
          </a:xfrm>
          <a:prstGeom prst="roundRect">
            <a:avLst>
              <a:gd name="adj" fmla="val 5000"/>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9" name="Shape 7"/>
          <p:cNvSpPr/>
          <p:nvPr/>
        </p:nvSpPr>
        <p:spPr>
          <a:xfrm>
            <a:off x="685800" y="2331720"/>
            <a:ext cx="502920" cy="502920"/>
          </a:xfrm>
          <a:prstGeom prst="ellipse">
            <a:avLst/>
          </a:prstGeom>
          <a:solidFill>
            <a:srgbClr val="FFD93D"/>
          </a:solidFill>
          <a:ln w="12700">
            <a:solidFill>
              <a:srgbClr val="E5BA1F"/>
            </a:solidFill>
            <a:prstDash val="solid"/>
          </a:ln>
        </p:spPr>
      </p:sp>
      <p:sp>
        <p:nvSpPr>
          <p:cNvPr id="10" name="Text 8"/>
          <p:cNvSpPr/>
          <p:nvPr/>
        </p:nvSpPr>
        <p:spPr>
          <a:xfrm>
            <a:off x="685800" y="2331720"/>
            <a:ext cx="502920" cy="502920"/>
          </a:xfrm>
          <a:prstGeom prst="rect">
            <a:avLst/>
          </a:prstGeom>
          <a:noFill/>
          <a:ln/>
        </p:spPr>
        <p:txBody>
          <a:bodyPr wrap="square" lIns="0" tIns="0" rIns="0" bIns="0" rtlCol="0" anchor="ctr"/>
          <a:lstStyle/>
          <a:p>
            <a:pPr algn="ctr" indent="0" marL="0">
              <a:buNone/>
            </a:pPr>
            <a:r>
              <a:rPr lang="en-US" sz="2000" b="1" dirty="0">
                <a:solidFill>
                  <a:srgbClr val="2D2D2D"/>
                </a:solidFill>
                <a:latin typeface="Calibri" pitchFamily="34" charset="0"/>
                <a:ea typeface="Calibri" pitchFamily="34" charset="-122"/>
                <a:cs typeface="Calibri" pitchFamily="34" charset="-120"/>
              </a:rPr>
              <a:t>1</a:t>
            </a:r>
            <a:endParaRPr lang="en-US" sz="2000" dirty="0"/>
          </a:p>
        </p:txBody>
      </p:sp>
      <p:sp>
        <p:nvSpPr>
          <p:cNvPr id="11" name="Text 9"/>
          <p:cNvSpPr/>
          <p:nvPr/>
        </p:nvSpPr>
        <p:spPr>
          <a:xfrm>
            <a:off x="1325880" y="2377440"/>
            <a:ext cx="2606040" cy="411480"/>
          </a:xfrm>
          <a:prstGeom prst="rect">
            <a:avLst/>
          </a:prstGeom>
          <a:noFill/>
          <a:ln/>
        </p:spPr>
        <p:txBody>
          <a:bodyPr wrap="square" lIns="0" tIns="0" rIns="0" bIns="0" rtlCol="0" anchor="ctr"/>
          <a:lstStyle/>
          <a:p>
            <a:pPr indent="0" marL="0">
              <a:buNone/>
            </a:pPr>
            <a:r>
              <a:rPr lang="en-US" sz="1900" b="1" spc="100" kern="0" dirty="0">
                <a:solidFill>
                  <a:srgbClr val="6B4E96"/>
                </a:solidFill>
                <a:latin typeface="Calibri" pitchFamily="34" charset="0"/>
                <a:ea typeface="Calibri" pitchFamily="34" charset="-122"/>
                <a:cs typeface="Calibri" pitchFamily="34" charset="-120"/>
              </a:rPr>
              <a:t>READ</a:t>
            </a:r>
            <a:endParaRPr lang="en-US" sz="1900" dirty="0"/>
          </a:p>
        </p:txBody>
      </p:sp>
      <p:sp>
        <p:nvSpPr>
          <p:cNvPr id="12" name="Text 10"/>
          <p:cNvSpPr/>
          <p:nvPr/>
        </p:nvSpPr>
        <p:spPr>
          <a:xfrm>
            <a:off x="731520" y="2971800"/>
            <a:ext cx="3154680" cy="1234440"/>
          </a:xfrm>
          <a:prstGeom prst="rect">
            <a:avLst/>
          </a:prstGeom>
          <a:noFill/>
          <a:ln/>
        </p:spPr>
        <p:txBody>
          <a:bodyPr wrap="square" lIns="0" tIns="0" rIns="0" bIns="0" rtlCol="0" anchor="ctr"/>
          <a:lstStyle/>
          <a:p>
            <a:pPr indent="0" marL="0">
              <a:buNone/>
            </a:pPr>
            <a:r>
              <a:rPr lang="en-US" sz="1250" dirty="0">
                <a:solidFill>
                  <a:srgbClr val="2D2D2D"/>
                </a:solidFill>
                <a:latin typeface="Calibri" pitchFamily="34" charset="0"/>
                <a:ea typeface="Calibri" pitchFamily="34" charset="-122"/>
                <a:cs typeface="Calibri" pitchFamily="34" charset="-120"/>
              </a:rPr>
              <a:t>Take what the user sent.</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A form post, a CLI flag,</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a tool call from an agent.</a:t>
            </a:r>
            <a:endParaRPr lang="en-US" sz="1250" dirty="0"/>
          </a:p>
        </p:txBody>
      </p:sp>
      <p:sp>
        <p:nvSpPr>
          <p:cNvPr id="13" name="Shape 11"/>
          <p:cNvSpPr/>
          <p:nvPr/>
        </p:nvSpPr>
        <p:spPr>
          <a:xfrm>
            <a:off x="4325112" y="2148840"/>
            <a:ext cx="3703320" cy="2194560"/>
          </a:xfrm>
          <a:prstGeom prst="roundRect">
            <a:avLst>
              <a:gd name="adj" fmla="val 5000"/>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4" name="Shape 12"/>
          <p:cNvSpPr/>
          <p:nvPr/>
        </p:nvSpPr>
        <p:spPr>
          <a:xfrm>
            <a:off x="4553712" y="2331720"/>
            <a:ext cx="502920" cy="502920"/>
          </a:xfrm>
          <a:prstGeom prst="ellipse">
            <a:avLst/>
          </a:prstGeom>
          <a:solidFill>
            <a:srgbClr val="FFD93D"/>
          </a:solidFill>
          <a:ln w="12700">
            <a:solidFill>
              <a:srgbClr val="E5BA1F"/>
            </a:solidFill>
            <a:prstDash val="solid"/>
          </a:ln>
        </p:spPr>
      </p:sp>
      <p:sp>
        <p:nvSpPr>
          <p:cNvPr id="15" name="Text 13"/>
          <p:cNvSpPr/>
          <p:nvPr/>
        </p:nvSpPr>
        <p:spPr>
          <a:xfrm>
            <a:off x="4553712" y="2331720"/>
            <a:ext cx="502920" cy="502920"/>
          </a:xfrm>
          <a:prstGeom prst="rect">
            <a:avLst/>
          </a:prstGeom>
          <a:noFill/>
          <a:ln/>
        </p:spPr>
        <p:txBody>
          <a:bodyPr wrap="square" lIns="0" tIns="0" rIns="0" bIns="0" rtlCol="0" anchor="ctr"/>
          <a:lstStyle/>
          <a:p>
            <a:pPr algn="ctr" indent="0" marL="0">
              <a:buNone/>
            </a:pPr>
            <a:r>
              <a:rPr lang="en-US" sz="2000" b="1" dirty="0">
                <a:solidFill>
                  <a:srgbClr val="2D2D2D"/>
                </a:solidFill>
                <a:latin typeface="Calibri" pitchFamily="34" charset="0"/>
                <a:ea typeface="Calibri" pitchFamily="34" charset="-122"/>
                <a:cs typeface="Calibri" pitchFamily="34" charset="-120"/>
              </a:rPr>
              <a:t>2</a:t>
            </a:r>
            <a:endParaRPr lang="en-US" sz="2000" dirty="0"/>
          </a:p>
        </p:txBody>
      </p:sp>
      <p:sp>
        <p:nvSpPr>
          <p:cNvPr id="16" name="Text 14"/>
          <p:cNvSpPr/>
          <p:nvPr/>
        </p:nvSpPr>
        <p:spPr>
          <a:xfrm>
            <a:off x="5193792" y="2377440"/>
            <a:ext cx="2606040" cy="411480"/>
          </a:xfrm>
          <a:prstGeom prst="rect">
            <a:avLst/>
          </a:prstGeom>
          <a:noFill/>
          <a:ln/>
        </p:spPr>
        <p:txBody>
          <a:bodyPr wrap="square" lIns="0" tIns="0" rIns="0" bIns="0" rtlCol="0" anchor="ctr"/>
          <a:lstStyle/>
          <a:p>
            <a:pPr indent="0" marL="0">
              <a:buNone/>
            </a:pPr>
            <a:r>
              <a:rPr lang="en-US" sz="1900" b="1" spc="100" kern="0" dirty="0">
                <a:solidFill>
                  <a:srgbClr val="6B4E96"/>
                </a:solidFill>
                <a:latin typeface="Calibri" pitchFamily="34" charset="0"/>
                <a:ea typeface="Calibri" pitchFamily="34" charset="-122"/>
                <a:cs typeface="Calibri" pitchFamily="34" charset="-120"/>
              </a:rPr>
              <a:t>CALL</a:t>
            </a:r>
            <a:endParaRPr lang="en-US" sz="1900" dirty="0"/>
          </a:p>
        </p:txBody>
      </p:sp>
      <p:sp>
        <p:nvSpPr>
          <p:cNvPr id="17" name="Text 15"/>
          <p:cNvSpPr/>
          <p:nvPr/>
        </p:nvSpPr>
        <p:spPr>
          <a:xfrm>
            <a:off x="4599432" y="2971800"/>
            <a:ext cx="3154680" cy="1234440"/>
          </a:xfrm>
          <a:prstGeom prst="rect">
            <a:avLst/>
          </a:prstGeom>
          <a:noFill/>
          <a:ln/>
        </p:spPr>
        <p:txBody>
          <a:bodyPr wrap="square" lIns="0" tIns="0" rIns="0" bIns="0" rtlCol="0" anchor="ctr"/>
          <a:lstStyle/>
          <a:p>
            <a:pPr indent="0" marL="0">
              <a:buNone/>
            </a:pPr>
            <a:r>
              <a:rPr lang="en-US" sz="1250" dirty="0">
                <a:solidFill>
                  <a:srgbClr val="2D2D2D"/>
                </a:solidFill>
                <a:latin typeface="Calibri" pitchFamily="34" charset="0"/>
                <a:ea typeface="Calibri" pitchFamily="34" charset="-122"/>
                <a:cs typeface="Calibri" pitchFamily="34" charset="-120"/>
              </a:rPr>
              <a:t>Call exactly ONE function</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in core/.</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Not two. Not a chain.</a:t>
            </a:r>
            <a:endParaRPr lang="en-US" sz="1250" dirty="0"/>
          </a:p>
        </p:txBody>
      </p:sp>
      <p:sp>
        <p:nvSpPr>
          <p:cNvPr id="18" name="Shape 16"/>
          <p:cNvSpPr/>
          <p:nvPr/>
        </p:nvSpPr>
        <p:spPr>
          <a:xfrm>
            <a:off x="8193024" y="2148840"/>
            <a:ext cx="3703320" cy="2194560"/>
          </a:xfrm>
          <a:prstGeom prst="roundRect">
            <a:avLst>
              <a:gd name="adj" fmla="val 5000"/>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9" name="Shape 17"/>
          <p:cNvSpPr/>
          <p:nvPr/>
        </p:nvSpPr>
        <p:spPr>
          <a:xfrm>
            <a:off x="8421624" y="2331720"/>
            <a:ext cx="502920" cy="502920"/>
          </a:xfrm>
          <a:prstGeom prst="ellipse">
            <a:avLst/>
          </a:prstGeom>
          <a:solidFill>
            <a:srgbClr val="FFD93D"/>
          </a:solidFill>
          <a:ln w="12700">
            <a:solidFill>
              <a:srgbClr val="E5BA1F"/>
            </a:solidFill>
            <a:prstDash val="solid"/>
          </a:ln>
        </p:spPr>
      </p:sp>
      <p:sp>
        <p:nvSpPr>
          <p:cNvPr id="20" name="Text 18"/>
          <p:cNvSpPr/>
          <p:nvPr/>
        </p:nvSpPr>
        <p:spPr>
          <a:xfrm>
            <a:off x="8421624" y="2331720"/>
            <a:ext cx="502920" cy="502920"/>
          </a:xfrm>
          <a:prstGeom prst="rect">
            <a:avLst/>
          </a:prstGeom>
          <a:noFill/>
          <a:ln/>
        </p:spPr>
        <p:txBody>
          <a:bodyPr wrap="square" lIns="0" tIns="0" rIns="0" bIns="0" rtlCol="0" anchor="ctr"/>
          <a:lstStyle/>
          <a:p>
            <a:pPr algn="ctr" indent="0" marL="0">
              <a:buNone/>
            </a:pPr>
            <a:r>
              <a:rPr lang="en-US" sz="2000" b="1" dirty="0">
                <a:solidFill>
                  <a:srgbClr val="2D2D2D"/>
                </a:solidFill>
                <a:latin typeface="Calibri" pitchFamily="34" charset="0"/>
                <a:ea typeface="Calibri" pitchFamily="34" charset="-122"/>
                <a:cs typeface="Calibri" pitchFamily="34" charset="-120"/>
              </a:rPr>
              <a:t>3</a:t>
            </a:r>
            <a:endParaRPr lang="en-US" sz="2000" dirty="0"/>
          </a:p>
        </p:txBody>
      </p:sp>
      <p:sp>
        <p:nvSpPr>
          <p:cNvPr id="21" name="Text 19"/>
          <p:cNvSpPr/>
          <p:nvPr/>
        </p:nvSpPr>
        <p:spPr>
          <a:xfrm>
            <a:off x="9061704" y="2377440"/>
            <a:ext cx="2606040" cy="411480"/>
          </a:xfrm>
          <a:prstGeom prst="rect">
            <a:avLst/>
          </a:prstGeom>
          <a:noFill/>
          <a:ln/>
        </p:spPr>
        <p:txBody>
          <a:bodyPr wrap="square" lIns="0" tIns="0" rIns="0" bIns="0" rtlCol="0" anchor="ctr"/>
          <a:lstStyle/>
          <a:p>
            <a:pPr indent="0" marL="0">
              <a:buNone/>
            </a:pPr>
            <a:r>
              <a:rPr lang="en-US" sz="1900" b="1" spc="100" kern="0" dirty="0">
                <a:solidFill>
                  <a:srgbClr val="6B4E96"/>
                </a:solidFill>
                <a:latin typeface="Calibri" pitchFamily="34" charset="0"/>
                <a:ea typeface="Calibri" pitchFamily="34" charset="-122"/>
                <a:cs typeface="Calibri" pitchFamily="34" charset="-120"/>
              </a:rPr>
              <a:t>RETURN</a:t>
            </a:r>
            <a:endParaRPr lang="en-US" sz="1900" dirty="0"/>
          </a:p>
        </p:txBody>
      </p:sp>
      <p:sp>
        <p:nvSpPr>
          <p:cNvPr id="22" name="Text 20"/>
          <p:cNvSpPr/>
          <p:nvPr/>
        </p:nvSpPr>
        <p:spPr>
          <a:xfrm>
            <a:off x="8467344" y="2971800"/>
            <a:ext cx="3154680" cy="1234440"/>
          </a:xfrm>
          <a:prstGeom prst="rect">
            <a:avLst/>
          </a:prstGeom>
          <a:noFill/>
          <a:ln/>
        </p:spPr>
        <p:txBody>
          <a:bodyPr wrap="square" lIns="0" tIns="0" rIns="0" bIns="0" rtlCol="0" anchor="ctr"/>
          <a:lstStyle/>
          <a:p>
            <a:pPr indent="0" marL="0">
              <a:buNone/>
            </a:pPr>
            <a:r>
              <a:rPr lang="en-US" sz="1250" dirty="0">
                <a:solidFill>
                  <a:srgbClr val="2D2D2D"/>
                </a:solidFill>
                <a:latin typeface="Calibri" pitchFamily="34" charset="0"/>
                <a:ea typeface="Calibri" pitchFamily="34" charset="-122"/>
                <a:cs typeface="Calibri" pitchFamily="34" charset="-120"/>
              </a:rPr>
              <a:t>Print it, render it,</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or hand it back as JSON.</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No decisions here.</a:t>
            </a:r>
            <a:endParaRPr lang="en-US" sz="1250" dirty="0"/>
          </a:p>
        </p:txBody>
      </p:sp>
      <p:sp>
        <p:nvSpPr>
          <p:cNvPr id="23" name="Shape 21"/>
          <p:cNvSpPr/>
          <p:nvPr/>
        </p:nvSpPr>
        <p:spPr>
          <a:xfrm>
            <a:off x="457200" y="4572000"/>
            <a:ext cx="11247120" cy="1417320"/>
          </a:xfrm>
          <a:prstGeom prst="roundRect">
            <a:avLst>
              <a:gd name="adj" fmla="val 7742"/>
            </a:avLst>
          </a:prstGeom>
          <a:solidFill>
            <a:srgbClr val="FBEEEE"/>
          </a:solidFill>
          <a:ln w="25400">
            <a:solidFill>
              <a:srgbClr val="D67373"/>
            </a:solidFill>
            <a:prstDash val="solid"/>
          </a:ln>
          <a:effectLst>
            <a:outerShdw sx="100000" sy="100000" kx="0" ky="0" algn="bl" rotWithShape="0" blurRad="101600" dist="25400" dir="5400000">
              <a:srgbClr val="C4B5DC">
                <a:alpha val="18000"/>
              </a:srgbClr>
            </a:outerShdw>
          </a:effectLst>
        </p:spPr>
      </p:sp>
      <p:sp>
        <p:nvSpPr>
          <p:cNvPr id="24" name="Text 22"/>
          <p:cNvSpPr/>
          <p:nvPr/>
        </p:nvSpPr>
        <p:spPr>
          <a:xfrm>
            <a:off x="640080" y="4709160"/>
            <a:ext cx="10881360" cy="274320"/>
          </a:xfrm>
          <a:prstGeom prst="rect">
            <a:avLst/>
          </a:prstGeom>
          <a:noFill/>
          <a:ln/>
        </p:spPr>
        <p:txBody>
          <a:bodyPr wrap="square" lIns="0" tIns="0" rIns="0" bIns="0" rtlCol="0" anchor="ctr"/>
          <a:lstStyle/>
          <a:p>
            <a:pPr indent="0" marL="0">
              <a:buNone/>
            </a:pPr>
            <a:r>
              <a:rPr lang="en-US" sz="1050" b="1" spc="140" kern="0" dirty="0">
                <a:solidFill>
                  <a:srgbClr val="D67373"/>
                </a:solidFill>
                <a:latin typeface="Calibri" pitchFamily="34" charset="0"/>
                <a:ea typeface="Calibri" pitchFamily="34" charset="-122"/>
                <a:cs typeface="Calibri" pitchFamily="34" charset="-120"/>
              </a:rPr>
              <a:t>THE COUNTER-EXAMPLE — SAY THIS OUT LOUD</a:t>
            </a:r>
            <a:endParaRPr lang="en-US" sz="1050" dirty="0"/>
          </a:p>
        </p:txBody>
      </p:sp>
      <p:sp>
        <p:nvSpPr>
          <p:cNvPr id="25" name="Text 23"/>
          <p:cNvSpPr/>
          <p:nvPr/>
        </p:nvSpPr>
        <p:spPr>
          <a:xfrm>
            <a:off x="640080" y="5029200"/>
            <a:ext cx="10881360" cy="822960"/>
          </a:xfrm>
          <a:prstGeom prst="rect">
            <a:avLst/>
          </a:prstGeom>
          <a:noFill/>
          <a:ln/>
        </p:spPr>
        <p:txBody>
          <a:bodyPr wrap="square" lIns="0" tIns="0" rIns="0" bIns="0" rtlCol="0" anchor="ctr"/>
          <a:lstStyle/>
          <a:p>
            <a:pPr indent="0" marL="0">
              <a:buNone/>
            </a:pPr>
            <a:r>
              <a:rPr lang="en-US" sz="1300" dirty="0">
                <a:solidFill>
                  <a:srgbClr val="2D2D2D"/>
                </a:solidFill>
                <a:latin typeface="Calibri" pitchFamily="34" charset="0"/>
                <a:ea typeface="Calibri" pitchFamily="34" charset="-122"/>
                <a:cs typeface="Calibri" pitchFamily="34" charset="-120"/>
              </a:rPr>
              <a:t>If you catch yourself writing  if stage == "closed_lost": require a reason  inside a web route — stop.</a:t>
            </a:r>
            <a:endParaRPr lang="en-US" sz="1300" dirty="0"/>
          </a:p>
          <a:p>
            <a:pPr indent="0" marL="0">
              <a:buNone/>
            </a:pPr>
            <a:r>
              <a:rPr lang="en-US" sz="1300" dirty="0">
                <a:solidFill>
                  <a:srgbClr val="2D2D2D"/>
                </a:solidFill>
                <a:latin typeface="Calibri" pitchFamily="34" charset="0"/>
                <a:ea typeface="Calibri" pitchFamily="34" charset="-122"/>
                <a:cs typeface="Calibri" pitchFamily="34" charset="-120"/>
              </a:rPr>
              <a:t>That rule belongs in the core, because the CLI needs it too, and next week the MCP server will need it as well.</a:t>
            </a:r>
            <a:endParaRPr lang="en-US" sz="1300" dirty="0"/>
          </a:p>
        </p:txBody>
      </p:sp>
      <p:sp>
        <p:nvSpPr>
          <p:cNvPr id="26" name="Text 24"/>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27" name="Text 25"/>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11 / 28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B · PROOF</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Proof: Look at One Route</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This is the entire API endpoint for moving a deal.</a:t>
            </a:r>
            <a:endParaRPr lang="en-US" sz="1400" dirty="0"/>
          </a:p>
        </p:txBody>
      </p:sp>
      <p:sp>
        <p:nvSpPr>
          <p:cNvPr id="8" name="Text 6"/>
          <p:cNvSpPr/>
          <p:nvPr/>
        </p:nvSpPr>
        <p:spPr>
          <a:xfrm>
            <a:off x="457200" y="2057400"/>
            <a:ext cx="1124712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web/app.py  —  THE ADAPTER</a:t>
            </a:r>
            <a:endParaRPr lang="en-US" sz="1050" dirty="0"/>
          </a:p>
        </p:txBody>
      </p:sp>
      <p:sp>
        <p:nvSpPr>
          <p:cNvPr id="9" name="Shape 7"/>
          <p:cNvSpPr/>
          <p:nvPr/>
        </p:nvSpPr>
        <p:spPr>
          <a:xfrm>
            <a:off x="457200" y="2377440"/>
            <a:ext cx="11247120" cy="1234440"/>
          </a:xfrm>
          <a:prstGeom prst="roundRect">
            <a:avLst>
              <a:gd name="adj" fmla="val 5926"/>
            </a:avLst>
          </a:prstGeom>
          <a:solidFill>
            <a:srgbClr val="F6F2FB"/>
          </a:solidFill>
          <a:ln w="9525">
            <a:solidFill>
              <a:srgbClr val="C5B3DC"/>
            </a:solidFill>
            <a:prstDash val="solid"/>
          </a:ln>
        </p:spPr>
      </p:sp>
      <p:sp>
        <p:nvSpPr>
          <p:cNvPr id="10" name="Text 8"/>
          <p:cNvSpPr/>
          <p:nvPr/>
        </p:nvSpPr>
        <p:spPr>
          <a:xfrm>
            <a:off x="640080" y="2487168"/>
            <a:ext cx="10881360" cy="1014984"/>
          </a:xfrm>
          <a:prstGeom prst="rect">
            <a:avLst/>
          </a:prstGeom>
          <a:noFill/>
          <a:ln/>
        </p:spPr>
        <p:txBody>
          <a:bodyPr wrap="square" lIns="0" tIns="0" rIns="0" bIns="0" rtlCol="0" anchor="t"/>
          <a:lstStyle/>
          <a:p>
            <a:pPr algn="l" indent="0" marL="0">
              <a:buNone/>
            </a:pPr>
            <a:r>
              <a:rPr lang="en-US" sz="1300" dirty="0">
                <a:solidFill>
                  <a:srgbClr val="2D2D2D"/>
                </a:solidFill>
                <a:latin typeface="Consolas" pitchFamily="34" charset="0"/>
                <a:ea typeface="Consolas" pitchFamily="34" charset="-122"/>
                <a:cs typeface="Consolas" pitchFamily="34" charset="-120"/>
              </a:rPr>
              <a:t>@app.post("/api/deals/{deal_id}/stage")</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def move_deal_stage(deal_id: str, body: dict = Body(...)):</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return deals.move_stage(deal_id, body["stage"], body.get("lost_reason"))</a:t>
            </a:r>
            <a:endParaRPr lang="en-US" sz="1300" dirty="0"/>
          </a:p>
        </p:txBody>
      </p:sp>
      <p:sp>
        <p:nvSpPr>
          <p:cNvPr id="11" name="Text 9"/>
          <p:cNvSpPr/>
          <p:nvPr/>
        </p:nvSpPr>
        <p:spPr>
          <a:xfrm>
            <a:off x="457200" y="3749040"/>
            <a:ext cx="1124712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core/deals.py  —  WHERE THE THINKING LIVES</a:t>
            </a:r>
            <a:endParaRPr lang="en-US" sz="1050" dirty="0"/>
          </a:p>
        </p:txBody>
      </p:sp>
      <p:sp>
        <p:nvSpPr>
          <p:cNvPr id="12" name="Shape 10"/>
          <p:cNvSpPr/>
          <p:nvPr/>
        </p:nvSpPr>
        <p:spPr>
          <a:xfrm>
            <a:off x="457200" y="4069080"/>
            <a:ext cx="11247120" cy="1874520"/>
          </a:xfrm>
          <a:prstGeom prst="roundRect">
            <a:avLst>
              <a:gd name="adj" fmla="val 3902"/>
            </a:avLst>
          </a:prstGeom>
          <a:solidFill>
            <a:srgbClr val="F6F2FB"/>
          </a:solidFill>
          <a:ln w="9525">
            <a:solidFill>
              <a:srgbClr val="C5B3DC"/>
            </a:solidFill>
            <a:prstDash val="solid"/>
          </a:ln>
        </p:spPr>
      </p:sp>
      <p:sp>
        <p:nvSpPr>
          <p:cNvPr id="13" name="Text 11"/>
          <p:cNvSpPr/>
          <p:nvPr/>
        </p:nvSpPr>
        <p:spPr>
          <a:xfrm>
            <a:off x="640080" y="4178808"/>
            <a:ext cx="10881360" cy="1655064"/>
          </a:xfrm>
          <a:prstGeom prst="rect">
            <a:avLst/>
          </a:prstGeom>
          <a:noFill/>
          <a:ln/>
        </p:spPr>
        <p:txBody>
          <a:bodyPr wrap="square" lIns="0" tIns="0" rIns="0" bIns="0" rtlCol="0" anchor="t"/>
          <a:lstStyle/>
          <a:p>
            <a:pPr algn="l" indent="0" marL="0">
              <a:buNone/>
            </a:pPr>
            <a:r>
              <a:rPr lang="en-US" sz="1150" dirty="0">
                <a:solidFill>
                  <a:srgbClr val="2D2D2D"/>
                </a:solidFill>
                <a:latin typeface="Consolas" pitchFamily="34" charset="0"/>
                <a:ea typeface="Consolas" pitchFamily="34" charset="-122"/>
                <a:cs typeface="Consolas" pitchFamily="34" charset="-120"/>
              </a:rPr>
              <a:t>def move_stage(deal_id, stage, lost_reason=None):</a:t>
            </a:r>
            <a:endParaRPr lang="en-US" sz="1150" dirty="0"/>
          </a:p>
          <a:p>
            <a:pPr algn="l" indent="0" marL="0">
              <a:buNone/>
            </a:pPr>
            <a:r>
              <a:rPr lang="en-US" sz="1150" dirty="0">
                <a:solidFill>
                  <a:srgbClr val="2D2D2D"/>
                </a:solidFill>
                <a:latin typeface="Consolas" pitchFamily="34" charset="0"/>
                <a:ea typeface="Consolas" pitchFamily="34" charset="-122"/>
                <a:cs typeface="Consolas" pitchFamily="34" charset="-120"/>
              </a:rPr>
              <a:t>    must_get("deals", deal_id, "Deal")                # does it exist?</a:t>
            </a:r>
            <a:endParaRPr lang="en-US" sz="1150" dirty="0"/>
          </a:p>
          <a:p>
            <a:pPr algn="l" indent="0" marL="0">
              <a:buNone/>
            </a:pPr>
            <a:r>
              <a:rPr lang="en-US" sz="1150" dirty="0">
                <a:solidFill>
                  <a:srgbClr val="2D2D2D"/>
                </a:solidFill>
                <a:latin typeface="Consolas" pitchFamily="34" charset="0"/>
                <a:ea typeface="Consolas" pitchFamily="34" charset="-122"/>
                <a:cs typeface="Consolas" pitchFamily="34" charset="-120"/>
              </a:rPr>
              <a:t>    target = DealStage(stage)                          # is the stage real?</a:t>
            </a:r>
            <a:endParaRPr lang="en-US" sz="1150" dirty="0"/>
          </a:p>
          <a:p>
            <a:pPr algn="l" indent="0" marL="0">
              <a:buNone/>
            </a:pPr>
            <a:r>
              <a:rPr lang="en-US" sz="1150" dirty="0">
                <a:solidFill>
                  <a:srgbClr val="2D2D2D"/>
                </a:solidFill>
                <a:latin typeface="Consolas" pitchFamily="34" charset="0"/>
                <a:ea typeface="Consolas" pitchFamily="34" charset="-122"/>
                <a:cs typeface="Consolas" pitchFamily="34" charset="-120"/>
              </a:rPr>
              <a:t>    if target is DealStage.closed_lost and not lost_reason:</a:t>
            </a:r>
            <a:endParaRPr lang="en-US" sz="1150" dirty="0"/>
          </a:p>
          <a:p>
            <a:pPr algn="l" indent="0" marL="0">
              <a:buNone/>
            </a:pPr>
            <a:r>
              <a:rPr lang="en-US" sz="1150" dirty="0">
                <a:solidFill>
                  <a:srgbClr val="2D2D2D"/>
                </a:solidFill>
                <a:latin typeface="Consolas" pitchFamily="34" charset="0"/>
                <a:ea typeface="Consolas" pitchFamily="34" charset="-122"/>
                <a:cs typeface="Consolas" pitchFamily="34" charset="-120"/>
              </a:rPr>
              <a:t>        raise ValidationFailed("lost_reason is required ...", field="lost_reason")</a:t>
            </a:r>
            <a:endParaRPr lang="en-US" sz="1150" dirty="0"/>
          </a:p>
          <a:p>
            <a:pPr algn="l" indent="0" marL="0">
              <a:buNone/>
            </a:pPr>
            <a:r>
              <a:rPr lang="en-US" sz="1150" dirty="0">
                <a:solidFill>
                  <a:srgbClr val="2D2D2D"/>
                </a:solidFill>
                <a:latin typeface="Consolas" pitchFamily="34" charset="0"/>
                <a:ea typeface="Consolas" pitchFamily="34" charset="-122"/>
                <a:cs typeface="Consolas" pitchFamily="34" charset="-120"/>
              </a:rPr>
              <a:t>    patch("deals", deal_id, {"stage": target.value,</a:t>
            </a:r>
            <a:endParaRPr lang="en-US" sz="1150" dirty="0"/>
          </a:p>
          <a:p>
            <a:pPr algn="l" indent="0" marL="0">
              <a:buNone/>
            </a:pPr>
            <a:r>
              <a:rPr lang="en-US" sz="1150" dirty="0">
                <a:solidFill>
                  <a:srgbClr val="2D2D2D"/>
                </a:solidFill>
                <a:latin typeface="Consolas" pitchFamily="34" charset="0"/>
                <a:ea typeface="Consolas" pitchFamily="34" charset="-122"/>
                <a:cs typeface="Consolas" pitchFamily="34" charset="-120"/>
              </a:rPr>
              <a:t>                             "probability": STAGE_PROBABILITY[target], ...})</a:t>
            </a:r>
            <a:endParaRPr lang="en-US" sz="1150" dirty="0"/>
          </a:p>
        </p:txBody>
      </p:sp>
      <p:sp>
        <p:nvSpPr>
          <p:cNvPr id="14" name="Text 12"/>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5" name="Text 13"/>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12 / 28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C · THE CORE</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A Schema Is a Contract, Not Paperwork</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A written description of what a valid record looks like — checked automatically.</a:t>
            </a:r>
            <a:endParaRPr lang="en-US" sz="1400" dirty="0"/>
          </a:p>
        </p:txBody>
      </p:sp>
      <p:sp>
        <p:nvSpPr>
          <p:cNvPr id="8" name="Shape 6"/>
          <p:cNvSpPr/>
          <p:nvPr/>
        </p:nvSpPr>
        <p:spPr>
          <a:xfrm>
            <a:off x="457200" y="2103120"/>
            <a:ext cx="6858000" cy="2651760"/>
          </a:xfrm>
          <a:prstGeom prst="roundRect">
            <a:avLst>
              <a:gd name="adj" fmla="val 2759"/>
            </a:avLst>
          </a:prstGeom>
          <a:solidFill>
            <a:srgbClr val="F6F2FB"/>
          </a:solidFill>
          <a:ln w="9525">
            <a:solidFill>
              <a:srgbClr val="C5B3DC"/>
            </a:solidFill>
            <a:prstDash val="solid"/>
          </a:ln>
        </p:spPr>
      </p:sp>
      <p:sp>
        <p:nvSpPr>
          <p:cNvPr id="9" name="Text 7"/>
          <p:cNvSpPr/>
          <p:nvPr/>
        </p:nvSpPr>
        <p:spPr>
          <a:xfrm>
            <a:off x="640080" y="2212848"/>
            <a:ext cx="6492240" cy="2432304"/>
          </a:xfrm>
          <a:prstGeom prst="rect">
            <a:avLst/>
          </a:prstGeom>
          <a:noFill/>
          <a:ln/>
        </p:spPr>
        <p:txBody>
          <a:bodyPr wrap="square" lIns="0" tIns="0" rIns="0" bIns="0" rtlCol="0" anchor="t"/>
          <a:lstStyle/>
          <a:p>
            <a:pPr algn="l" indent="0" marL="0">
              <a:buNone/>
            </a:pPr>
            <a:r>
              <a:rPr lang="en-US" sz="1300" dirty="0">
                <a:solidFill>
                  <a:srgbClr val="2D2D2D"/>
                </a:solidFill>
                <a:latin typeface="Consolas" pitchFamily="34" charset="0"/>
                <a:ea typeface="Consolas" pitchFamily="34" charset="-122"/>
                <a:cs typeface="Consolas" pitchFamily="34" charset="-120"/>
              </a:rPr>
              <a:t>class DealIn(BaseModel):</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name:        str   = Field(min_length=1)</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account_id:  str</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amount:      float = Field(default=0, ge=0)</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stage:       DealStage = DealStage.qualification</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probability: int | None = Field(default=None, ge=0, le=100)</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close_date:  date | None = None</a:t>
            </a:r>
            <a:endParaRPr lang="en-US" sz="1300" dirty="0"/>
          </a:p>
        </p:txBody>
      </p:sp>
      <p:sp>
        <p:nvSpPr>
          <p:cNvPr id="10" name="Shape 8"/>
          <p:cNvSpPr/>
          <p:nvPr/>
        </p:nvSpPr>
        <p:spPr>
          <a:xfrm>
            <a:off x="7498080" y="2103120"/>
            <a:ext cx="4206240" cy="2651760"/>
          </a:xfrm>
          <a:prstGeom prst="roundRect">
            <a:avLst>
              <a:gd name="adj" fmla="val 4138"/>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1" name="Text 9"/>
          <p:cNvSpPr/>
          <p:nvPr/>
        </p:nvSpPr>
        <p:spPr>
          <a:xfrm>
            <a:off x="7680960" y="2286000"/>
            <a:ext cx="384048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READ IT OUT LOUD</a:t>
            </a:r>
            <a:endParaRPr lang="en-US" sz="1050" dirty="0"/>
          </a:p>
        </p:txBody>
      </p:sp>
      <p:sp>
        <p:nvSpPr>
          <p:cNvPr id="12" name="Text 10"/>
          <p:cNvSpPr/>
          <p:nvPr/>
        </p:nvSpPr>
        <p:spPr>
          <a:xfrm>
            <a:off x="7680960" y="2606040"/>
            <a:ext cx="3840480" cy="2011680"/>
          </a:xfrm>
          <a:prstGeom prst="rect">
            <a:avLst/>
          </a:prstGeom>
          <a:noFill/>
          <a:ln/>
        </p:spPr>
        <p:txBody>
          <a:bodyPr wrap="square" lIns="0" tIns="0" rIns="0" bIns="0" rtlCol="0" anchor="ctr"/>
          <a:lstStyle/>
          <a:p>
            <a:pPr indent="0" marL="0">
              <a:buNone/>
            </a:pPr>
            <a:r>
              <a:rPr lang="en-US" sz="1200" b="1" dirty="0">
                <a:solidFill>
                  <a:srgbClr val="6B4E96"/>
                </a:solidFill>
                <a:latin typeface="Consolas" pitchFamily="34" charset="0"/>
                <a:ea typeface="Consolas" pitchFamily="34" charset="-122"/>
                <a:cs typeface="Consolas" pitchFamily="34" charset="-120"/>
              </a:rPr>
              <a:t>min_length=1</a:t>
            </a: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a deal must have a name
</a:t>
            </a:r>
            <a:endParaRPr lang="en-US" sz="1200" dirty="0"/>
          </a:p>
          <a:p>
            <a:pPr indent="0" marL="0">
              <a:buNone/>
            </a:pPr>
            <a:r>
              <a:rPr lang="en-US" sz="1200" b="1" dirty="0">
                <a:solidFill>
                  <a:srgbClr val="6B4E96"/>
                </a:solidFill>
                <a:latin typeface="Consolas" pitchFamily="34" charset="0"/>
                <a:ea typeface="Consolas" pitchFamily="34" charset="-122"/>
                <a:cs typeface="Consolas" pitchFamily="34" charset="-120"/>
              </a:rPr>
              <a:t>ge=0</a:t>
            </a: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amount cannot be negative
</a:t>
            </a:r>
            <a:endParaRPr lang="en-US" sz="1200" dirty="0"/>
          </a:p>
          <a:p>
            <a:pPr indent="0" marL="0">
              <a:buNone/>
            </a:pPr>
            <a:r>
              <a:rPr lang="en-US" sz="1200" b="1" dirty="0">
                <a:solidFill>
                  <a:srgbClr val="6B4E96"/>
                </a:solidFill>
                <a:latin typeface="Consolas" pitchFamily="34" charset="0"/>
                <a:ea typeface="Consolas" pitchFamily="34" charset="-122"/>
                <a:cs typeface="Consolas" pitchFamily="34" charset="-120"/>
              </a:rPr>
              <a:t>le=100</a:t>
            </a: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probability cannot be 150%</a:t>
            </a:r>
            <a:endParaRPr lang="en-US" sz="1200" dirty="0"/>
          </a:p>
        </p:txBody>
      </p:sp>
      <p:sp>
        <p:nvSpPr>
          <p:cNvPr id="13" name="Shape 11"/>
          <p:cNvSpPr/>
          <p:nvPr/>
        </p:nvSpPr>
        <p:spPr>
          <a:xfrm>
            <a:off x="457200" y="4937760"/>
            <a:ext cx="11247120" cy="1051560"/>
          </a:xfrm>
          <a:prstGeom prst="roundRect">
            <a:avLst>
              <a:gd name="adj" fmla="val 10435"/>
            </a:avLst>
          </a:prstGeom>
          <a:solidFill>
            <a:srgbClr val="F0F8F0"/>
          </a:solidFill>
          <a:ln w="22225">
            <a:solidFill>
              <a:srgbClr val="5A9C5A"/>
            </a:solidFill>
            <a:prstDash val="solid"/>
          </a:ln>
          <a:effectLst>
            <a:outerShdw sx="100000" sy="100000" kx="0" ky="0" algn="bl" rotWithShape="0" blurRad="101600" dist="25400" dir="5400000">
              <a:srgbClr val="C4B5DC">
                <a:alpha val="18000"/>
              </a:srgbClr>
            </a:outerShdw>
          </a:effectLst>
        </p:spPr>
      </p:sp>
      <p:sp>
        <p:nvSpPr>
          <p:cNvPr id="14" name="Text 12"/>
          <p:cNvSpPr/>
          <p:nvPr/>
        </p:nvSpPr>
        <p:spPr>
          <a:xfrm>
            <a:off x="685800" y="5074920"/>
            <a:ext cx="10789920" cy="777240"/>
          </a:xfrm>
          <a:prstGeom prst="rect">
            <a:avLst/>
          </a:prstGeom>
          <a:noFill/>
          <a:ln/>
        </p:spPr>
        <p:txBody>
          <a:bodyPr wrap="square" lIns="0" tIns="0" rIns="0" bIns="0" rtlCol="0" anchor="ctr"/>
          <a:lstStyle/>
          <a:p>
            <a:pPr indent="0" marL="0">
              <a:buNone/>
            </a:pPr>
            <a:r>
              <a:rPr lang="en-US" sz="1350" b="1" dirty="0">
                <a:solidFill>
                  <a:srgbClr val="5A9C5A"/>
                </a:solidFill>
                <a:latin typeface="Calibri" pitchFamily="34" charset="0"/>
                <a:ea typeface="Calibri" pitchFamily="34" charset="-122"/>
                <a:cs typeface="Calibri" pitchFamily="34" charset="-120"/>
              </a:rPr>
              <a:t>Nobody has to remember these rules.  </a:t>
            </a:r>
            <a:pPr indent="0" marL="0">
              <a:buNone/>
            </a:pPr>
            <a:r>
              <a:rPr lang="en-US" sz="1350" dirty="0">
                <a:solidFill>
                  <a:srgbClr val="2D2D2D"/>
                </a:solidFill>
                <a:latin typeface="Calibri" pitchFamily="34" charset="0"/>
                <a:ea typeface="Calibri" pitchFamily="34" charset="-122"/>
                <a:cs typeface="Calibri" pitchFamily="34" charset="-120"/>
              </a:rPr>
              <a:t>The code refuses bad data on its own — in the browser form, in the CLI, and later in an agent's tool call. One definition, three enforcement points.</a:t>
            </a:r>
            <a:endParaRPr lang="en-US" sz="1350" dirty="0"/>
          </a:p>
        </p:txBody>
      </p:sp>
      <p:sp>
        <p:nvSpPr>
          <p:cNvPr id="15" name="Text 13"/>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6" name="Text 14"/>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13 / 28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C · THE CORE</a:t>
            </a:r>
            <a:endParaRPr lang="en-US" sz="1000" dirty="0"/>
          </a:p>
        </p:txBody>
      </p:sp>
      <p:sp>
        <p:nvSpPr>
          <p:cNvPr id="4" name="Shape 2"/>
          <p:cNvSpPr/>
          <p:nvPr/>
        </p:nvSpPr>
        <p:spPr>
          <a:xfrm>
            <a:off x="457200" y="1371600"/>
            <a:ext cx="7680960" cy="91440"/>
          </a:xfrm>
          <a:prstGeom prst="roundRect">
            <a:avLst>
              <a:gd name="adj" fmla="val 50000"/>
            </a:avLst>
          </a:prstGeom>
          <a:solidFill>
            <a:srgbClr val="FFD93D">
              <a:alpha val="70000"/>
            </a:srgbClr>
          </a:solidFill>
          <a:ln w="12700">
            <a:solidFill>
              <a:srgbClr val="FFD93D">
                <a:alpha val="0"/>
              </a:srgbClr>
            </a:solidFill>
            <a:prstDash val="solid"/>
          </a:ln>
        </p:spPr>
      </p:sp>
      <p:sp>
        <p:nvSpPr>
          <p:cNvPr id="5" name="Shape 3"/>
          <p:cNvSpPr/>
          <p:nvPr/>
        </p:nvSpPr>
        <p:spPr>
          <a:xfrm>
            <a:off x="457200" y="502920"/>
            <a:ext cx="164592" cy="164592"/>
          </a:xfrm>
          <a:prstGeom prst="ellipse">
            <a:avLst/>
          </a:prstGeom>
          <a:solidFill>
            <a:srgbClr val="FFD93D"/>
          </a:solidFill>
          <a:ln w="12700">
            <a:solidFill>
              <a:srgbClr val="FFD93D"/>
            </a:solidFill>
            <a:prstDash val="solid"/>
          </a:ln>
        </p:spPr>
      </p:sp>
      <p:sp>
        <p:nvSpPr>
          <p:cNvPr id="6" name="Shape 4"/>
          <p:cNvSpPr/>
          <p:nvPr/>
        </p:nvSpPr>
        <p:spPr>
          <a:xfrm>
            <a:off x="658368" y="502920"/>
            <a:ext cx="164592" cy="164592"/>
          </a:xfrm>
          <a:prstGeom prst="ellipse">
            <a:avLst/>
          </a:prstGeom>
          <a:solidFill>
            <a:srgbClr val="9B7FBE"/>
          </a:solidFill>
          <a:ln w="12700">
            <a:solidFill>
              <a:srgbClr val="9B7FBE"/>
            </a:solidFill>
            <a:prstDash val="solid"/>
          </a:ln>
        </p:spPr>
      </p:sp>
      <p:sp>
        <p:nvSpPr>
          <p:cNvPr id="7" name="Text 5"/>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Enums — The Most Underrated Line of Code</a:t>
            </a:r>
            <a:endParaRPr lang="en-US" sz="2800" dirty="0"/>
          </a:p>
        </p:txBody>
      </p:sp>
      <p:sp>
        <p:nvSpPr>
          <p:cNvPr id="8" name="Text 6"/>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A written list of the only values allowed. Six lines that carry the whole course.</a:t>
            </a:r>
            <a:endParaRPr lang="en-US" sz="1400" dirty="0"/>
          </a:p>
        </p:txBody>
      </p:sp>
      <p:sp>
        <p:nvSpPr>
          <p:cNvPr id="9" name="Shape 7"/>
          <p:cNvSpPr/>
          <p:nvPr/>
        </p:nvSpPr>
        <p:spPr>
          <a:xfrm>
            <a:off x="457200" y="2103120"/>
            <a:ext cx="5532120" cy="2286000"/>
          </a:xfrm>
          <a:prstGeom prst="roundRect">
            <a:avLst>
              <a:gd name="adj" fmla="val 3200"/>
            </a:avLst>
          </a:prstGeom>
          <a:solidFill>
            <a:srgbClr val="F6F2FB"/>
          </a:solidFill>
          <a:ln w="9525">
            <a:solidFill>
              <a:srgbClr val="C5B3DC"/>
            </a:solidFill>
            <a:prstDash val="solid"/>
          </a:ln>
        </p:spPr>
      </p:sp>
      <p:sp>
        <p:nvSpPr>
          <p:cNvPr id="10" name="Text 8"/>
          <p:cNvSpPr/>
          <p:nvPr/>
        </p:nvSpPr>
        <p:spPr>
          <a:xfrm>
            <a:off x="640080" y="2212848"/>
            <a:ext cx="5166360" cy="2066544"/>
          </a:xfrm>
          <a:prstGeom prst="rect">
            <a:avLst/>
          </a:prstGeom>
          <a:noFill/>
          <a:ln/>
        </p:spPr>
        <p:txBody>
          <a:bodyPr wrap="square" lIns="0" tIns="0" rIns="0" bIns="0" rtlCol="0" anchor="t"/>
          <a:lstStyle/>
          <a:p>
            <a:pPr algn="l" indent="0" marL="0">
              <a:buNone/>
            </a:pPr>
            <a:r>
              <a:rPr lang="en-US" sz="1200" dirty="0">
                <a:solidFill>
                  <a:srgbClr val="2D2D2D"/>
                </a:solidFill>
                <a:latin typeface="Consolas" pitchFamily="34" charset="0"/>
                <a:ea typeface="Consolas" pitchFamily="34" charset="-122"/>
                <a:cs typeface="Consolas" pitchFamily="34" charset="-120"/>
              </a:rPr>
              <a:t>class DealStage(str, Enum):</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qualification  = "qualification"</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needs_analysis = "needs_analysis"</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proposal       = "proposal"</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negotiation    = "negotiation"</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closed_won     = "closed_won"</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closed_lost    = "closed_lost"</a:t>
            </a:r>
            <a:endParaRPr lang="en-US" sz="1200" dirty="0"/>
          </a:p>
        </p:txBody>
      </p:sp>
      <p:sp>
        <p:nvSpPr>
          <p:cNvPr id="11" name="Shape 9"/>
          <p:cNvSpPr/>
          <p:nvPr/>
        </p:nvSpPr>
        <p:spPr>
          <a:xfrm>
            <a:off x="6172200" y="2103120"/>
            <a:ext cx="5532120" cy="2286000"/>
          </a:xfrm>
          <a:prstGeom prst="roundRect">
            <a:avLst>
              <a:gd name="adj" fmla="val 4800"/>
            </a:avLst>
          </a:prstGeom>
          <a:solidFill>
            <a:srgbClr val="FBEEEE"/>
          </a:solidFill>
          <a:ln w="22225">
            <a:solidFill>
              <a:srgbClr val="D67373"/>
            </a:solidFill>
            <a:prstDash val="solid"/>
          </a:ln>
          <a:effectLst>
            <a:outerShdw sx="100000" sy="100000" kx="0" ky="0" algn="bl" rotWithShape="0" blurRad="101600" dist="25400" dir="5400000">
              <a:srgbClr val="C4B5DC">
                <a:alpha val="18000"/>
              </a:srgbClr>
            </a:outerShdw>
          </a:effectLst>
        </p:spPr>
      </p:sp>
      <p:sp>
        <p:nvSpPr>
          <p:cNvPr id="12" name="Text 10"/>
          <p:cNvSpPr/>
          <p:nvPr/>
        </p:nvSpPr>
        <p:spPr>
          <a:xfrm>
            <a:off x="6355080" y="2286000"/>
            <a:ext cx="5166360" cy="274320"/>
          </a:xfrm>
          <a:prstGeom prst="rect">
            <a:avLst/>
          </a:prstGeom>
          <a:noFill/>
          <a:ln/>
        </p:spPr>
        <p:txBody>
          <a:bodyPr wrap="square" lIns="0" tIns="0" rIns="0" bIns="0" rtlCol="0" anchor="ctr"/>
          <a:lstStyle/>
          <a:p>
            <a:pPr indent="0" marL="0">
              <a:buNone/>
            </a:pPr>
            <a:r>
              <a:rPr lang="en-US" sz="1050" b="1" spc="140" kern="0" dirty="0">
                <a:solidFill>
                  <a:srgbClr val="D67373"/>
                </a:solidFill>
                <a:latin typeface="Calibri" pitchFamily="34" charset="0"/>
                <a:ea typeface="Calibri" pitchFamily="34" charset="-122"/>
                <a:cs typeface="Calibri" pitchFamily="34" charset="-120"/>
              </a:rPr>
              <a:t>WITHOUT IT</a:t>
            </a:r>
            <a:endParaRPr lang="en-US" sz="1050" dirty="0"/>
          </a:p>
        </p:txBody>
      </p:sp>
      <p:sp>
        <p:nvSpPr>
          <p:cNvPr id="13" name="Text 11"/>
          <p:cNvSpPr/>
          <p:nvPr/>
        </p:nvSpPr>
        <p:spPr>
          <a:xfrm>
            <a:off x="6492240" y="2651760"/>
            <a:ext cx="5029200" cy="160020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Someone types "Proposal " with a capital P and a space</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Your pipeline report silently splits into two columns</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Nobody notices for a month</a:t>
            </a:r>
            <a:endParaRPr lang="en-US" sz="1150" dirty="0"/>
          </a:p>
        </p:txBody>
      </p:sp>
      <p:sp>
        <p:nvSpPr>
          <p:cNvPr id="14" name="Shape 12"/>
          <p:cNvSpPr/>
          <p:nvPr/>
        </p:nvSpPr>
        <p:spPr>
          <a:xfrm>
            <a:off x="457200" y="4572000"/>
            <a:ext cx="11247120" cy="1417320"/>
          </a:xfrm>
          <a:prstGeom prst="roundRect">
            <a:avLst>
              <a:gd name="adj" fmla="val 7742"/>
            </a:avLst>
          </a:prstGeom>
          <a:solidFill>
            <a:srgbClr val="EDE5F7"/>
          </a:solidFill>
          <a:ln w="31750">
            <a:solidFill>
              <a:srgbClr val="6B4E96"/>
            </a:solidFill>
            <a:prstDash val="solid"/>
          </a:ln>
          <a:effectLst>
            <a:outerShdw sx="100000" sy="100000" kx="0" ky="0" algn="bl" rotWithShape="0" blurRad="101600" dist="25400" dir="5400000">
              <a:srgbClr val="C4B5DC">
                <a:alpha val="18000"/>
              </a:srgbClr>
            </a:outerShdw>
          </a:effectLst>
        </p:spPr>
      </p:sp>
      <p:sp>
        <p:nvSpPr>
          <p:cNvPr id="15" name="Text 13"/>
          <p:cNvSpPr/>
          <p:nvPr/>
        </p:nvSpPr>
        <p:spPr>
          <a:xfrm>
            <a:off x="685800" y="4709160"/>
            <a:ext cx="10789920" cy="365760"/>
          </a:xfrm>
          <a:prstGeom prst="rect">
            <a:avLst/>
          </a:prstGeom>
          <a:noFill/>
          <a:ln/>
        </p:spPr>
        <p:txBody>
          <a:bodyPr wrap="square" lIns="0" tIns="0" rIns="0" bIns="0" rtlCol="0" anchor="ctr"/>
          <a:lstStyle/>
          <a:p>
            <a:pPr indent="0" marL="0">
              <a:buNone/>
            </a:pPr>
            <a:r>
              <a:rPr lang="en-US" sz="1500" dirty="0">
                <a:solidFill>
                  <a:srgbClr val="2D2D2D"/>
                </a:solidFill>
                <a:latin typeface="Calibri" pitchFamily="34" charset="0"/>
                <a:ea typeface="Calibri" pitchFamily="34" charset="-122"/>
                <a:cs typeface="Calibri" pitchFamily="34" charset="-120"/>
              </a:rPr>
              <a:t>TODAY  this enum fills a dropdown in a form.</a:t>
            </a:r>
            <a:endParaRPr lang="en-US" sz="1500" dirty="0"/>
          </a:p>
        </p:txBody>
      </p:sp>
      <p:sp>
        <p:nvSpPr>
          <p:cNvPr id="16" name="Text 14"/>
          <p:cNvSpPr/>
          <p:nvPr/>
        </p:nvSpPr>
        <p:spPr>
          <a:xfrm>
            <a:off x="685800" y="5120640"/>
            <a:ext cx="10789920" cy="365760"/>
          </a:xfrm>
          <a:prstGeom prst="rect">
            <a:avLst/>
          </a:prstGeom>
          <a:noFill/>
          <a:ln/>
        </p:spPr>
        <p:txBody>
          <a:bodyPr wrap="square" lIns="0" tIns="0" rIns="0" bIns="0" rtlCol="0" anchor="ctr"/>
          <a:lstStyle/>
          <a:p>
            <a:pPr indent="0" marL="0">
              <a:buNone/>
            </a:pPr>
            <a:r>
              <a:rPr lang="en-US" sz="1500" b="1" dirty="0">
                <a:solidFill>
                  <a:srgbClr val="6B4E96"/>
                </a:solidFill>
                <a:latin typeface="Calibri" pitchFamily="34" charset="0"/>
                <a:ea typeface="Calibri" pitchFamily="34" charset="-122"/>
                <a:cs typeface="Calibri" pitchFamily="34" charset="-120"/>
              </a:rPr>
              <a:t>IN SESSION 4  the same enum stops an AI model from inventing a stage called "almost_won".</a:t>
            </a:r>
            <a:endParaRPr lang="en-US" sz="1500" dirty="0"/>
          </a:p>
        </p:txBody>
      </p:sp>
      <p:sp>
        <p:nvSpPr>
          <p:cNvPr id="17" name="Text 15"/>
          <p:cNvSpPr/>
          <p:nvPr/>
        </p:nvSpPr>
        <p:spPr>
          <a:xfrm>
            <a:off x="685800" y="5532120"/>
            <a:ext cx="10789920" cy="320040"/>
          </a:xfrm>
          <a:prstGeom prst="rect">
            <a:avLst/>
          </a:prstGeom>
          <a:noFill/>
          <a:ln/>
        </p:spPr>
        <p:txBody>
          <a:bodyPr wrap="square" lIns="0" tIns="0" rIns="0" bIns="0" rtlCol="0" anchor="ctr"/>
          <a:lstStyle/>
          <a:p>
            <a:pPr indent="0" marL="0">
              <a:buNone/>
            </a:pPr>
            <a:r>
              <a:rPr lang="en-US" sz="1300" i="1" dirty="0">
                <a:solidFill>
                  <a:srgbClr val="5A5A5A"/>
                </a:solidFill>
                <a:latin typeface="Calibri" pitchFamily="34" charset="0"/>
                <a:ea typeface="Calibri" pitchFamily="34" charset="-122"/>
                <a:cs typeface="Calibri" pitchFamily="34" charset="-120"/>
              </a:rPr>
              <a:t>Same guardrail. Two very different users. Written once.</a:t>
            </a:r>
            <a:endParaRPr lang="en-US" sz="1300" dirty="0"/>
          </a:p>
        </p:txBody>
      </p:sp>
      <p:sp>
        <p:nvSpPr>
          <p:cNvPr id="18" name="Text 16"/>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9" name="Text 17"/>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14 / 28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C · THE CORE</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Your Error Messages Are Part of Your Interface</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Ask: which of these can someone fix without asking a colleague?</a:t>
            </a:r>
            <a:endParaRPr lang="en-US" sz="1400" dirty="0"/>
          </a:p>
        </p:txBody>
      </p:sp>
      <p:sp>
        <p:nvSpPr>
          <p:cNvPr id="8" name="Shape 6"/>
          <p:cNvSpPr/>
          <p:nvPr/>
        </p:nvSpPr>
        <p:spPr>
          <a:xfrm>
            <a:off x="457200" y="2103120"/>
            <a:ext cx="5532120" cy="3291840"/>
          </a:xfrm>
          <a:prstGeom prst="roundRect">
            <a:avLst>
              <a:gd name="adj" fmla="val 3333"/>
            </a:avLst>
          </a:prstGeom>
          <a:solidFill>
            <a:srgbClr val="FBEEEE"/>
          </a:solidFill>
          <a:ln w="22225">
            <a:solidFill>
              <a:srgbClr val="D67373"/>
            </a:solidFill>
            <a:prstDash val="solid"/>
          </a:ln>
          <a:effectLst>
            <a:outerShdw sx="100000" sy="100000" kx="0" ky="0" algn="bl" rotWithShape="0" blurRad="101600" dist="25400" dir="5400000">
              <a:srgbClr val="C4B5DC">
                <a:alpha val="18000"/>
              </a:srgbClr>
            </a:outerShdw>
          </a:effectLst>
        </p:spPr>
      </p:sp>
      <p:sp>
        <p:nvSpPr>
          <p:cNvPr id="9" name="Shape 7"/>
          <p:cNvSpPr/>
          <p:nvPr/>
        </p:nvSpPr>
        <p:spPr>
          <a:xfrm>
            <a:off x="640080" y="2240280"/>
            <a:ext cx="1417320" cy="320040"/>
          </a:xfrm>
          <a:prstGeom prst="roundRect">
            <a:avLst>
              <a:gd name="adj" fmla="val 42857"/>
            </a:avLst>
          </a:prstGeom>
          <a:solidFill>
            <a:srgbClr val="D67373"/>
          </a:solidFill>
          <a:ln w="12700">
            <a:solidFill>
              <a:srgbClr val="D67373"/>
            </a:solidFill>
            <a:prstDash val="solid"/>
          </a:ln>
        </p:spPr>
      </p:sp>
      <p:sp>
        <p:nvSpPr>
          <p:cNvPr id="10" name="Text 8"/>
          <p:cNvSpPr/>
          <p:nvPr/>
        </p:nvSpPr>
        <p:spPr>
          <a:xfrm>
            <a:off x="640080" y="2240280"/>
            <a:ext cx="1417320" cy="320040"/>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BAD ERROR</a:t>
            </a:r>
            <a:endParaRPr lang="en-US" sz="1000" dirty="0"/>
          </a:p>
        </p:txBody>
      </p:sp>
      <p:sp>
        <p:nvSpPr>
          <p:cNvPr id="11" name="Shape 9"/>
          <p:cNvSpPr/>
          <p:nvPr/>
        </p:nvSpPr>
        <p:spPr>
          <a:xfrm>
            <a:off x="640080" y="2697480"/>
            <a:ext cx="5166360" cy="594360"/>
          </a:xfrm>
          <a:prstGeom prst="roundRect">
            <a:avLst>
              <a:gd name="adj" fmla="val 12308"/>
            </a:avLst>
          </a:prstGeom>
          <a:solidFill>
            <a:srgbClr val="F6F2FB"/>
          </a:solidFill>
          <a:ln w="9525">
            <a:solidFill>
              <a:srgbClr val="C5B3DC"/>
            </a:solidFill>
            <a:prstDash val="solid"/>
          </a:ln>
        </p:spPr>
      </p:sp>
      <p:sp>
        <p:nvSpPr>
          <p:cNvPr id="12" name="Text 10"/>
          <p:cNvSpPr/>
          <p:nvPr/>
        </p:nvSpPr>
        <p:spPr>
          <a:xfrm>
            <a:off x="822960" y="2807208"/>
            <a:ext cx="4800600" cy="374904"/>
          </a:xfrm>
          <a:prstGeom prst="rect">
            <a:avLst/>
          </a:prstGeom>
          <a:noFill/>
          <a:ln/>
        </p:spPr>
        <p:txBody>
          <a:bodyPr wrap="square" lIns="0" tIns="0" rIns="0" bIns="0" rtlCol="0" anchor="t"/>
          <a:lstStyle/>
          <a:p>
            <a:pPr algn="l" indent="0" marL="0">
              <a:buNone/>
            </a:pPr>
            <a:r>
              <a:rPr lang="en-US" sz="1300" dirty="0">
                <a:solidFill>
                  <a:srgbClr val="2D2D2D"/>
                </a:solidFill>
                <a:latin typeface="Consolas" pitchFamily="34" charset="0"/>
                <a:ea typeface="Consolas" pitchFamily="34" charset="-122"/>
                <a:cs typeface="Consolas" pitchFamily="34" charset="-120"/>
              </a:rPr>
              <a:t>Error: invalid input</a:t>
            </a:r>
            <a:endParaRPr lang="en-US" sz="1300" dirty="0"/>
          </a:p>
        </p:txBody>
      </p:sp>
      <p:sp>
        <p:nvSpPr>
          <p:cNvPr id="13" name="Text 11"/>
          <p:cNvSpPr/>
          <p:nvPr/>
        </p:nvSpPr>
        <p:spPr>
          <a:xfrm>
            <a:off x="777240" y="3474720"/>
            <a:ext cx="5029200" cy="173736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Which field?</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What would have been valid?</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A human asks a colleague. An agent guesses.</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Guessing is where hallucinated tool calls come from.</a:t>
            </a:r>
            <a:endParaRPr lang="en-US" sz="1150" dirty="0"/>
          </a:p>
        </p:txBody>
      </p:sp>
      <p:sp>
        <p:nvSpPr>
          <p:cNvPr id="14" name="Shape 12"/>
          <p:cNvSpPr/>
          <p:nvPr/>
        </p:nvSpPr>
        <p:spPr>
          <a:xfrm>
            <a:off x="6172200" y="2103120"/>
            <a:ext cx="5532120" cy="3291840"/>
          </a:xfrm>
          <a:prstGeom prst="roundRect">
            <a:avLst>
              <a:gd name="adj" fmla="val 3333"/>
            </a:avLst>
          </a:prstGeom>
          <a:solidFill>
            <a:srgbClr val="F0F8F0"/>
          </a:solidFill>
          <a:ln w="22225">
            <a:solidFill>
              <a:srgbClr val="5A9C5A"/>
            </a:solidFill>
            <a:prstDash val="solid"/>
          </a:ln>
          <a:effectLst>
            <a:outerShdw sx="100000" sy="100000" kx="0" ky="0" algn="bl" rotWithShape="0" blurRad="101600" dist="25400" dir="5400000">
              <a:srgbClr val="C4B5DC">
                <a:alpha val="18000"/>
              </a:srgbClr>
            </a:outerShdw>
          </a:effectLst>
        </p:spPr>
      </p:sp>
      <p:sp>
        <p:nvSpPr>
          <p:cNvPr id="15" name="Shape 13"/>
          <p:cNvSpPr/>
          <p:nvPr/>
        </p:nvSpPr>
        <p:spPr>
          <a:xfrm>
            <a:off x="6355080" y="2240280"/>
            <a:ext cx="1554480" cy="320040"/>
          </a:xfrm>
          <a:prstGeom prst="roundRect">
            <a:avLst>
              <a:gd name="adj" fmla="val 42857"/>
            </a:avLst>
          </a:prstGeom>
          <a:solidFill>
            <a:srgbClr val="5A9C5A"/>
          </a:solidFill>
          <a:ln w="12700">
            <a:solidFill>
              <a:srgbClr val="5A9C5A"/>
            </a:solidFill>
            <a:prstDash val="solid"/>
          </a:ln>
        </p:spPr>
      </p:sp>
      <p:sp>
        <p:nvSpPr>
          <p:cNvPr id="16" name="Text 14"/>
          <p:cNvSpPr/>
          <p:nvPr/>
        </p:nvSpPr>
        <p:spPr>
          <a:xfrm>
            <a:off x="6355080" y="2240280"/>
            <a:ext cx="1554480" cy="320040"/>
          </a:xfrm>
          <a:prstGeom prst="rect">
            <a:avLst/>
          </a:prstGeom>
          <a:noFill/>
          <a:ln/>
        </p:spPr>
        <p:txBody>
          <a:bodyPr wrap="square" lIns="0" tIns="0" rIns="0" bIns="0" rtlCol="0" anchor="ctr"/>
          <a:lstStyle/>
          <a:p>
            <a:pPr algn="ctr" indent="0" marL="0">
              <a:buNone/>
            </a:pPr>
            <a:r>
              <a:rPr lang="en-US" sz="1000" b="1" spc="120" kern="0" dirty="0">
                <a:solidFill>
                  <a:srgbClr val="FFFFFF"/>
                </a:solidFill>
                <a:latin typeface="Calibri" pitchFamily="34" charset="0"/>
                <a:ea typeface="Calibri" pitchFamily="34" charset="-122"/>
                <a:cs typeface="Calibri" pitchFamily="34" charset="-120"/>
              </a:rPr>
              <a:t>GOOD ERROR</a:t>
            </a:r>
            <a:endParaRPr lang="en-US" sz="1000" dirty="0"/>
          </a:p>
        </p:txBody>
      </p:sp>
      <p:sp>
        <p:nvSpPr>
          <p:cNvPr id="17" name="Shape 15"/>
          <p:cNvSpPr/>
          <p:nvPr/>
        </p:nvSpPr>
        <p:spPr>
          <a:xfrm>
            <a:off x="6355080" y="2697480"/>
            <a:ext cx="5166360" cy="1965960"/>
          </a:xfrm>
          <a:prstGeom prst="roundRect">
            <a:avLst>
              <a:gd name="adj" fmla="val 3721"/>
            </a:avLst>
          </a:prstGeom>
          <a:solidFill>
            <a:srgbClr val="F6F2FB"/>
          </a:solidFill>
          <a:ln w="9525">
            <a:solidFill>
              <a:srgbClr val="C5B3DC"/>
            </a:solidFill>
            <a:prstDash val="solid"/>
          </a:ln>
        </p:spPr>
      </p:sp>
      <p:sp>
        <p:nvSpPr>
          <p:cNvPr id="18" name="Text 16"/>
          <p:cNvSpPr/>
          <p:nvPr/>
        </p:nvSpPr>
        <p:spPr>
          <a:xfrm>
            <a:off x="6537960" y="2807208"/>
            <a:ext cx="4800600" cy="1746504"/>
          </a:xfrm>
          <a:prstGeom prst="rect">
            <a:avLst/>
          </a:prstGeom>
          <a:noFill/>
          <a:ln/>
        </p:spPr>
        <p:txBody>
          <a:bodyPr wrap="square" lIns="0" tIns="0" rIns="0" bIns="0" rtlCol="0" anchor="t"/>
          <a:lstStyle/>
          <a:p>
            <a:pPr algn="l" indent="0" marL="0">
              <a:buNone/>
            </a:pPr>
            <a:r>
              <a:rPr lang="en-US" sz="950" dirty="0">
                <a:solidFill>
                  <a:srgbClr val="2D2D2D"/>
                </a:solidFill>
                <a:latin typeface="Consolas" pitchFamily="34" charset="0"/>
                <a:ea typeface="Consolas" pitchFamily="34" charset="-122"/>
                <a:cs typeface="Consolas" pitchFamily="34" charset="-120"/>
              </a:rPr>
              <a:t>{ "code": "validation_failed",</a:t>
            </a:r>
            <a:endParaRPr lang="en-US" sz="950" dirty="0"/>
          </a:p>
          <a:p>
            <a:pPr algn="l" indent="0" marL="0">
              <a:buNone/>
            </a:pPr>
            <a:r>
              <a:rPr lang="en-US" sz="950" dirty="0">
                <a:solidFill>
                  <a:srgbClr val="2D2D2D"/>
                </a:solidFill>
                <a:latin typeface="Consolas" pitchFamily="34" charset="0"/>
                <a:ea typeface="Consolas" pitchFamily="34" charset="-122"/>
                <a:cs typeface="Consolas" pitchFamily="34" charset="-120"/>
              </a:rPr>
              <a:t>  "message": "'almost_won' is not a</a:t>
            </a:r>
            <a:endParaRPr lang="en-US" sz="950" dirty="0"/>
          </a:p>
          <a:p>
            <a:pPr algn="l" indent="0" marL="0">
              <a:buNone/>
            </a:pPr>
            <a:r>
              <a:rPr lang="en-US" sz="950" dirty="0">
                <a:solidFill>
                  <a:srgbClr val="2D2D2D"/>
                </a:solidFill>
                <a:latin typeface="Consolas" pitchFamily="34" charset="0"/>
                <a:ea typeface="Consolas" pitchFamily="34" charset="-122"/>
                <a:cs typeface="Consolas" pitchFamily="34" charset="-120"/>
              </a:rPr>
              <a:t>               valid deal stage.",</a:t>
            </a:r>
            <a:endParaRPr lang="en-US" sz="950" dirty="0"/>
          </a:p>
          <a:p>
            <a:pPr algn="l" indent="0" marL="0">
              <a:buNone/>
            </a:pPr>
            <a:r>
              <a:rPr lang="en-US" sz="950" dirty="0">
                <a:solidFill>
                  <a:srgbClr val="2D2D2D"/>
                </a:solidFill>
                <a:latin typeface="Consolas" pitchFamily="34" charset="0"/>
                <a:ea typeface="Consolas" pitchFamily="34" charset="-122"/>
                <a:cs typeface="Consolas" pitchFamily="34" charset="-120"/>
              </a:rPr>
              <a:t>  "details": {</a:t>
            </a:r>
            <a:endParaRPr lang="en-US" sz="950" dirty="0"/>
          </a:p>
          <a:p>
            <a:pPr algn="l" indent="0" marL="0">
              <a:buNone/>
            </a:pPr>
            <a:r>
              <a:rPr lang="en-US" sz="950" dirty="0">
                <a:solidFill>
                  <a:srgbClr val="2D2D2D"/>
                </a:solidFill>
                <a:latin typeface="Consolas" pitchFamily="34" charset="0"/>
                <a:ea typeface="Consolas" pitchFamily="34" charset="-122"/>
                <a:cs typeface="Consolas" pitchFamily="34" charset="-120"/>
              </a:rPr>
              <a:t>    "field": "stage",</a:t>
            </a:r>
            <a:endParaRPr lang="en-US" sz="950" dirty="0"/>
          </a:p>
          <a:p>
            <a:pPr algn="l" indent="0" marL="0">
              <a:buNone/>
            </a:pPr>
            <a:r>
              <a:rPr lang="en-US" sz="950" dirty="0">
                <a:solidFill>
                  <a:srgbClr val="2D2D2D"/>
                </a:solidFill>
                <a:latin typeface="Consolas" pitchFamily="34" charset="0"/>
                <a:ea typeface="Consolas" pitchFamily="34" charset="-122"/>
                <a:cs typeface="Consolas" pitchFamily="34" charset="-120"/>
              </a:rPr>
              <a:t>    "allowed": ["qualification",</a:t>
            </a:r>
            <a:endParaRPr lang="en-US" sz="950" dirty="0"/>
          </a:p>
          <a:p>
            <a:pPr algn="l" indent="0" marL="0">
              <a:buNone/>
            </a:pPr>
            <a:r>
              <a:rPr lang="en-US" sz="950" dirty="0">
                <a:solidFill>
                  <a:srgbClr val="2D2D2D"/>
                </a:solidFill>
                <a:latin typeface="Consolas" pitchFamily="34" charset="0"/>
                <a:ea typeface="Consolas" pitchFamily="34" charset="-122"/>
                <a:cs typeface="Consolas" pitchFamily="34" charset="-120"/>
              </a:rPr>
              <a:t>       "needs_analysis", "proposal",</a:t>
            </a:r>
            <a:endParaRPr lang="en-US" sz="950" dirty="0"/>
          </a:p>
          <a:p>
            <a:pPr algn="l" indent="0" marL="0">
              <a:buNone/>
            </a:pPr>
            <a:r>
              <a:rPr lang="en-US" sz="950" dirty="0">
                <a:solidFill>
                  <a:srgbClr val="2D2D2D"/>
                </a:solidFill>
                <a:latin typeface="Consolas" pitchFamily="34" charset="0"/>
                <a:ea typeface="Consolas" pitchFamily="34" charset="-122"/>
                <a:cs typeface="Consolas" pitchFamily="34" charset="-120"/>
              </a:rPr>
              <a:t>       "negotiation", "closed_won",</a:t>
            </a:r>
            <a:endParaRPr lang="en-US" sz="950" dirty="0"/>
          </a:p>
          <a:p>
            <a:pPr algn="l" indent="0" marL="0">
              <a:buNone/>
            </a:pPr>
            <a:r>
              <a:rPr lang="en-US" sz="950" dirty="0">
                <a:solidFill>
                  <a:srgbClr val="2D2D2D"/>
                </a:solidFill>
                <a:latin typeface="Consolas" pitchFamily="34" charset="0"/>
                <a:ea typeface="Consolas" pitchFamily="34" charset="-122"/>
                <a:cs typeface="Consolas" pitchFamily="34" charset="-120"/>
              </a:rPr>
              <a:t>       "closed_lost"] } }</a:t>
            </a:r>
            <a:endParaRPr lang="en-US" sz="950" dirty="0"/>
          </a:p>
        </p:txBody>
      </p:sp>
      <p:sp>
        <p:nvSpPr>
          <p:cNvPr id="19" name="Text 17"/>
          <p:cNvSpPr/>
          <p:nvPr/>
        </p:nvSpPr>
        <p:spPr>
          <a:xfrm>
            <a:off x="6492240" y="4754880"/>
            <a:ext cx="5029200" cy="50292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5A9C5A"/>
                </a:solidFill>
                <a:latin typeface="Calibri" pitchFamily="34" charset="0"/>
                <a:ea typeface="Calibri" pitchFamily="34" charset="-122"/>
                <a:cs typeface="Calibri" pitchFamily="34" charset="-120"/>
              </a:rPr>
              <a:t>Names the field. Lists every valid value.</a:t>
            </a:r>
            <a:endParaRPr lang="en-US" sz="1150" dirty="0"/>
          </a:p>
        </p:txBody>
      </p:sp>
      <p:sp>
        <p:nvSpPr>
          <p:cNvPr id="20" name="Shape 18"/>
          <p:cNvSpPr/>
          <p:nvPr/>
        </p:nvSpPr>
        <p:spPr>
          <a:xfrm>
            <a:off x="457200" y="5577840"/>
            <a:ext cx="11247120" cy="502920"/>
          </a:xfrm>
          <a:prstGeom prst="roundRect">
            <a:avLst>
              <a:gd name="adj" fmla="val 18182"/>
            </a:avLst>
          </a:prstGeom>
          <a:solidFill>
            <a:srgbClr val="FFF4B8"/>
          </a:solidFill>
          <a:ln w="12700">
            <a:solidFill>
              <a:srgbClr val="E5BA1F"/>
            </a:solidFill>
            <a:prstDash val="solid"/>
          </a:ln>
        </p:spPr>
      </p:sp>
      <p:sp>
        <p:nvSpPr>
          <p:cNvPr id="21" name="Text 19"/>
          <p:cNvSpPr/>
          <p:nvPr/>
        </p:nvSpPr>
        <p:spPr>
          <a:xfrm>
            <a:off x="640080" y="5577840"/>
            <a:ext cx="10881360" cy="502920"/>
          </a:xfrm>
          <a:prstGeom prst="rect">
            <a:avLst/>
          </a:prstGeom>
          <a:noFill/>
          <a:ln/>
        </p:spPr>
        <p:txBody>
          <a:bodyPr wrap="square" rtlCol="0" anchor="ctr"/>
          <a:lstStyle/>
          <a:p>
            <a:pPr algn="ctr" indent="0" marL="0">
              <a:buNone/>
            </a:pPr>
            <a:r>
              <a:rPr lang="en-US" sz="1300" b="1" i="1" dirty="0">
                <a:solidFill>
                  <a:srgbClr val="2D2D2D"/>
                </a:solidFill>
                <a:latin typeface="Calibri" pitchFamily="34" charset="0"/>
                <a:ea typeface="Calibri" pitchFamily="34" charset="-122"/>
                <a:cs typeface="Calibri" pitchFamily="34" charset="-120"/>
              </a:rPr>
              <a:t>In the age of agents, error messages are not error messages.</a:t>
            </a:r>
            <a:endParaRPr lang="en-US" sz="1300" dirty="0"/>
          </a:p>
          <a:p>
            <a:pPr algn="ctr" indent="0" marL="0">
              <a:buNone/>
            </a:pPr>
            <a:r>
              <a:rPr lang="en-US" sz="1300" b="1" i="1" dirty="0">
                <a:solidFill>
                  <a:srgbClr val="2D2D2D"/>
                </a:solidFill>
                <a:latin typeface="Calibri" pitchFamily="34" charset="0"/>
                <a:ea typeface="Calibri" pitchFamily="34" charset="-122"/>
                <a:cs typeface="Calibri" pitchFamily="34" charset="-120"/>
              </a:rPr>
              <a:t>They are documentation delivered at exactly the moment it is needed.</a:t>
            </a:r>
            <a:endParaRPr lang="en-US" sz="1300" dirty="0"/>
          </a:p>
        </p:txBody>
      </p:sp>
      <p:sp>
        <p:nvSpPr>
          <p:cNvPr id="22" name="Text 20"/>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23" name="Text 21"/>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15 / 28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C · LIVE DEMO</a:t>
            </a:r>
            <a:endParaRPr lang="en-US" sz="1000" dirty="0"/>
          </a:p>
        </p:txBody>
      </p:sp>
      <p:sp>
        <p:nvSpPr>
          <p:cNvPr id="4" name="Shape 2"/>
          <p:cNvSpPr/>
          <p:nvPr/>
        </p:nvSpPr>
        <p:spPr>
          <a:xfrm>
            <a:off x="457200" y="1371600"/>
            <a:ext cx="7223760" cy="91440"/>
          </a:xfrm>
          <a:prstGeom prst="roundRect">
            <a:avLst>
              <a:gd name="adj" fmla="val 50000"/>
            </a:avLst>
          </a:prstGeom>
          <a:solidFill>
            <a:srgbClr val="FFD93D">
              <a:alpha val="70000"/>
            </a:srgbClr>
          </a:solidFill>
          <a:ln w="12700">
            <a:solidFill>
              <a:srgbClr val="FFD93D">
                <a:alpha val="0"/>
              </a:srgbClr>
            </a:solidFill>
            <a:prstDash val="solid"/>
          </a:ln>
        </p:spPr>
      </p:sp>
      <p:sp>
        <p:nvSpPr>
          <p:cNvPr id="5" name="Shape 3"/>
          <p:cNvSpPr/>
          <p:nvPr/>
        </p:nvSpPr>
        <p:spPr>
          <a:xfrm>
            <a:off x="457200" y="502920"/>
            <a:ext cx="164592" cy="164592"/>
          </a:xfrm>
          <a:prstGeom prst="ellipse">
            <a:avLst/>
          </a:prstGeom>
          <a:solidFill>
            <a:srgbClr val="FFD93D"/>
          </a:solidFill>
          <a:ln w="12700">
            <a:solidFill>
              <a:srgbClr val="FFD93D"/>
            </a:solidFill>
            <a:prstDash val="solid"/>
          </a:ln>
        </p:spPr>
      </p:sp>
      <p:sp>
        <p:nvSpPr>
          <p:cNvPr id="6" name="Shape 4"/>
          <p:cNvSpPr/>
          <p:nvPr/>
        </p:nvSpPr>
        <p:spPr>
          <a:xfrm>
            <a:off x="658368" y="502920"/>
            <a:ext cx="164592" cy="164592"/>
          </a:xfrm>
          <a:prstGeom prst="ellipse">
            <a:avLst/>
          </a:prstGeom>
          <a:solidFill>
            <a:srgbClr val="9B7FBE"/>
          </a:solidFill>
          <a:ln w="12700">
            <a:solidFill>
              <a:srgbClr val="9B7FBE"/>
            </a:solidFill>
            <a:prstDash val="solid"/>
          </a:ln>
        </p:spPr>
      </p:sp>
      <p:sp>
        <p:nvSpPr>
          <p:cNvPr id="7" name="Text 5"/>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 Live Demo — Break It On Purpose</a:t>
            </a:r>
            <a:endParaRPr lang="en-US" sz="2800" dirty="0"/>
          </a:p>
        </p:txBody>
      </p:sp>
      <p:sp>
        <p:nvSpPr>
          <p:cNvPr id="8" name="Text 6"/>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Three commands that fail, and one drag in the browser that fails the same way.</a:t>
            </a:r>
            <a:endParaRPr lang="en-US" sz="1400" dirty="0"/>
          </a:p>
        </p:txBody>
      </p:sp>
      <p:sp>
        <p:nvSpPr>
          <p:cNvPr id="9" name="Text 7"/>
          <p:cNvSpPr/>
          <p:nvPr/>
        </p:nvSpPr>
        <p:spPr>
          <a:xfrm>
            <a:off x="457200" y="2011680"/>
            <a:ext cx="1124712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RUN THESE IN THE TERMINAL, ONE AT A TIME</a:t>
            </a:r>
            <a:endParaRPr lang="en-US" sz="1050" dirty="0"/>
          </a:p>
        </p:txBody>
      </p:sp>
      <p:sp>
        <p:nvSpPr>
          <p:cNvPr id="10" name="Shape 8"/>
          <p:cNvSpPr/>
          <p:nvPr/>
        </p:nvSpPr>
        <p:spPr>
          <a:xfrm>
            <a:off x="457200" y="2331720"/>
            <a:ext cx="11247120" cy="1234440"/>
          </a:xfrm>
          <a:prstGeom prst="roundRect">
            <a:avLst>
              <a:gd name="adj" fmla="val 5926"/>
            </a:avLst>
          </a:prstGeom>
          <a:solidFill>
            <a:srgbClr val="F6F2FB"/>
          </a:solidFill>
          <a:ln w="9525">
            <a:solidFill>
              <a:srgbClr val="C5B3DC"/>
            </a:solidFill>
            <a:prstDash val="solid"/>
          </a:ln>
        </p:spPr>
      </p:sp>
      <p:sp>
        <p:nvSpPr>
          <p:cNvPr id="11" name="Text 9"/>
          <p:cNvSpPr/>
          <p:nvPr/>
        </p:nvSpPr>
        <p:spPr>
          <a:xfrm>
            <a:off x="640080" y="2441448"/>
            <a:ext cx="10881360" cy="1014984"/>
          </a:xfrm>
          <a:prstGeom prst="rect">
            <a:avLst/>
          </a:prstGeom>
          <a:noFill/>
          <a:ln/>
        </p:spPr>
        <p:txBody>
          <a:bodyPr wrap="square" lIns="0" tIns="0" rIns="0" bIns="0" rtlCol="0" anchor="t"/>
          <a:lstStyle/>
          <a:p>
            <a:pPr algn="l" indent="0" marL="0">
              <a:buNone/>
            </a:pPr>
            <a:r>
              <a:rPr lang="en-US" sz="1250" dirty="0">
                <a:solidFill>
                  <a:srgbClr val="2D2D2D"/>
                </a:solidFill>
                <a:latin typeface="Consolas" pitchFamily="34" charset="0"/>
                <a:ea typeface="Consolas" pitchFamily="34" charset="-122"/>
                <a:cs typeface="Consolas" pitchFamily="34" charset="-120"/>
              </a:rPr>
              <a:t>python cli.py deals move dea_xxxx --stage almost_won      # invalid stage</a:t>
            </a:r>
            <a:endParaRPr lang="en-US" sz="1250" dirty="0"/>
          </a:p>
          <a:p>
            <a:pPr algn="l" indent="0" marL="0">
              <a:buNone/>
            </a:pPr>
            <a:r>
              <a:rPr lang="en-US" sz="1250" dirty="0">
                <a:solidFill>
                  <a:srgbClr val="2D2D2D"/>
                </a:solidFill>
                <a:latin typeface="Consolas" pitchFamily="34" charset="0"/>
                <a:ea typeface="Consolas" pitchFamily="34" charset="-122"/>
                <a:cs typeface="Consolas" pitchFamily="34" charset="-120"/>
              </a:rPr>
              <a:t>python cli.py deals move dea_xxxx --stage closed_lost     # missing reason</a:t>
            </a:r>
            <a:endParaRPr lang="en-US" sz="1250" dirty="0"/>
          </a:p>
          <a:p>
            <a:pPr algn="l" indent="0" marL="0">
              <a:buNone/>
            </a:pPr>
            <a:r>
              <a:rPr lang="en-US" sz="1250" dirty="0">
                <a:solidFill>
                  <a:srgbClr val="2D2D2D"/>
                </a:solidFill>
                <a:latin typeface="Consolas" pitchFamily="34" charset="0"/>
                <a:ea typeface="Consolas" pitchFamily="34" charset="-122"/>
                <a:cs typeface="Consolas" pitchFamily="34" charset="-120"/>
              </a:rPr>
              <a:t>python cli.py accounts show acc_nope                      # missing record</a:t>
            </a:r>
            <a:endParaRPr lang="en-US" sz="1250" dirty="0"/>
          </a:p>
        </p:txBody>
      </p:sp>
      <p:sp>
        <p:nvSpPr>
          <p:cNvPr id="12" name="Shape 10"/>
          <p:cNvSpPr/>
          <p:nvPr/>
        </p:nvSpPr>
        <p:spPr>
          <a:xfrm>
            <a:off x="457200" y="3749040"/>
            <a:ext cx="5532120" cy="2194560"/>
          </a:xfrm>
          <a:prstGeom prst="roundRect">
            <a:avLst>
              <a:gd name="adj" fmla="val 5000"/>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3" name="Text 11"/>
          <p:cNvSpPr/>
          <p:nvPr/>
        </p:nvSpPr>
        <p:spPr>
          <a:xfrm>
            <a:off x="640080" y="3931920"/>
            <a:ext cx="516636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WHAT THEY SHOULD NOTICE</a:t>
            </a:r>
            <a:endParaRPr lang="en-US" sz="1050" dirty="0"/>
          </a:p>
        </p:txBody>
      </p:sp>
      <p:sp>
        <p:nvSpPr>
          <p:cNvPr id="14" name="Text 12"/>
          <p:cNvSpPr/>
          <p:nvPr/>
        </p:nvSpPr>
        <p:spPr>
          <a:xfrm>
            <a:off x="777240" y="4297680"/>
            <a:ext cx="5029200" cy="150876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Each error names the field</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Invalid stage prints all six valid values</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Missing record suggests how to find a real id</a:t>
            </a:r>
            <a:endParaRPr lang="en-US" sz="1150" dirty="0"/>
          </a:p>
        </p:txBody>
      </p:sp>
      <p:sp>
        <p:nvSpPr>
          <p:cNvPr id="15" name="Shape 13"/>
          <p:cNvSpPr/>
          <p:nvPr/>
        </p:nvSpPr>
        <p:spPr>
          <a:xfrm>
            <a:off x="6172200" y="3749040"/>
            <a:ext cx="5532120" cy="2194560"/>
          </a:xfrm>
          <a:prstGeom prst="roundRect">
            <a:avLst>
              <a:gd name="adj" fmla="val 5000"/>
            </a:avLst>
          </a:prstGeom>
          <a:solidFill>
            <a:srgbClr val="FFF4B8"/>
          </a:solidFill>
          <a:ln w="25400">
            <a:solidFill>
              <a:srgbClr val="E5BA1F"/>
            </a:solidFill>
            <a:prstDash val="solid"/>
          </a:ln>
          <a:effectLst>
            <a:outerShdw sx="100000" sy="100000" kx="0" ky="0" algn="bl" rotWithShape="0" blurRad="101600" dist="25400" dir="5400000">
              <a:srgbClr val="C4B5DC">
                <a:alpha val="18000"/>
              </a:srgbClr>
            </a:outerShdw>
          </a:effectLst>
        </p:spPr>
      </p:sp>
      <p:sp>
        <p:nvSpPr>
          <p:cNvPr id="16" name="Text 14"/>
          <p:cNvSpPr/>
          <p:nvPr/>
        </p:nvSpPr>
        <p:spPr>
          <a:xfrm>
            <a:off x="6355080" y="3931920"/>
            <a:ext cx="5166360" cy="274320"/>
          </a:xfrm>
          <a:prstGeom prst="rect">
            <a:avLst/>
          </a:prstGeom>
          <a:noFill/>
          <a:ln/>
        </p:spPr>
        <p:txBody>
          <a:bodyPr wrap="square" lIns="0" tIns="0" rIns="0" bIns="0" rtlCol="0" anchor="ctr"/>
          <a:lstStyle/>
          <a:p>
            <a:pPr indent="0" marL="0">
              <a:buNone/>
            </a:pPr>
            <a:r>
              <a:rPr lang="en-US" sz="1050" b="1" spc="140" kern="0" dirty="0">
                <a:solidFill>
                  <a:srgbClr val="E5BA1F"/>
                </a:solidFill>
                <a:latin typeface="Calibri" pitchFamily="34" charset="0"/>
                <a:ea typeface="Calibri" pitchFamily="34" charset="-122"/>
                <a:cs typeface="Calibri" pitchFamily="34" charset="-120"/>
              </a:rPr>
              <a:t>THEN SWITCH TO THE BROWSER</a:t>
            </a:r>
            <a:endParaRPr lang="en-US" sz="1050" dirty="0"/>
          </a:p>
        </p:txBody>
      </p:sp>
      <p:sp>
        <p:nvSpPr>
          <p:cNvPr id="17" name="Text 15"/>
          <p:cNvSpPr/>
          <p:nvPr/>
        </p:nvSpPr>
        <p:spPr>
          <a:xfrm>
            <a:off x="6355080" y="4297680"/>
            <a:ext cx="5166360" cy="1508760"/>
          </a:xfrm>
          <a:prstGeom prst="rect">
            <a:avLst/>
          </a:prstGeom>
          <a:noFill/>
          <a:ln/>
        </p:spPr>
        <p:txBody>
          <a:bodyPr wrap="square" lIns="0" tIns="0" rIns="0" bIns="0" rtlCol="0" anchor="ctr"/>
          <a:lstStyle/>
          <a:p>
            <a:pPr indent="0" marL="0">
              <a:buNone/>
            </a:pPr>
            <a:r>
              <a:rPr lang="en-US" sz="1250" dirty="0">
                <a:solidFill>
                  <a:srgbClr val="2D2D2D"/>
                </a:solidFill>
                <a:latin typeface="Calibri" pitchFamily="34" charset="0"/>
                <a:ea typeface="Calibri" pitchFamily="34" charset="-122"/>
                <a:cs typeface="Calibri" pitchFamily="34" charset="-120"/>
              </a:rPr>
              <a:t>Drag a deal card into Closed Lost.</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It asks for a reason there too.</a:t>
            </a:r>
            <a:endParaRPr lang="en-US" sz="1250" dirty="0"/>
          </a:p>
          <a:p>
            <a:pPr indent="0" marL="0">
              <a:buNone/>
            </a:pP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Ask: "How many places is that rule written?"</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Then show them: core/deals.py, one if-statement.</a:t>
            </a:r>
            <a:endParaRPr lang="en-US" sz="1250" dirty="0"/>
          </a:p>
        </p:txBody>
      </p:sp>
      <p:sp>
        <p:nvSpPr>
          <p:cNvPr id="18" name="Text 16"/>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9" name="Text 17"/>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16 / 28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C · THE PAYOFF</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convert_lead() — One Operation, Many Callers</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Five things that must happen together, in order, with a duplicate check in the middle.</a:t>
            </a:r>
            <a:endParaRPr lang="en-US" sz="1400" dirty="0"/>
          </a:p>
        </p:txBody>
      </p:sp>
      <p:sp>
        <p:nvSpPr>
          <p:cNvPr id="8" name="Shape 6"/>
          <p:cNvSpPr/>
          <p:nvPr/>
        </p:nvSpPr>
        <p:spPr>
          <a:xfrm>
            <a:off x="457200" y="2103120"/>
            <a:ext cx="6858000" cy="2514600"/>
          </a:xfrm>
          <a:prstGeom prst="roundRect">
            <a:avLst>
              <a:gd name="adj" fmla="val 2909"/>
            </a:avLst>
          </a:prstGeom>
          <a:solidFill>
            <a:srgbClr val="F6F2FB"/>
          </a:solidFill>
          <a:ln w="9525">
            <a:solidFill>
              <a:srgbClr val="C5B3DC"/>
            </a:solidFill>
            <a:prstDash val="solid"/>
          </a:ln>
        </p:spPr>
      </p:sp>
      <p:sp>
        <p:nvSpPr>
          <p:cNvPr id="9" name="Text 7"/>
          <p:cNvSpPr/>
          <p:nvPr/>
        </p:nvSpPr>
        <p:spPr>
          <a:xfrm>
            <a:off x="640080" y="2212848"/>
            <a:ext cx="6492240" cy="2295144"/>
          </a:xfrm>
          <a:prstGeom prst="rect">
            <a:avLst/>
          </a:prstGeom>
          <a:noFill/>
          <a:ln/>
        </p:spPr>
        <p:txBody>
          <a:bodyPr wrap="square" lIns="0" tIns="0" rIns="0" bIns="0" rtlCol="0" anchor="t"/>
          <a:lstStyle/>
          <a:p>
            <a:pPr algn="l" indent="0" marL="0">
              <a:buNone/>
            </a:pPr>
            <a:r>
              <a:rPr lang="en-US" sz="1200" dirty="0">
                <a:solidFill>
                  <a:srgbClr val="2D2D2D"/>
                </a:solidFill>
                <a:latin typeface="Consolas" pitchFamily="34" charset="0"/>
                <a:ea typeface="Consolas" pitchFamily="34" charset="-122"/>
                <a:cs typeface="Consolas" pitchFamily="34" charset="-120"/>
              </a:rPr>
              <a:t>def convert_lead(lead_id, deal_name=None, deal_amount=0):</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lead    = must_get("leads", lead_id, "Lead")</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account = accounts.create_account(...)   # reuse if it exists</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contact = contacts.create_contact(...)</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deal    = deals.create_deal(...)         # optional</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patch("leads", lead_id, {"status": "converted", ...})</a:t>
            </a:r>
            <a:endParaRPr lang="en-US" sz="1200" dirty="0"/>
          </a:p>
          <a:p>
            <a:pPr algn="l" indent="0" marL="0">
              <a:buNone/>
            </a:pPr>
            <a:r>
              <a:rPr lang="en-US" sz="1200" dirty="0">
                <a:solidFill>
                  <a:srgbClr val="2D2D2D"/>
                </a:solidFill>
                <a:latin typeface="Consolas" pitchFamily="34" charset="0"/>
                <a:ea typeface="Consolas" pitchFamily="34" charset="-122"/>
                <a:cs typeface="Consolas" pitchFamily="34" charset="-120"/>
              </a:rPr>
              <a:t>    return {"lead":…, "account":…, "contact":…, "deal":…}</a:t>
            </a:r>
            <a:endParaRPr lang="en-US" sz="1200" dirty="0"/>
          </a:p>
        </p:txBody>
      </p:sp>
      <p:sp>
        <p:nvSpPr>
          <p:cNvPr id="10" name="Shape 8"/>
          <p:cNvSpPr/>
          <p:nvPr/>
        </p:nvSpPr>
        <p:spPr>
          <a:xfrm>
            <a:off x="7498080" y="2103120"/>
            <a:ext cx="4206240" cy="2514600"/>
          </a:xfrm>
          <a:prstGeom prst="roundRect">
            <a:avLst>
              <a:gd name="adj" fmla="val 4364"/>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1" name="Text 9"/>
          <p:cNvSpPr/>
          <p:nvPr/>
        </p:nvSpPr>
        <p:spPr>
          <a:xfrm>
            <a:off x="7680960" y="2286000"/>
            <a:ext cx="384048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WHO CALLS IT</a:t>
            </a:r>
            <a:endParaRPr lang="en-US" sz="1050" dirty="0"/>
          </a:p>
        </p:txBody>
      </p:sp>
      <p:sp>
        <p:nvSpPr>
          <p:cNvPr id="12" name="Text 10"/>
          <p:cNvSpPr/>
          <p:nvPr/>
        </p:nvSpPr>
        <p:spPr>
          <a:xfrm>
            <a:off x="7818120" y="2651760"/>
            <a:ext cx="3749040" cy="18288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The browser — Convert button</a:t>
            </a:r>
            <a:endParaRPr lang="en-US" sz="1200" dirty="0"/>
          </a:p>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The CLI — leads convert</a:t>
            </a:r>
            <a:endParaRPr lang="en-US" sz="1200" dirty="0"/>
          </a:p>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Session 3 — an MCP tool</a:t>
            </a:r>
            <a:endParaRPr lang="en-US" sz="1200" dirty="0"/>
          </a:p>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Session 5 — a Skill, via the CLI</a:t>
            </a:r>
            <a:endParaRPr lang="en-US" sz="1200" dirty="0"/>
          </a:p>
        </p:txBody>
      </p:sp>
      <p:sp>
        <p:nvSpPr>
          <p:cNvPr id="13" name="Shape 11"/>
          <p:cNvSpPr/>
          <p:nvPr/>
        </p:nvSpPr>
        <p:spPr>
          <a:xfrm>
            <a:off x="457200" y="4800600"/>
            <a:ext cx="11247120" cy="1188720"/>
          </a:xfrm>
          <a:prstGeom prst="roundRect">
            <a:avLst>
              <a:gd name="adj" fmla="val 9231"/>
            </a:avLst>
          </a:prstGeom>
          <a:solidFill>
            <a:srgbClr val="FFF4B8"/>
          </a:solidFill>
          <a:ln w="25400">
            <a:solidFill>
              <a:srgbClr val="E5BA1F"/>
            </a:solidFill>
            <a:prstDash val="solid"/>
          </a:ln>
          <a:effectLst>
            <a:outerShdw sx="100000" sy="100000" kx="0" ky="0" algn="bl" rotWithShape="0" blurRad="101600" dist="25400" dir="5400000">
              <a:srgbClr val="C4B5DC">
                <a:alpha val="18000"/>
              </a:srgbClr>
            </a:outerShdw>
          </a:effectLst>
        </p:spPr>
      </p:sp>
      <p:sp>
        <p:nvSpPr>
          <p:cNvPr id="14" name="Text 12"/>
          <p:cNvSpPr/>
          <p:nvPr/>
        </p:nvSpPr>
        <p:spPr>
          <a:xfrm>
            <a:off x="685800" y="4937760"/>
            <a:ext cx="10789920" cy="274320"/>
          </a:xfrm>
          <a:prstGeom prst="rect">
            <a:avLst/>
          </a:prstGeom>
          <a:noFill/>
          <a:ln/>
        </p:spPr>
        <p:txBody>
          <a:bodyPr wrap="square" lIns="0" tIns="0" rIns="0" bIns="0" rtlCol="0" anchor="ctr"/>
          <a:lstStyle/>
          <a:p>
            <a:pPr indent="0" marL="0">
              <a:buNone/>
            </a:pPr>
            <a:r>
              <a:rPr lang="en-US" sz="1100" b="1" spc="120" kern="0" dirty="0">
                <a:solidFill>
                  <a:srgbClr val="E5BA1F"/>
                </a:solidFill>
                <a:latin typeface="Calibri" pitchFamily="34" charset="0"/>
                <a:ea typeface="Calibri" pitchFamily="34" charset="-122"/>
                <a:cs typeface="Calibri" pitchFamily="34" charset="-120"/>
              </a:rPr>
              <a:t>Say this out loud:</a:t>
            </a:r>
            <a:endParaRPr lang="en-US" sz="1100" dirty="0"/>
          </a:p>
        </p:txBody>
      </p:sp>
      <p:sp>
        <p:nvSpPr>
          <p:cNvPr id="15" name="Text 13"/>
          <p:cNvSpPr/>
          <p:nvPr/>
        </p:nvSpPr>
        <p:spPr>
          <a:xfrm>
            <a:off x="685800" y="5257800"/>
            <a:ext cx="10789920" cy="548640"/>
          </a:xfrm>
          <a:prstGeom prst="rect">
            <a:avLst/>
          </a:prstGeom>
          <a:noFill/>
          <a:ln/>
        </p:spPr>
        <p:txBody>
          <a:bodyPr wrap="square" lIns="0" tIns="0" rIns="0" bIns="0" rtlCol="0" anchor="ctr"/>
          <a:lstStyle/>
          <a:p>
            <a:pPr indent="0" marL="0">
              <a:buNone/>
            </a:pPr>
            <a:r>
              <a:rPr lang="en-US" sz="1500" i="1" dirty="0">
                <a:solidFill>
                  <a:srgbClr val="2D2D2D"/>
                </a:solidFill>
                <a:latin typeface="Calibri" pitchFamily="34" charset="0"/>
                <a:ea typeface="Calibri" pitchFamily="34" charset="-122"/>
                <a:cs typeface="Calibri" pitchFamily="34" charset="-120"/>
              </a:rPr>
              <a:t>"If this logic lived in the web route, we would be re-implementing it three more times before this course ends."</a:t>
            </a:r>
            <a:endParaRPr lang="en-US" sz="1500" dirty="0"/>
          </a:p>
        </p:txBody>
      </p:sp>
      <p:sp>
        <p:nvSpPr>
          <p:cNvPr id="16" name="Text 14"/>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7" name="Text 15"/>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17 / 28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C · WRAP</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End of Session 1 — What We Have</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And, more importantly, what we deliberately have not done.</a:t>
            </a:r>
            <a:endParaRPr lang="en-US" sz="1400" dirty="0"/>
          </a:p>
        </p:txBody>
      </p:sp>
      <p:sp>
        <p:nvSpPr>
          <p:cNvPr id="8" name="Shape 6"/>
          <p:cNvSpPr/>
          <p:nvPr/>
        </p:nvSpPr>
        <p:spPr>
          <a:xfrm>
            <a:off x="457200" y="2148840"/>
            <a:ext cx="6858000" cy="3017520"/>
          </a:xfrm>
          <a:prstGeom prst="roundRect">
            <a:avLst>
              <a:gd name="adj" fmla="val 3636"/>
            </a:avLst>
          </a:prstGeom>
          <a:solidFill>
            <a:srgbClr val="F0F8F0"/>
          </a:solidFill>
          <a:ln w="22225">
            <a:solidFill>
              <a:srgbClr val="5A9C5A"/>
            </a:solidFill>
            <a:prstDash val="solid"/>
          </a:ln>
          <a:effectLst>
            <a:outerShdw sx="100000" sy="100000" kx="0" ky="0" algn="bl" rotWithShape="0" blurRad="101600" dist="25400" dir="5400000">
              <a:srgbClr val="C4B5DC">
                <a:alpha val="18000"/>
              </a:srgbClr>
            </a:outerShdw>
          </a:effectLst>
        </p:spPr>
      </p:sp>
      <p:sp>
        <p:nvSpPr>
          <p:cNvPr id="9" name="Text 7"/>
          <p:cNvSpPr/>
          <p:nvPr/>
        </p:nvSpPr>
        <p:spPr>
          <a:xfrm>
            <a:off x="685800" y="2331720"/>
            <a:ext cx="6400800" cy="274320"/>
          </a:xfrm>
          <a:prstGeom prst="rect">
            <a:avLst/>
          </a:prstGeom>
          <a:noFill/>
          <a:ln/>
        </p:spPr>
        <p:txBody>
          <a:bodyPr wrap="square" lIns="0" tIns="0" rIns="0" bIns="0" rtlCol="0" anchor="ctr"/>
          <a:lstStyle/>
          <a:p>
            <a:pPr indent="0" marL="0">
              <a:buNone/>
            </a:pPr>
            <a:r>
              <a:rPr lang="en-US" sz="1050" b="1" spc="140" kern="0" dirty="0">
                <a:solidFill>
                  <a:srgbClr val="5A9C5A"/>
                </a:solidFill>
                <a:latin typeface="Calibri" pitchFamily="34" charset="0"/>
                <a:ea typeface="Calibri" pitchFamily="34" charset="-122"/>
                <a:cs typeface="Calibri" pitchFamily="34" charset="-120"/>
              </a:rPr>
              <a:t>WHAT WE HAVE</a:t>
            </a:r>
            <a:endParaRPr lang="en-US" sz="1050" dirty="0"/>
          </a:p>
        </p:txBody>
      </p:sp>
      <p:sp>
        <p:nvSpPr>
          <p:cNvPr id="10" name="Text 8"/>
          <p:cNvSpPr/>
          <p:nvPr/>
        </p:nvSpPr>
        <p:spPr>
          <a:xfrm>
            <a:off x="822960" y="2697480"/>
            <a:ext cx="6309360" cy="22860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D2D2D"/>
                </a:solidFill>
                <a:latin typeface="Calibri" pitchFamily="34" charset="0"/>
                <a:ea typeface="Calibri" pitchFamily="34" charset="-122"/>
                <a:cs typeface="Calibri" pitchFamily="34" charset="-120"/>
              </a:rPr>
              <a:t>A working CRM — 9 screens, 7 tables, ~40 API routes</a:t>
            </a:r>
            <a:endParaRPr lang="en-US" sz="1250" dirty="0"/>
          </a:p>
          <a:p>
            <a:pPr marL="342900" indent="-342900">
              <a:spcAft>
                <a:spcPts val="600"/>
              </a:spcAft>
              <a:buSzPct val="100000"/>
              <a:buChar char="✓"/>
            </a:pPr>
            <a:r>
              <a:rPr lang="en-US" sz="1250" dirty="0">
                <a:solidFill>
                  <a:srgbClr val="2D2D2D"/>
                </a:solidFill>
                <a:latin typeface="Calibri" pitchFamily="34" charset="0"/>
                <a:ea typeface="Calibri" pitchFamily="34" charset="-122"/>
                <a:cs typeface="Calibri" pitchFamily="34" charset="-120"/>
              </a:rPr>
              <a:t>All logic in core/ — one copy, no duplication</a:t>
            </a:r>
            <a:endParaRPr lang="en-US" sz="1250" dirty="0"/>
          </a:p>
          <a:p>
            <a:pPr marL="342900" indent="-342900">
              <a:spcAft>
                <a:spcPts val="600"/>
              </a:spcAft>
              <a:buSzPct val="100000"/>
              <a:buChar char="✓"/>
            </a:pPr>
            <a:r>
              <a:rPr lang="en-US" sz="1250" dirty="0">
                <a:solidFill>
                  <a:srgbClr val="2D2D2D"/>
                </a:solidFill>
                <a:latin typeface="Calibri" pitchFamily="34" charset="0"/>
                <a:ea typeface="Calibri" pitchFamily="34" charset="-122"/>
                <a:cs typeface="Calibri" pitchFamily="34" charset="-120"/>
              </a:rPr>
              <a:t>Schemas with enums guarding every write</a:t>
            </a:r>
            <a:endParaRPr lang="en-US" sz="1250" dirty="0"/>
          </a:p>
          <a:p>
            <a:pPr marL="342900" indent="-342900">
              <a:spcAft>
                <a:spcPts val="600"/>
              </a:spcAft>
              <a:buSzPct val="100000"/>
              <a:buChar char="✓"/>
            </a:pPr>
            <a:r>
              <a:rPr lang="en-US" sz="1250" dirty="0">
                <a:solidFill>
                  <a:srgbClr val="2D2D2D"/>
                </a:solidFill>
                <a:latin typeface="Calibri" pitchFamily="34" charset="0"/>
                <a:ea typeface="Calibri" pitchFamily="34" charset="-122"/>
                <a:cs typeface="Calibri" pitchFamily="34" charset="-120"/>
              </a:rPr>
              <a:t>Structured errors that name the field and list valid values</a:t>
            </a:r>
            <a:endParaRPr lang="en-US" sz="1250" dirty="0"/>
          </a:p>
          <a:p>
            <a:pPr marL="342900" indent="-342900">
              <a:spcAft>
                <a:spcPts val="600"/>
              </a:spcAft>
              <a:buSzPct val="100000"/>
              <a:buChar char="✓"/>
            </a:pPr>
            <a:r>
              <a:rPr lang="en-US" sz="1250" dirty="0">
                <a:solidFill>
                  <a:srgbClr val="2D2D2D"/>
                </a:solidFill>
                <a:latin typeface="Calibri" pitchFamily="34" charset="0"/>
                <a:ea typeface="Calibri" pitchFamily="34" charset="-122"/>
                <a:cs typeface="Calibri" pitchFamily="34" charset="-120"/>
              </a:rPr>
              <a:t>A multi-step operation (convert_lead) written exactly once</a:t>
            </a:r>
            <a:endParaRPr lang="en-US" sz="1250" dirty="0"/>
          </a:p>
        </p:txBody>
      </p:sp>
      <p:sp>
        <p:nvSpPr>
          <p:cNvPr id="11" name="Shape 9"/>
          <p:cNvSpPr/>
          <p:nvPr/>
        </p:nvSpPr>
        <p:spPr>
          <a:xfrm>
            <a:off x="7498080" y="2148840"/>
            <a:ext cx="4206240" cy="3017520"/>
          </a:xfrm>
          <a:prstGeom prst="roundRect">
            <a:avLst>
              <a:gd name="adj" fmla="val 3636"/>
            </a:avLst>
          </a:prstGeom>
          <a:solidFill>
            <a:srgbClr val="FFF4B8"/>
          </a:solidFill>
          <a:ln w="31750">
            <a:solidFill>
              <a:srgbClr val="E5BA1F"/>
            </a:solidFill>
            <a:prstDash val="solid"/>
          </a:ln>
          <a:effectLst>
            <a:outerShdw sx="100000" sy="100000" kx="0" ky="0" algn="bl" rotWithShape="0" blurRad="101600" dist="25400" dir="5400000">
              <a:srgbClr val="C4B5DC">
                <a:alpha val="18000"/>
              </a:srgbClr>
            </a:outerShdw>
          </a:effectLst>
        </p:spPr>
      </p:sp>
      <p:sp>
        <p:nvSpPr>
          <p:cNvPr id="12" name="Text 10"/>
          <p:cNvSpPr/>
          <p:nvPr/>
        </p:nvSpPr>
        <p:spPr>
          <a:xfrm>
            <a:off x="7680960" y="2331720"/>
            <a:ext cx="3840480" cy="274320"/>
          </a:xfrm>
          <a:prstGeom prst="rect">
            <a:avLst/>
          </a:prstGeom>
          <a:noFill/>
          <a:ln/>
        </p:spPr>
        <p:txBody>
          <a:bodyPr wrap="square" lIns="0" tIns="0" rIns="0" bIns="0" rtlCol="0" anchor="ctr"/>
          <a:lstStyle/>
          <a:p>
            <a:pPr indent="0" marL="0">
              <a:buNone/>
            </a:pPr>
            <a:r>
              <a:rPr lang="en-US" sz="1050" b="1" spc="140" kern="0" dirty="0">
                <a:solidFill>
                  <a:srgbClr val="E5BA1F"/>
                </a:solidFill>
                <a:latin typeface="Calibri" pitchFamily="34" charset="0"/>
                <a:ea typeface="Calibri" pitchFamily="34" charset="-122"/>
                <a:cs typeface="Calibri" pitchFamily="34" charset="-120"/>
              </a:rPr>
              <a:t>WHAT WE HAVE NOT DONE</a:t>
            </a:r>
            <a:endParaRPr lang="en-US" sz="1050" dirty="0"/>
          </a:p>
        </p:txBody>
      </p:sp>
      <p:sp>
        <p:nvSpPr>
          <p:cNvPr id="13" name="Text 11"/>
          <p:cNvSpPr/>
          <p:nvPr/>
        </p:nvSpPr>
        <p:spPr>
          <a:xfrm>
            <a:off x="7680960" y="2743200"/>
            <a:ext cx="3840480" cy="457200"/>
          </a:xfrm>
          <a:prstGeom prst="rect">
            <a:avLst/>
          </a:prstGeom>
          <a:noFill/>
          <a:ln/>
        </p:spPr>
        <p:txBody>
          <a:bodyPr wrap="square" lIns="0" tIns="0" rIns="0" bIns="0" rtlCol="0" anchor="ctr"/>
          <a:lstStyle/>
          <a:p>
            <a:pPr indent="0" marL="0">
              <a:buNone/>
            </a:pPr>
            <a:r>
              <a:rPr lang="en-US" sz="2200" b="1" dirty="0">
                <a:solidFill>
                  <a:srgbClr val="6B4E96"/>
                </a:solidFill>
                <a:latin typeface="Calibri" pitchFamily="34" charset="0"/>
                <a:ea typeface="Calibri" pitchFamily="34" charset="-122"/>
                <a:cs typeface="Calibri" pitchFamily="34" charset="-120"/>
              </a:rPr>
              <a:t>Anything AI-related.</a:t>
            </a:r>
            <a:endParaRPr lang="en-US" sz="2200" dirty="0"/>
          </a:p>
        </p:txBody>
      </p:sp>
      <p:sp>
        <p:nvSpPr>
          <p:cNvPr id="14" name="Text 12"/>
          <p:cNvSpPr/>
          <p:nvPr/>
        </p:nvSpPr>
        <p:spPr>
          <a:xfrm>
            <a:off x="7680960" y="3200400"/>
            <a:ext cx="3840480" cy="365760"/>
          </a:xfrm>
          <a:prstGeom prst="rect">
            <a:avLst/>
          </a:prstGeom>
          <a:noFill/>
          <a:ln/>
        </p:spPr>
        <p:txBody>
          <a:bodyPr wrap="square" lIns="0" tIns="0" rIns="0" bIns="0" rtlCol="0" anchor="ctr"/>
          <a:lstStyle/>
          <a:p>
            <a:pPr indent="0" marL="0">
              <a:buNone/>
            </a:pPr>
            <a:r>
              <a:rPr lang="en-US" sz="2200" b="1" dirty="0">
                <a:solidFill>
                  <a:srgbClr val="6B4E96"/>
                </a:solidFill>
                <a:latin typeface="Calibri" pitchFamily="34" charset="0"/>
                <a:ea typeface="Calibri" pitchFamily="34" charset="-122"/>
                <a:cs typeface="Calibri" pitchFamily="34" charset="-120"/>
              </a:rPr>
              <a:t>Not one line.</a:t>
            </a:r>
            <a:endParaRPr lang="en-US" sz="2200" dirty="0"/>
          </a:p>
        </p:txBody>
      </p:sp>
      <p:sp>
        <p:nvSpPr>
          <p:cNvPr id="15" name="Text 13"/>
          <p:cNvSpPr/>
          <p:nvPr/>
        </p:nvSpPr>
        <p:spPr>
          <a:xfrm>
            <a:off x="7680960" y="3749040"/>
            <a:ext cx="3840480" cy="128016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Everything today was ordinary software engineering.</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That ordinary work is about 80% of what makes an application agent-ready.</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Most people skip it, then wonder why their MCP server is unreliable.</a:t>
            </a:r>
            <a:endParaRPr lang="en-US" sz="1200" dirty="0"/>
          </a:p>
        </p:txBody>
      </p:sp>
      <p:sp>
        <p:nvSpPr>
          <p:cNvPr id="16" name="Shape 14"/>
          <p:cNvSpPr/>
          <p:nvPr/>
        </p:nvSpPr>
        <p:spPr>
          <a:xfrm>
            <a:off x="457200" y="5394960"/>
            <a:ext cx="11247120" cy="457200"/>
          </a:xfrm>
          <a:prstGeom prst="roundRect">
            <a:avLst>
              <a:gd name="adj" fmla="val 20000"/>
            </a:avLst>
          </a:prstGeom>
          <a:solidFill>
            <a:srgbClr val="FFF4B8"/>
          </a:solidFill>
          <a:ln w="12700">
            <a:solidFill>
              <a:srgbClr val="E5BA1F"/>
            </a:solidFill>
            <a:prstDash val="solid"/>
          </a:ln>
        </p:spPr>
      </p:sp>
      <p:sp>
        <p:nvSpPr>
          <p:cNvPr id="17" name="Text 15"/>
          <p:cNvSpPr/>
          <p:nvPr/>
        </p:nvSpPr>
        <p:spPr>
          <a:xfrm>
            <a:off x="640080" y="5394960"/>
            <a:ext cx="10881360" cy="457200"/>
          </a:xfrm>
          <a:prstGeom prst="rect">
            <a:avLst/>
          </a:prstGeom>
          <a:noFill/>
          <a:ln/>
        </p:spPr>
        <p:txBody>
          <a:bodyPr wrap="square" rtlCol="0" anchor="ctr"/>
          <a:lstStyle/>
          <a:p>
            <a:pPr algn="ctr" indent="0" marL="0">
              <a:buNone/>
            </a:pPr>
            <a:r>
              <a:rPr lang="en-US" sz="1300" b="1" i="1" dirty="0">
                <a:solidFill>
                  <a:srgbClr val="2D2D2D"/>
                </a:solidFill>
                <a:latin typeface="Calibri" pitchFamily="34" charset="0"/>
                <a:ea typeface="Calibri" pitchFamily="34" charset="-122"/>
                <a:cs typeface="Calibri" pitchFamily="34" charset="-120"/>
              </a:rPr>
              <a:t>Break here. Session 2 starts with a question: can we add a second interface without touching core/ at all?</a:t>
            </a:r>
            <a:endParaRPr lang="en-US" sz="1300" dirty="0"/>
          </a:p>
        </p:txBody>
      </p:sp>
      <p:sp>
        <p:nvSpPr>
          <p:cNvPr id="18" name="Text 16"/>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9" name="Text 17"/>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18 / 28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D · SESSION 2</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Why Build a CLI Before MCP?</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Because a CLI tests our claim using zero new concepts.</a:t>
            </a:r>
            <a:endParaRPr lang="en-US" sz="1400" dirty="0"/>
          </a:p>
        </p:txBody>
      </p:sp>
      <p:sp>
        <p:nvSpPr>
          <p:cNvPr id="8" name="Shape 6"/>
          <p:cNvSpPr/>
          <p:nvPr/>
        </p:nvSpPr>
        <p:spPr>
          <a:xfrm>
            <a:off x="457200" y="2194560"/>
            <a:ext cx="11247120" cy="1371600"/>
          </a:xfrm>
          <a:prstGeom prst="roundRect">
            <a:avLst>
              <a:gd name="adj" fmla="val 8000"/>
            </a:avLst>
          </a:prstGeom>
          <a:solidFill>
            <a:srgbClr val="EDE5F7"/>
          </a:solidFill>
          <a:ln w="31750">
            <a:solidFill>
              <a:srgbClr val="6B4E96"/>
            </a:solidFill>
            <a:prstDash val="solid"/>
          </a:ln>
          <a:effectLst>
            <a:outerShdw sx="100000" sy="100000" kx="0" ky="0" algn="bl" rotWithShape="0" blurRad="101600" dist="25400" dir="5400000">
              <a:srgbClr val="C4B5DC">
                <a:alpha val="18000"/>
              </a:srgbClr>
            </a:outerShdw>
          </a:effectLst>
        </p:spPr>
      </p:sp>
      <p:sp>
        <p:nvSpPr>
          <p:cNvPr id="9" name="Text 7"/>
          <p:cNvSpPr/>
          <p:nvPr/>
        </p:nvSpPr>
        <p:spPr>
          <a:xfrm>
            <a:off x="685800" y="2377440"/>
            <a:ext cx="10789920" cy="411480"/>
          </a:xfrm>
          <a:prstGeom prst="rect">
            <a:avLst/>
          </a:prstGeom>
          <a:noFill/>
          <a:ln/>
        </p:spPr>
        <p:txBody>
          <a:bodyPr wrap="square" lIns="0" tIns="0" rIns="0" bIns="0" rtlCol="0" anchor="ctr"/>
          <a:lstStyle/>
          <a:p>
            <a:pPr indent="0" marL="0">
              <a:buNone/>
            </a:pPr>
            <a:r>
              <a:rPr lang="en-US" sz="1700" dirty="0">
                <a:solidFill>
                  <a:srgbClr val="2D2D2D"/>
                </a:solidFill>
                <a:latin typeface="Calibri" pitchFamily="34" charset="0"/>
                <a:ea typeface="Calibri" pitchFamily="34" charset="-122"/>
                <a:cs typeface="Calibri" pitchFamily="34" charset="-120"/>
              </a:rPr>
              <a:t>We claimed:  "Adding a new interface should be cheap."</a:t>
            </a:r>
            <a:endParaRPr lang="en-US" sz="1700" dirty="0"/>
          </a:p>
        </p:txBody>
      </p:sp>
      <p:sp>
        <p:nvSpPr>
          <p:cNvPr id="10" name="Text 8"/>
          <p:cNvSpPr/>
          <p:nvPr/>
        </p:nvSpPr>
        <p:spPr>
          <a:xfrm>
            <a:off x="685800" y="2834640"/>
            <a:ext cx="10789920" cy="411480"/>
          </a:xfrm>
          <a:prstGeom prst="rect">
            <a:avLst/>
          </a:prstGeom>
          <a:noFill/>
          <a:ln/>
        </p:spPr>
        <p:txBody>
          <a:bodyPr wrap="square" lIns="0" tIns="0" rIns="0" bIns="0" rtlCol="0" anchor="ctr"/>
          <a:lstStyle/>
          <a:p>
            <a:pPr indent="0" marL="0">
              <a:buNone/>
            </a:pPr>
            <a:r>
              <a:rPr lang="en-US" sz="1700" b="1" dirty="0">
                <a:solidFill>
                  <a:srgbClr val="6B4E96"/>
                </a:solidFill>
                <a:latin typeface="Calibri" pitchFamily="34" charset="0"/>
                <a:ea typeface="Calibri" pitchFamily="34" charset="-122"/>
                <a:cs typeface="Calibri" pitchFamily="34" charset="-120"/>
              </a:rPr>
              <a:t>So let us add one — and see whether we have to touch core/ even once.</a:t>
            </a:r>
            <a:endParaRPr lang="en-US" sz="1700" dirty="0"/>
          </a:p>
        </p:txBody>
      </p:sp>
      <p:sp>
        <p:nvSpPr>
          <p:cNvPr id="11" name="Shape 9"/>
          <p:cNvSpPr/>
          <p:nvPr/>
        </p:nvSpPr>
        <p:spPr>
          <a:xfrm>
            <a:off x="457200" y="3794760"/>
            <a:ext cx="5532120" cy="2148840"/>
          </a:xfrm>
          <a:prstGeom prst="roundRect">
            <a:avLst>
              <a:gd name="adj" fmla="val 5106"/>
            </a:avLst>
          </a:prstGeom>
          <a:solidFill>
            <a:srgbClr val="FBEEEE"/>
          </a:solidFill>
          <a:ln w="22225">
            <a:solidFill>
              <a:srgbClr val="D67373"/>
            </a:solidFill>
            <a:prstDash val="solid"/>
          </a:ln>
          <a:effectLst>
            <a:outerShdw sx="100000" sy="100000" kx="0" ky="0" algn="bl" rotWithShape="0" blurRad="101600" dist="25400" dir="5400000">
              <a:srgbClr val="C4B5DC">
                <a:alpha val="18000"/>
              </a:srgbClr>
            </a:outerShdw>
          </a:effectLst>
        </p:spPr>
      </p:sp>
      <p:sp>
        <p:nvSpPr>
          <p:cNvPr id="12" name="Text 10"/>
          <p:cNvSpPr/>
          <p:nvPr/>
        </p:nvSpPr>
        <p:spPr>
          <a:xfrm>
            <a:off x="640080" y="3977640"/>
            <a:ext cx="5166360" cy="274320"/>
          </a:xfrm>
          <a:prstGeom prst="rect">
            <a:avLst/>
          </a:prstGeom>
          <a:noFill/>
          <a:ln/>
        </p:spPr>
        <p:txBody>
          <a:bodyPr wrap="square" lIns="0" tIns="0" rIns="0" bIns="0" rtlCol="0" anchor="ctr"/>
          <a:lstStyle/>
          <a:p>
            <a:pPr indent="0" marL="0">
              <a:buNone/>
            </a:pPr>
            <a:r>
              <a:rPr lang="en-US" sz="1050" b="1" spc="140" kern="0" dirty="0">
                <a:solidFill>
                  <a:srgbClr val="D67373"/>
                </a:solidFill>
                <a:latin typeface="Calibri" pitchFamily="34" charset="0"/>
                <a:ea typeface="Calibri" pitchFamily="34" charset="-122"/>
                <a:cs typeface="Calibri" pitchFamily="34" charset="-120"/>
              </a:rPr>
              <a:t>IF WE JUMPED STRAIGHT TO MCP</a:t>
            </a:r>
            <a:endParaRPr lang="en-US" sz="1050" dirty="0"/>
          </a:p>
        </p:txBody>
      </p:sp>
      <p:sp>
        <p:nvSpPr>
          <p:cNvPr id="13" name="Text 11"/>
          <p:cNvSpPr/>
          <p:nvPr/>
        </p:nvSpPr>
        <p:spPr>
          <a:xfrm>
            <a:off x="777240" y="4343400"/>
            <a:ext cx="5029200" cy="141732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New protocol, new SDK, new client setup</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Something breaks — was it the architecture, or the protocol?</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You cannot tell. So you learn nothing.</a:t>
            </a:r>
            <a:endParaRPr lang="en-US" sz="1150" dirty="0"/>
          </a:p>
        </p:txBody>
      </p:sp>
      <p:sp>
        <p:nvSpPr>
          <p:cNvPr id="14" name="Shape 12"/>
          <p:cNvSpPr/>
          <p:nvPr/>
        </p:nvSpPr>
        <p:spPr>
          <a:xfrm>
            <a:off x="6172200" y="3794760"/>
            <a:ext cx="5532120" cy="2148840"/>
          </a:xfrm>
          <a:prstGeom prst="roundRect">
            <a:avLst>
              <a:gd name="adj" fmla="val 5106"/>
            </a:avLst>
          </a:prstGeom>
          <a:solidFill>
            <a:srgbClr val="F0F8F0"/>
          </a:solidFill>
          <a:ln w="22225">
            <a:solidFill>
              <a:srgbClr val="5A9C5A"/>
            </a:solidFill>
            <a:prstDash val="solid"/>
          </a:ln>
          <a:effectLst>
            <a:outerShdw sx="100000" sy="100000" kx="0" ky="0" algn="bl" rotWithShape="0" blurRad="101600" dist="25400" dir="5400000">
              <a:srgbClr val="C4B5DC">
                <a:alpha val="18000"/>
              </a:srgbClr>
            </a:outerShdw>
          </a:effectLst>
        </p:spPr>
      </p:sp>
      <p:sp>
        <p:nvSpPr>
          <p:cNvPr id="15" name="Text 13"/>
          <p:cNvSpPr/>
          <p:nvPr/>
        </p:nvSpPr>
        <p:spPr>
          <a:xfrm>
            <a:off x="6355080" y="3977640"/>
            <a:ext cx="5166360" cy="274320"/>
          </a:xfrm>
          <a:prstGeom prst="rect">
            <a:avLst/>
          </a:prstGeom>
          <a:noFill/>
          <a:ln/>
        </p:spPr>
        <p:txBody>
          <a:bodyPr wrap="square" lIns="0" tIns="0" rIns="0" bIns="0" rtlCol="0" anchor="ctr"/>
          <a:lstStyle/>
          <a:p>
            <a:pPr indent="0" marL="0">
              <a:buNone/>
            </a:pPr>
            <a:r>
              <a:rPr lang="en-US" sz="1050" b="1" spc="140" kern="0" dirty="0">
                <a:solidFill>
                  <a:srgbClr val="5A9C5A"/>
                </a:solidFill>
                <a:latin typeface="Calibri" pitchFamily="34" charset="0"/>
                <a:ea typeface="Calibri" pitchFamily="34" charset="-122"/>
                <a:cs typeface="Calibri" pitchFamily="34" charset="-120"/>
              </a:rPr>
              <a:t>WITH A CLI FIRST</a:t>
            </a:r>
            <a:endParaRPr lang="en-US" sz="1050" dirty="0"/>
          </a:p>
        </p:txBody>
      </p:sp>
      <p:sp>
        <p:nvSpPr>
          <p:cNvPr id="16" name="Text 14"/>
          <p:cNvSpPr/>
          <p:nvPr/>
        </p:nvSpPr>
        <p:spPr>
          <a:xfrm>
            <a:off x="6492240" y="4343400"/>
            <a:ext cx="5029200" cy="1417320"/>
          </a:xfrm>
          <a:prstGeom prst="rect">
            <a:avLst/>
          </a:prstGeom>
          <a:noFill/>
          <a:ln/>
        </p:spPr>
        <p:txBody>
          <a:bodyPr wrap="square" lIns="0" tIns="0" rIns="0" bIns="0" rtlCol="0" anchor="ctr"/>
          <a:lstStyle/>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Boring, well-understood interface</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If the architecture holds here, it holds for MCP</a:t>
            </a:r>
            <a:endParaRPr lang="en-US" sz="1150" dirty="0"/>
          </a:p>
          <a:p>
            <a:pPr marL="342900" indent="-342900">
              <a:spcAft>
                <a:spcPts val="400"/>
              </a:spcAft>
              <a:buSzPct val="100000"/>
              <a:buChar char="✓"/>
            </a:pPr>
            <a:r>
              <a:rPr lang="en-US" sz="1150" dirty="0">
                <a:solidFill>
                  <a:srgbClr val="2D2D2D"/>
                </a:solidFill>
                <a:latin typeface="Calibri" pitchFamily="34" charset="0"/>
                <a:ea typeface="Calibri" pitchFamily="34" charset="-122"/>
                <a:cs typeface="Calibri" pitchFamily="34" charset="-120"/>
              </a:rPr>
              <a:t>You test one variable at a time</a:t>
            </a:r>
            <a:endParaRPr lang="en-US" sz="1150" dirty="0"/>
          </a:p>
        </p:txBody>
      </p:sp>
      <p:sp>
        <p:nvSpPr>
          <p:cNvPr id="17" name="Text 15"/>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8" name="Text 16"/>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19 / 28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D · LIVE DEMO</a:t>
            </a:r>
            <a:endParaRPr lang="en-US" sz="1000" dirty="0"/>
          </a:p>
        </p:txBody>
      </p:sp>
      <p:sp>
        <p:nvSpPr>
          <p:cNvPr id="4" name="Shape 2"/>
          <p:cNvSpPr/>
          <p:nvPr/>
        </p:nvSpPr>
        <p:spPr>
          <a:xfrm>
            <a:off x="457200" y="1371600"/>
            <a:ext cx="6766560" cy="91440"/>
          </a:xfrm>
          <a:prstGeom prst="roundRect">
            <a:avLst>
              <a:gd name="adj" fmla="val 50000"/>
            </a:avLst>
          </a:prstGeom>
          <a:solidFill>
            <a:srgbClr val="FFD93D">
              <a:alpha val="70000"/>
            </a:srgbClr>
          </a:solidFill>
          <a:ln w="12700">
            <a:solidFill>
              <a:srgbClr val="FFD93D">
                <a:alpha val="0"/>
              </a:srgbClr>
            </a:solidFill>
            <a:prstDash val="solid"/>
          </a:ln>
        </p:spPr>
      </p:sp>
      <p:sp>
        <p:nvSpPr>
          <p:cNvPr id="5" name="Shape 3"/>
          <p:cNvSpPr/>
          <p:nvPr/>
        </p:nvSpPr>
        <p:spPr>
          <a:xfrm>
            <a:off x="457200" y="502920"/>
            <a:ext cx="164592" cy="164592"/>
          </a:xfrm>
          <a:prstGeom prst="ellipse">
            <a:avLst/>
          </a:prstGeom>
          <a:solidFill>
            <a:srgbClr val="FFD93D"/>
          </a:solidFill>
          <a:ln w="12700">
            <a:solidFill>
              <a:srgbClr val="FFD93D"/>
            </a:solidFill>
            <a:prstDash val="solid"/>
          </a:ln>
        </p:spPr>
      </p:sp>
      <p:sp>
        <p:nvSpPr>
          <p:cNvPr id="6" name="Shape 4"/>
          <p:cNvSpPr/>
          <p:nvPr/>
        </p:nvSpPr>
        <p:spPr>
          <a:xfrm>
            <a:off x="658368" y="502920"/>
            <a:ext cx="164592" cy="164592"/>
          </a:xfrm>
          <a:prstGeom prst="ellipse">
            <a:avLst/>
          </a:prstGeom>
          <a:solidFill>
            <a:srgbClr val="9B7FBE"/>
          </a:solidFill>
          <a:ln w="12700">
            <a:solidFill>
              <a:srgbClr val="9B7FBE"/>
            </a:solidFill>
            <a:prstDash val="solid"/>
          </a:ln>
        </p:spPr>
      </p:sp>
      <p:sp>
        <p:nvSpPr>
          <p:cNvPr id="7" name="Text 5"/>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 Live Demo — Same Numbers, Two Doors</a:t>
            </a:r>
            <a:endParaRPr lang="en-US" sz="2800" dirty="0"/>
          </a:p>
        </p:txBody>
      </p:sp>
      <p:sp>
        <p:nvSpPr>
          <p:cNvPr id="8" name="Text 6"/>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Browser on one half of the screen. Terminal on the other.</a:t>
            </a:r>
            <a:endParaRPr lang="en-US" sz="1400" dirty="0"/>
          </a:p>
        </p:txBody>
      </p:sp>
      <p:sp>
        <p:nvSpPr>
          <p:cNvPr id="9" name="Shape 7"/>
          <p:cNvSpPr/>
          <p:nvPr/>
        </p:nvSpPr>
        <p:spPr>
          <a:xfrm>
            <a:off x="457200" y="2103120"/>
            <a:ext cx="11247120" cy="640080"/>
          </a:xfrm>
          <a:prstGeom prst="roundRect">
            <a:avLst>
              <a:gd name="adj" fmla="val 11429"/>
            </a:avLst>
          </a:prstGeom>
          <a:solidFill>
            <a:srgbClr val="F6F2FB"/>
          </a:solidFill>
          <a:ln w="9525">
            <a:solidFill>
              <a:srgbClr val="C5B3DC"/>
            </a:solidFill>
            <a:prstDash val="solid"/>
          </a:ln>
        </p:spPr>
      </p:sp>
      <p:sp>
        <p:nvSpPr>
          <p:cNvPr id="10" name="Text 8"/>
          <p:cNvSpPr/>
          <p:nvPr/>
        </p:nvSpPr>
        <p:spPr>
          <a:xfrm>
            <a:off x="640080" y="2212848"/>
            <a:ext cx="10881360" cy="420624"/>
          </a:xfrm>
          <a:prstGeom prst="rect">
            <a:avLst/>
          </a:prstGeom>
          <a:noFill/>
          <a:ln/>
        </p:spPr>
        <p:txBody>
          <a:bodyPr wrap="square" lIns="0" tIns="0" rIns="0" bIns="0" rtlCol="0" anchor="t"/>
          <a:lstStyle/>
          <a:p>
            <a:pPr algn="l" indent="0" marL="0">
              <a:buNone/>
            </a:pPr>
            <a:r>
              <a:rPr lang="en-US" sz="1500" dirty="0">
                <a:solidFill>
                  <a:srgbClr val="2D2D2D"/>
                </a:solidFill>
                <a:latin typeface="Consolas" pitchFamily="34" charset="0"/>
                <a:ea typeface="Consolas" pitchFamily="34" charset="-122"/>
                <a:cs typeface="Consolas" pitchFamily="34" charset="-120"/>
              </a:rPr>
              <a:t>python cli.py dashboard</a:t>
            </a:r>
            <a:endParaRPr lang="en-US" sz="1500" dirty="0"/>
          </a:p>
        </p:txBody>
      </p:sp>
      <p:sp>
        <p:nvSpPr>
          <p:cNvPr id="11" name="Shape 9"/>
          <p:cNvSpPr/>
          <p:nvPr/>
        </p:nvSpPr>
        <p:spPr>
          <a:xfrm>
            <a:off x="457200" y="2926080"/>
            <a:ext cx="5532120" cy="2194560"/>
          </a:xfrm>
          <a:prstGeom prst="roundRect">
            <a:avLst>
              <a:gd name="adj" fmla="val 5000"/>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2" name="Text 10"/>
          <p:cNvSpPr/>
          <p:nvPr/>
        </p:nvSpPr>
        <p:spPr>
          <a:xfrm>
            <a:off x="640080" y="3108960"/>
            <a:ext cx="516636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WHAT TO DO</a:t>
            </a:r>
            <a:endParaRPr lang="en-US" sz="1050" dirty="0"/>
          </a:p>
        </p:txBody>
      </p:sp>
      <p:sp>
        <p:nvSpPr>
          <p:cNvPr id="13" name="Text 11"/>
          <p:cNvSpPr/>
          <p:nvPr/>
        </p:nvSpPr>
        <p:spPr>
          <a:xfrm>
            <a:off x="777240" y="3474720"/>
            <a:ext cx="5029200" cy="146304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Put the browser dashboard and the terminal side by side</a:t>
            </a:r>
            <a:endParaRPr lang="en-US" sz="1200" dirty="0"/>
          </a:p>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Read one number off each</a:t>
            </a:r>
            <a:endParaRPr lang="en-US" sz="1200" dirty="0"/>
          </a:p>
          <a:p>
            <a:pPr marL="342900" indent="-342900">
              <a:spcAft>
                <a:spcPts val="400"/>
              </a:spcAft>
              <a:buSzPct val="100000"/>
              <a:buChar char="➤"/>
            </a:pPr>
            <a:r>
              <a:rPr lang="en-US" sz="1200" dirty="0">
                <a:solidFill>
                  <a:srgbClr val="2D2D2D"/>
                </a:solidFill>
                <a:latin typeface="Calibri" pitchFamily="34" charset="0"/>
                <a:ea typeface="Calibri" pitchFamily="34" charset="-122"/>
                <a:cs typeface="Calibri" pitchFamily="34" charset="-120"/>
              </a:rPr>
              <a:t>They match</a:t>
            </a:r>
            <a:endParaRPr lang="en-US" sz="1200" dirty="0"/>
          </a:p>
        </p:txBody>
      </p:sp>
      <p:sp>
        <p:nvSpPr>
          <p:cNvPr id="14" name="Shape 12"/>
          <p:cNvSpPr/>
          <p:nvPr/>
        </p:nvSpPr>
        <p:spPr>
          <a:xfrm>
            <a:off x="6172200" y="2926080"/>
            <a:ext cx="5532120" cy="2194560"/>
          </a:xfrm>
          <a:prstGeom prst="roundRect">
            <a:avLst>
              <a:gd name="adj" fmla="val 5000"/>
            </a:avLst>
          </a:prstGeom>
          <a:solidFill>
            <a:srgbClr val="F0F8F0"/>
          </a:solidFill>
          <a:ln w="22225">
            <a:solidFill>
              <a:srgbClr val="5A9C5A"/>
            </a:solidFill>
            <a:prstDash val="solid"/>
          </a:ln>
          <a:effectLst>
            <a:outerShdw sx="100000" sy="100000" kx="0" ky="0" algn="bl" rotWithShape="0" blurRad="101600" dist="25400" dir="5400000">
              <a:srgbClr val="C4B5DC">
                <a:alpha val="18000"/>
              </a:srgbClr>
            </a:outerShdw>
          </a:effectLst>
        </p:spPr>
      </p:sp>
      <p:sp>
        <p:nvSpPr>
          <p:cNvPr id="15" name="Text 13"/>
          <p:cNvSpPr/>
          <p:nvPr/>
        </p:nvSpPr>
        <p:spPr>
          <a:xfrm>
            <a:off x="6355080" y="3108960"/>
            <a:ext cx="5166360" cy="274320"/>
          </a:xfrm>
          <a:prstGeom prst="rect">
            <a:avLst/>
          </a:prstGeom>
          <a:noFill/>
          <a:ln/>
        </p:spPr>
        <p:txBody>
          <a:bodyPr wrap="square" lIns="0" tIns="0" rIns="0" bIns="0" rtlCol="0" anchor="ctr"/>
          <a:lstStyle/>
          <a:p>
            <a:pPr indent="0" marL="0">
              <a:buNone/>
            </a:pPr>
            <a:r>
              <a:rPr lang="en-US" sz="1050" b="1" spc="140" kern="0" dirty="0">
                <a:solidFill>
                  <a:srgbClr val="5A9C5A"/>
                </a:solidFill>
                <a:latin typeface="Calibri" pitchFamily="34" charset="0"/>
                <a:ea typeface="Calibri" pitchFamily="34" charset="-122"/>
                <a:cs typeface="Calibri" pitchFamily="34" charset="-120"/>
              </a:rPr>
              <a:t>WHY THEY MATCH</a:t>
            </a:r>
            <a:endParaRPr lang="en-US" sz="1050" dirty="0"/>
          </a:p>
        </p:txBody>
      </p:sp>
      <p:sp>
        <p:nvSpPr>
          <p:cNvPr id="16" name="Text 14"/>
          <p:cNvSpPr/>
          <p:nvPr/>
        </p:nvSpPr>
        <p:spPr>
          <a:xfrm>
            <a:off x="6355080" y="3474720"/>
            <a:ext cx="5166360" cy="1463040"/>
          </a:xfrm>
          <a:prstGeom prst="rect">
            <a:avLst/>
          </a:prstGeom>
          <a:noFill/>
          <a:ln/>
        </p:spPr>
        <p:txBody>
          <a:bodyPr wrap="square" lIns="0" tIns="0" rIns="0" bIns="0" rtlCol="0" anchor="ctr"/>
          <a:lstStyle/>
          <a:p>
            <a:pPr indent="0" marL="0">
              <a:buNone/>
            </a:pPr>
            <a:r>
              <a:rPr lang="en-US" sz="1250" dirty="0">
                <a:solidFill>
                  <a:srgbClr val="2D2D2D"/>
                </a:solidFill>
                <a:latin typeface="Calibri" pitchFamily="34" charset="0"/>
                <a:ea typeface="Calibri" pitchFamily="34" charset="-122"/>
                <a:cs typeface="Calibri" pitchFamily="34" charset="-120"/>
              </a:rPr>
              <a:t>They are the same number.</a:t>
            </a:r>
            <a:endParaRPr lang="en-US" sz="1250" dirty="0"/>
          </a:p>
          <a:p>
            <a:pPr indent="0" marL="0">
              <a:buNone/>
            </a:pP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One function — analytics.dashboard() —</a:t>
            </a: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called from two places.</a:t>
            </a:r>
            <a:endParaRPr lang="en-US" sz="1250" dirty="0"/>
          </a:p>
          <a:p>
            <a:pPr indent="0" marL="0">
              <a:buNone/>
            </a:pPr>
            <a:endParaRPr lang="en-US" sz="1250" dirty="0"/>
          </a:p>
          <a:p>
            <a:pPr indent="0" marL="0">
              <a:buNone/>
            </a:pPr>
            <a:r>
              <a:rPr lang="en-US" sz="1250" dirty="0">
                <a:solidFill>
                  <a:srgbClr val="2D2D2D"/>
                </a:solidFill>
                <a:latin typeface="Calibri" pitchFamily="34" charset="0"/>
                <a:ea typeface="Calibri" pitchFamily="34" charset="-122"/>
                <a:cs typeface="Calibri" pitchFamily="34" charset="-120"/>
              </a:rPr>
              <a:t>The CLI does not call the web API. They are peers over one core.</a:t>
            </a:r>
            <a:endParaRPr lang="en-US" sz="1250" dirty="0"/>
          </a:p>
        </p:txBody>
      </p:sp>
      <p:sp>
        <p:nvSpPr>
          <p:cNvPr id="17" name="Shape 15"/>
          <p:cNvSpPr/>
          <p:nvPr/>
        </p:nvSpPr>
        <p:spPr>
          <a:xfrm>
            <a:off x="457200" y="5349240"/>
            <a:ext cx="11247120" cy="548640"/>
          </a:xfrm>
          <a:prstGeom prst="roundRect">
            <a:avLst>
              <a:gd name="adj" fmla="val 16667"/>
            </a:avLst>
          </a:prstGeom>
          <a:solidFill>
            <a:srgbClr val="FFF4B8"/>
          </a:solidFill>
          <a:ln w="12700">
            <a:solidFill>
              <a:srgbClr val="E5BA1F"/>
            </a:solidFill>
            <a:prstDash val="solid"/>
          </a:ln>
        </p:spPr>
      </p:sp>
      <p:sp>
        <p:nvSpPr>
          <p:cNvPr id="18" name="Text 16"/>
          <p:cNvSpPr/>
          <p:nvPr/>
        </p:nvSpPr>
        <p:spPr>
          <a:xfrm>
            <a:off x="640080" y="5349240"/>
            <a:ext cx="10881360" cy="548640"/>
          </a:xfrm>
          <a:prstGeom prst="rect">
            <a:avLst/>
          </a:prstGeom>
          <a:noFill/>
          <a:ln/>
        </p:spPr>
        <p:txBody>
          <a:bodyPr wrap="square" rtlCol="0" anchor="ctr"/>
          <a:lstStyle/>
          <a:p>
            <a:pPr algn="ctr" indent="0" marL="0">
              <a:buNone/>
            </a:pPr>
            <a:r>
              <a:rPr lang="en-US" sz="1350" b="1" i="1" dirty="0">
                <a:solidFill>
                  <a:srgbClr val="2D2D2D"/>
                </a:solidFill>
                <a:latin typeface="Calibri" pitchFamily="34" charset="0"/>
                <a:ea typeface="Calibri" pitchFamily="34" charset="-122"/>
                <a:cs typeface="Calibri" pitchFamily="34" charset="-120"/>
              </a:rPr>
              <a:t>Nobody wrote sync code. There is nothing to keep in sync — there is only one copy of the calculation.</a:t>
            </a:r>
            <a:endParaRPr lang="en-US" sz="1350" dirty="0"/>
          </a:p>
        </p:txBody>
      </p:sp>
      <p:sp>
        <p:nvSpPr>
          <p:cNvPr id="19" name="Text 17"/>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20" name="Text 18"/>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20 / 28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D · HANDS-ON</a:t>
            </a:r>
            <a:endParaRPr lang="en-US" sz="1000" dirty="0"/>
          </a:p>
        </p:txBody>
      </p:sp>
      <p:sp>
        <p:nvSpPr>
          <p:cNvPr id="4" name="Shape 2"/>
          <p:cNvSpPr/>
          <p:nvPr/>
        </p:nvSpPr>
        <p:spPr>
          <a:xfrm>
            <a:off x="457200" y="1371600"/>
            <a:ext cx="6949440" cy="91440"/>
          </a:xfrm>
          <a:prstGeom prst="roundRect">
            <a:avLst>
              <a:gd name="adj" fmla="val 50000"/>
            </a:avLst>
          </a:prstGeom>
          <a:solidFill>
            <a:srgbClr val="FFD93D">
              <a:alpha val="70000"/>
            </a:srgbClr>
          </a:solidFill>
          <a:ln w="12700">
            <a:solidFill>
              <a:srgbClr val="FFD93D">
                <a:alpha val="0"/>
              </a:srgbClr>
            </a:solidFill>
            <a:prstDash val="solid"/>
          </a:ln>
        </p:spPr>
      </p:sp>
      <p:sp>
        <p:nvSpPr>
          <p:cNvPr id="5" name="Shape 3"/>
          <p:cNvSpPr/>
          <p:nvPr/>
        </p:nvSpPr>
        <p:spPr>
          <a:xfrm>
            <a:off x="457200" y="502920"/>
            <a:ext cx="164592" cy="164592"/>
          </a:xfrm>
          <a:prstGeom prst="ellipse">
            <a:avLst/>
          </a:prstGeom>
          <a:solidFill>
            <a:srgbClr val="FFD93D"/>
          </a:solidFill>
          <a:ln w="12700">
            <a:solidFill>
              <a:srgbClr val="FFD93D"/>
            </a:solidFill>
            <a:prstDash val="solid"/>
          </a:ln>
        </p:spPr>
      </p:sp>
      <p:sp>
        <p:nvSpPr>
          <p:cNvPr id="6" name="Shape 4"/>
          <p:cNvSpPr/>
          <p:nvPr/>
        </p:nvSpPr>
        <p:spPr>
          <a:xfrm>
            <a:off x="658368" y="502920"/>
            <a:ext cx="164592" cy="164592"/>
          </a:xfrm>
          <a:prstGeom prst="ellipse">
            <a:avLst/>
          </a:prstGeom>
          <a:solidFill>
            <a:srgbClr val="9B7FBE"/>
          </a:solidFill>
          <a:ln w="12700">
            <a:solidFill>
              <a:srgbClr val="9B7FBE"/>
            </a:solidFill>
            <a:prstDash val="solid"/>
          </a:ln>
        </p:spPr>
      </p:sp>
      <p:sp>
        <p:nvSpPr>
          <p:cNvPr id="7" name="Text 5"/>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 Hands-On — Do Real Work in the Terminal</a:t>
            </a:r>
            <a:endParaRPr lang="en-US" sz="2800" dirty="0"/>
          </a:p>
        </p:txBody>
      </p:sp>
      <p:sp>
        <p:nvSpPr>
          <p:cNvPr id="8" name="Text 6"/>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12 minutes · then refresh the browser and watch your work appear.</a:t>
            </a:r>
            <a:endParaRPr lang="en-US" sz="1400" dirty="0"/>
          </a:p>
        </p:txBody>
      </p:sp>
      <p:sp>
        <p:nvSpPr>
          <p:cNvPr id="9" name="Shape 7"/>
          <p:cNvSpPr/>
          <p:nvPr/>
        </p:nvSpPr>
        <p:spPr>
          <a:xfrm>
            <a:off x="457200" y="1920240"/>
            <a:ext cx="2743200" cy="365760"/>
          </a:xfrm>
          <a:prstGeom prst="roundRect">
            <a:avLst>
              <a:gd name="adj" fmla="val 50000"/>
            </a:avLst>
          </a:prstGeom>
          <a:solidFill>
            <a:srgbClr val="EDE5F7"/>
          </a:solidFill>
          <a:ln w="12700">
            <a:solidFill>
              <a:srgbClr val="9B7FBE"/>
            </a:solidFill>
            <a:prstDash val="solid"/>
          </a:ln>
        </p:spPr>
      </p:sp>
      <p:sp>
        <p:nvSpPr>
          <p:cNvPr id="10" name="Text 8"/>
          <p:cNvSpPr/>
          <p:nvPr/>
        </p:nvSpPr>
        <p:spPr>
          <a:xfrm>
            <a:off x="457200" y="1920240"/>
            <a:ext cx="2743200" cy="365760"/>
          </a:xfrm>
          <a:prstGeom prst="rect">
            <a:avLst/>
          </a:prstGeom>
          <a:noFill/>
          <a:ln/>
        </p:spPr>
        <p:txBody>
          <a:bodyPr wrap="square" lIns="0" tIns="0" rIns="0" bIns="0" rtlCol="0" anchor="ctr"/>
          <a:lstStyle/>
          <a:p>
            <a:pPr algn="ctr" indent="0" marL="0">
              <a:buNone/>
            </a:pPr>
            <a:r>
              <a:rPr lang="en-US" sz="1100" b="1" spc="100" kern="0" dirty="0">
                <a:solidFill>
                  <a:srgbClr val="6B4E96"/>
                </a:solidFill>
                <a:latin typeface="Calibri" pitchFamily="34" charset="0"/>
                <a:ea typeface="Calibri" pitchFamily="34" charset="-122"/>
                <a:cs typeface="Calibri" pitchFamily="34" charset="-120"/>
              </a:rPr>
              <a:t>⏱  TIME: 12 MINUTES</a:t>
            </a:r>
            <a:endParaRPr lang="en-US" sz="1100" dirty="0"/>
          </a:p>
        </p:txBody>
      </p:sp>
      <p:sp>
        <p:nvSpPr>
          <p:cNvPr id="11" name="Shape 9"/>
          <p:cNvSpPr/>
          <p:nvPr/>
        </p:nvSpPr>
        <p:spPr>
          <a:xfrm>
            <a:off x="457200" y="2423160"/>
            <a:ext cx="3657600" cy="1645920"/>
          </a:xfrm>
          <a:prstGeom prst="roundRect">
            <a:avLst>
              <a:gd name="adj" fmla="val 6667"/>
            </a:avLst>
          </a:prstGeom>
          <a:solidFill>
            <a:srgbClr val="FFFFFF"/>
          </a:solidFill>
          <a:ln w="15875">
            <a:solidFill>
              <a:srgbClr val="6B4E96"/>
            </a:solidFill>
            <a:prstDash val="solid"/>
          </a:ln>
          <a:effectLst>
            <a:outerShdw sx="100000" sy="100000" kx="0" ky="0" algn="bl" rotWithShape="0" blurRad="101600" dist="25400" dir="5400000">
              <a:srgbClr val="C4B5DC">
                <a:alpha val="18000"/>
              </a:srgbClr>
            </a:outerShdw>
          </a:effectLst>
        </p:spPr>
      </p:sp>
      <p:sp>
        <p:nvSpPr>
          <p:cNvPr id="12" name="Shape 10"/>
          <p:cNvSpPr/>
          <p:nvPr/>
        </p:nvSpPr>
        <p:spPr>
          <a:xfrm>
            <a:off x="640080" y="2560320"/>
            <a:ext cx="411480" cy="411480"/>
          </a:xfrm>
          <a:prstGeom prst="ellipse">
            <a:avLst/>
          </a:prstGeom>
          <a:solidFill>
            <a:srgbClr val="FFD93D"/>
          </a:solidFill>
          <a:ln w="12700">
            <a:solidFill>
              <a:srgbClr val="E5BA1F"/>
            </a:solidFill>
            <a:prstDash val="solid"/>
          </a:ln>
        </p:spPr>
      </p:sp>
      <p:sp>
        <p:nvSpPr>
          <p:cNvPr id="13" name="Text 11"/>
          <p:cNvSpPr/>
          <p:nvPr/>
        </p:nvSpPr>
        <p:spPr>
          <a:xfrm>
            <a:off x="640080" y="2560320"/>
            <a:ext cx="411480" cy="41148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1143000" y="2560320"/>
            <a:ext cx="2834640" cy="256032"/>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Create an account</a:t>
            </a:r>
            <a:endParaRPr lang="en-US" sz="1250" dirty="0"/>
          </a:p>
        </p:txBody>
      </p:sp>
      <p:sp>
        <p:nvSpPr>
          <p:cNvPr id="15" name="Text 13"/>
          <p:cNvSpPr/>
          <p:nvPr/>
        </p:nvSpPr>
        <p:spPr>
          <a:xfrm>
            <a:off x="1143000" y="2807208"/>
            <a:ext cx="2834640" cy="201168"/>
          </a:xfrm>
          <a:prstGeom prst="rect">
            <a:avLst/>
          </a:prstGeom>
          <a:noFill/>
          <a:ln/>
        </p:spPr>
        <p:txBody>
          <a:bodyPr wrap="square" lIns="0" tIns="0" rIns="0" bIns="0" rtlCol="0" anchor="ctr"/>
          <a:lstStyle/>
          <a:p>
            <a:pPr indent="0" marL="0">
              <a:buNone/>
            </a:pPr>
            <a:r>
              <a:rPr lang="en-US" sz="900" i="1" dirty="0">
                <a:solidFill>
                  <a:srgbClr val="8A8A8A"/>
                </a:solidFill>
                <a:latin typeface="Calibri" pitchFamily="34" charset="0"/>
                <a:ea typeface="Calibri" pitchFamily="34" charset="-122"/>
                <a:cs typeface="Calibri" pitchFamily="34" charset="-120"/>
              </a:rPr>
              <a:t>⏱ 2 min</a:t>
            </a:r>
            <a:endParaRPr lang="en-US" sz="900" dirty="0"/>
          </a:p>
        </p:txBody>
      </p:sp>
      <p:sp>
        <p:nvSpPr>
          <p:cNvPr id="16" name="Shape 14"/>
          <p:cNvSpPr/>
          <p:nvPr/>
        </p:nvSpPr>
        <p:spPr>
          <a:xfrm>
            <a:off x="640080" y="3063240"/>
            <a:ext cx="3291840" cy="868680"/>
          </a:xfrm>
          <a:prstGeom prst="roundRect">
            <a:avLst>
              <a:gd name="adj" fmla="val 8421"/>
            </a:avLst>
          </a:prstGeom>
          <a:solidFill>
            <a:srgbClr val="F6F2FB"/>
          </a:solidFill>
          <a:ln w="9525">
            <a:solidFill>
              <a:srgbClr val="C5B3DC"/>
            </a:solidFill>
            <a:prstDash val="solid"/>
          </a:ln>
        </p:spPr>
      </p:sp>
      <p:sp>
        <p:nvSpPr>
          <p:cNvPr id="17" name="Text 15"/>
          <p:cNvSpPr/>
          <p:nvPr/>
        </p:nvSpPr>
        <p:spPr>
          <a:xfrm>
            <a:off x="822960" y="3172968"/>
            <a:ext cx="2926080" cy="649224"/>
          </a:xfrm>
          <a:prstGeom prst="rect">
            <a:avLst/>
          </a:prstGeom>
          <a:noFill/>
          <a:ln/>
        </p:spPr>
        <p:txBody>
          <a:bodyPr wrap="square" lIns="0" tIns="0" rIns="0" bIns="0" rtlCol="0" anchor="t"/>
          <a:lstStyle/>
          <a:p>
            <a:pPr algn="l" indent="0" marL="0">
              <a:buNone/>
            </a:pPr>
            <a:r>
              <a:rPr lang="en-US" sz="900" dirty="0">
                <a:solidFill>
                  <a:srgbClr val="2D2D2D"/>
                </a:solidFill>
                <a:latin typeface="Consolas" pitchFamily="34" charset="0"/>
                <a:ea typeface="Consolas" pitchFamily="34" charset="-122"/>
                <a:cs typeface="Consolas" pitchFamily="34" charset="-120"/>
              </a:rPr>
              <a:t>python cli.py accounts create \</a:t>
            </a:r>
            <a:endParaRPr lang="en-US" sz="900" dirty="0"/>
          </a:p>
          <a:p>
            <a:pPr algn="l" indent="0" marL="0">
              <a:buNone/>
            </a:pPr>
            <a:r>
              <a:rPr lang="en-US" sz="900" dirty="0">
                <a:solidFill>
                  <a:srgbClr val="2D2D2D"/>
                </a:solidFill>
                <a:latin typeface="Consolas" pitchFamily="34" charset="0"/>
                <a:ea typeface="Consolas" pitchFamily="34" charset="-122"/>
                <a:cs typeface="Consolas" pitchFamily="34" charset="-120"/>
              </a:rPr>
              <a:t>  --name "Orbit Foods" \</a:t>
            </a:r>
            <a:endParaRPr lang="en-US" sz="900" dirty="0"/>
          </a:p>
          <a:p>
            <a:pPr algn="l" indent="0" marL="0">
              <a:buNone/>
            </a:pPr>
            <a:r>
              <a:rPr lang="en-US" sz="900" dirty="0">
                <a:solidFill>
                  <a:srgbClr val="2D2D2D"/>
                </a:solidFill>
                <a:latin typeface="Consolas" pitchFamily="34" charset="0"/>
                <a:ea typeface="Consolas" pitchFamily="34" charset="-122"/>
                <a:cs typeface="Consolas" pitchFamily="34" charset="-120"/>
              </a:rPr>
              <a:t>  --industry Retail</a:t>
            </a:r>
            <a:endParaRPr lang="en-US" sz="900" dirty="0"/>
          </a:p>
        </p:txBody>
      </p:sp>
      <p:sp>
        <p:nvSpPr>
          <p:cNvPr id="18" name="Shape 16"/>
          <p:cNvSpPr/>
          <p:nvPr/>
        </p:nvSpPr>
        <p:spPr>
          <a:xfrm>
            <a:off x="4279392" y="2423160"/>
            <a:ext cx="3657600" cy="1645920"/>
          </a:xfrm>
          <a:prstGeom prst="roundRect">
            <a:avLst>
              <a:gd name="adj" fmla="val 6667"/>
            </a:avLst>
          </a:prstGeom>
          <a:solidFill>
            <a:srgbClr val="FFFFFF"/>
          </a:solidFill>
          <a:ln w="15875">
            <a:solidFill>
              <a:srgbClr val="6B4E96"/>
            </a:solidFill>
            <a:prstDash val="solid"/>
          </a:ln>
          <a:effectLst>
            <a:outerShdw sx="100000" sy="100000" kx="0" ky="0" algn="bl" rotWithShape="0" blurRad="101600" dist="25400" dir="5400000">
              <a:srgbClr val="C4B5DC">
                <a:alpha val="18000"/>
              </a:srgbClr>
            </a:outerShdw>
          </a:effectLst>
        </p:spPr>
      </p:sp>
      <p:sp>
        <p:nvSpPr>
          <p:cNvPr id="19" name="Shape 17"/>
          <p:cNvSpPr/>
          <p:nvPr/>
        </p:nvSpPr>
        <p:spPr>
          <a:xfrm>
            <a:off x="4462272" y="2560320"/>
            <a:ext cx="411480" cy="411480"/>
          </a:xfrm>
          <a:prstGeom prst="ellipse">
            <a:avLst/>
          </a:prstGeom>
          <a:solidFill>
            <a:srgbClr val="FFD93D"/>
          </a:solidFill>
          <a:ln w="12700">
            <a:solidFill>
              <a:srgbClr val="E5BA1F"/>
            </a:solidFill>
            <a:prstDash val="solid"/>
          </a:ln>
        </p:spPr>
      </p:sp>
      <p:sp>
        <p:nvSpPr>
          <p:cNvPr id="20" name="Text 18"/>
          <p:cNvSpPr/>
          <p:nvPr/>
        </p:nvSpPr>
        <p:spPr>
          <a:xfrm>
            <a:off x="4462272" y="2560320"/>
            <a:ext cx="411480" cy="41148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2</a:t>
            </a:r>
            <a:endParaRPr lang="en-US" sz="1400" dirty="0"/>
          </a:p>
        </p:txBody>
      </p:sp>
      <p:sp>
        <p:nvSpPr>
          <p:cNvPr id="21" name="Text 19"/>
          <p:cNvSpPr/>
          <p:nvPr/>
        </p:nvSpPr>
        <p:spPr>
          <a:xfrm>
            <a:off x="4965192" y="2560320"/>
            <a:ext cx="2834640" cy="256032"/>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Copy the acc_ id</a:t>
            </a:r>
            <a:endParaRPr lang="en-US" sz="1250" dirty="0"/>
          </a:p>
        </p:txBody>
      </p:sp>
      <p:sp>
        <p:nvSpPr>
          <p:cNvPr id="22" name="Text 20"/>
          <p:cNvSpPr/>
          <p:nvPr/>
        </p:nvSpPr>
        <p:spPr>
          <a:xfrm>
            <a:off x="4965192" y="2807208"/>
            <a:ext cx="2834640" cy="201168"/>
          </a:xfrm>
          <a:prstGeom prst="rect">
            <a:avLst/>
          </a:prstGeom>
          <a:noFill/>
          <a:ln/>
        </p:spPr>
        <p:txBody>
          <a:bodyPr wrap="square" lIns="0" tIns="0" rIns="0" bIns="0" rtlCol="0" anchor="ctr"/>
          <a:lstStyle/>
          <a:p>
            <a:pPr indent="0" marL="0">
              <a:buNone/>
            </a:pPr>
            <a:r>
              <a:rPr lang="en-US" sz="900" i="1" dirty="0">
                <a:solidFill>
                  <a:srgbClr val="8A8A8A"/>
                </a:solidFill>
                <a:latin typeface="Calibri" pitchFamily="34" charset="0"/>
                <a:ea typeface="Calibri" pitchFamily="34" charset="-122"/>
                <a:cs typeface="Calibri" pitchFamily="34" charset="-120"/>
              </a:rPr>
              <a:t>⏱ 1 min</a:t>
            </a:r>
            <a:endParaRPr lang="en-US" sz="900" dirty="0"/>
          </a:p>
        </p:txBody>
      </p:sp>
      <p:sp>
        <p:nvSpPr>
          <p:cNvPr id="23" name="Shape 21"/>
          <p:cNvSpPr/>
          <p:nvPr/>
        </p:nvSpPr>
        <p:spPr>
          <a:xfrm>
            <a:off x="4462272" y="3063240"/>
            <a:ext cx="3291840" cy="868680"/>
          </a:xfrm>
          <a:prstGeom prst="roundRect">
            <a:avLst>
              <a:gd name="adj" fmla="val 8421"/>
            </a:avLst>
          </a:prstGeom>
          <a:solidFill>
            <a:srgbClr val="F6F2FB"/>
          </a:solidFill>
          <a:ln w="9525">
            <a:solidFill>
              <a:srgbClr val="C5B3DC"/>
            </a:solidFill>
            <a:prstDash val="solid"/>
          </a:ln>
        </p:spPr>
      </p:sp>
      <p:sp>
        <p:nvSpPr>
          <p:cNvPr id="24" name="Text 22"/>
          <p:cNvSpPr/>
          <p:nvPr/>
        </p:nvSpPr>
        <p:spPr>
          <a:xfrm>
            <a:off x="4645152" y="3172968"/>
            <a:ext cx="2926080" cy="649224"/>
          </a:xfrm>
          <a:prstGeom prst="rect">
            <a:avLst/>
          </a:prstGeom>
          <a:noFill/>
          <a:ln/>
        </p:spPr>
        <p:txBody>
          <a:bodyPr wrap="square" lIns="0" tIns="0" rIns="0" bIns="0" rtlCol="0" anchor="t"/>
          <a:lstStyle/>
          <a:p>
            <a:pPr algn="l" indent="0" marL="0">
              <a:buNone/>
            </a:pPr>
            <a:r>
              <a:rPr lang="en-US" sz="900" dirty="0">
                <a:solidFill>
                  <a:srgbClr val="2D2D2D"/>
                </a:solidFill>
                <a:latin typeface="Consolas" pitchFamily="34" charset="0"/>
                <a:ea typeface="Consolas" pitchFamily="34" charset="-122"/>
                <a:cs typeface="Consolas" pitchFamily="34" charset="-120"/>
              </a:rPr>
              <a:t># the command printed:</a:t>
            </a:r>
            <a:endParaRPr lang="en-US" sz="900" dirty="0"/>
          </a:p>
          <a:p>
            <a:pPr algn="l" indent="0" marL="0">
              <a:buNone/>
            </a:pPr>
            <a:r>
              <a:rPr lang="en-US" sz="900" dirty="0">
                <a:solidFill>
                  <a:srgbClr val="2D2D2D"/>
                </a:solidFill>
                <a:latin typeface="Consolas" pitchFamily="34" charset="0"/>
                <a:ea typeface="Consolas" pitchFamily="34" charset="-122"/>
                <a:cs typeface="Consolas" pitchFamily="34" charset="-120"/>
              </a:rPr>
              <a:t># id: acc_xxxxxxxx</a:t>
            </a:r>
            <a:endParaRPr lang="en-US" sz="900" dirty="0"/>
          </a:p>
        </p:txBody>
      </p:sp>
      <p:sp>
        <p:nvSpPr>
          <p:cNvPr id="25" name="Shape 23"/>
          <p:cNvSpPr/>
          <p:nvPr/>
        </p:nvSpPr>
        <p:spPr>
          <a:xfrm>
            <a:off x="8101584" y="2423160"/>
            <a:ext cx="3657600" cy="1645920"/>
          </a:xfrm>
          <a:prstGeom prst="roundRect">
            <a:avLst>
              <a:gd name="adj" fmla="val 6667"/>
            </a:avLst>
          </a:prstGeom>
          <a:solidFill>
            <a:srgbClr val="FFFFFF"/>
          </a:solidFill>
          <a:ln w="15875">
            <a:solidFill>
              <a:srgbClr val="6B4E96"/>
            </a:solidFill>
            <a:prstDash val="solid"/>
          </a:ln>
          <a:effectLst>
            <a:outerShdw sx="100000" sy="100000" kx="0" ky="0" algn="bl" rotWithShape="0" blurRad="101600" dist="25400" dir="5400000">
              <a:srgbClr val="C4B5DC">
                <a:alpha val="18000"/>
              </a:srgbClr>
            </a:outerShdw>
          </a:effectLst>
        </p:spPr>
      </p:sp>
      <p:sp>
        <p:nvSpPr>
          <p:cNvPr id="26" name="Shape 24"/>
          <p:cNvSpPr/>
          <p:nvPr/>
        </p:nvSpPr>
        <p:spPr>
          <a:xfrm>
            <a:off x="8284464" y="2560320"/>
            <a:ext cx="411480" cy="411480"/>
          </a:xfrm>
          <a:prstGeom prst="ellipse">
            <a:avLst/>
          </a:prstGeom>
          <a:solidFill>
            <a:srgbClr val="FFD93D"/>
          </a:solidFill>
          <a:ln w="12700">
            <a:solidFill>
              <a:srgbClr val="E5BA1F"/>
            </a:solidFill>
            <a:prstDash val="solid"/>
          </a:ln>
        </p:spPr>
      </p:sp>
      <p:sp>
        <p:nvSpPr>
          <p:cNvPr id="27" name="Text 25"/>
          <p:cNvSpPr/>
          <p:nvPr/>
        </p:nvSpPr>
        <p:spPr>
          <a:xfrm>
            <a:off x="8284464" y="2560320"/>
            <a:ext cx="411480" cy="41148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3</a:t>
            </a:r>
            <a:endParaRPr lang="en-US" sz="1400" dirty="0"/>
          </a:p>
        </p:txBody>
      </p:sp>
      <p:sp>
        <p:nvSpPr>
          <p:cNvPr id="28" name="Text 26"/>
          <p:cNvSpPr/>
          <p:nvPr/>
        </p:nvSpPr>
        <p:spPr>
          <a:xfrm>
            <a:off x="8787384" y="2560320"/>
            <a:ext cx="2834640" cy="256032"/>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Create a deal</a:t>
            </a:r>
            <a:endParaRPr lang="en-US" sz="1250" dirty="0"/>
          </a:p>
        </p:txBody>
      </p:sp>
      <p:sp>
        <p:nvSpPr>
          <p:cNvPr id="29" name="Text 27"/>
          <p:cNvSpPr/>
          <p:nvPr/>
        </p:nvSpPr>
        <p:spPr>
          <a:xfrm>
            <a:off x="8787384" y="2807208"/>
            <a:ext cx="2834640" cy="201168"/>
          </a:xfrm>
          <a:prstGeom prst="rect">
            <a:avLst/>
          </a:prstGeom>
          <a:noFill/>
          <a:ln/>
        </p:spPr>
        <p:txBody>
          <a:bodyPr wrap="square" lIns="0" tIns="0" rIns="0" bIns="0" rtlCol="0" anchor="ctr"/>
          <a:lstStyle/>
          <a:p>
            <a:pPr indent="0" marL="0">
              <a:buNone/>
            </a:pPr>
            <a:r>
              <a:rPr lang="en-US" sz="900" i="1" dirty="0">
                <a:solidFill>
                  <a:srgbClr val="8A8A8A"/>
                </a:solidFill>
                <a:latin typeface="Calibri" pitchFamily="34" charset="0"/>
                <a:ea typeface="Calibri" pitchFamily="34" charset="-122"/>
                <a:cs typeface="Calibri" pitchFamily="34" charset="-120"/>
              </a:rPr>
              <a:t>⏱ 3 min</a:t>
            </a:r>
            <a:endParaRPr lang="en-US" sz="900" dirty="0"/>
          </a:p>
        </p:txBody>
      </p:sp>
      <p:sp>
        <p:nvSpPr>
          <p:cNvPr id="30" name="Shape 28"/>
          <p:cNvSpPr/>
          <p:nvPr/>
        </p:nvSpPr>
        <p:spPr>
          <a:xfrm>
            <a:off x="8284464" y="3063240"/>
            <a:ext cx="3291840" cy="868680"/>
          </a:xfrm>
          <a:prstGeom prst="roundRect">
            <a:avLst>
              <a:gd name="adj" fmla="val 8421"/>
            </a:avLst>
          </a:prstGeom>
          <a:solidFill>
            <a:srgbClr val="F6F2FB"/>
          </a:solidFill>
          <a:ln w="9525">
            <a:solidFill>
              <a:srgbClr val="C5B3DC"/>
            </a:solidFill>
            <a:prstDash val="solid"/>
          </a:ln>
        </p:spPr>
      </p:sp>
      <p:sp>
        <p:nvSpPr>
          <p:cNvPr id="31" name="Text 29"/>
          <p:cNvSpPr/>
          <p:nvPr/>
        </p:nvSpPr>
        <p:spPr>
          <a:xfrm>
            <a:off x="8467344" y="3172968"/>
            <a:ext cx="2926080" cy="649224"/>
          </a:xfrm>
          <a:prstGeom prst="rect">
            <a:avLst/>
          </a:prstGeom>
          <a:noFill/>
          <a:ln/>
        </p:spPr>
        <p:txBody>
          <a:bodyPr wrap="square" lIns="0" tIns="0" rIns="0" bIns="0" rtlCol="0" anchor="t"/>
          <a:lstStyle/>
          <a:p>
            <a:pPr algn="l" indent="0" marL="0">
              <a:buNone/>
            </a:pPr>
            <a:r>
              <a:rPr lang="en-US" sz="850" dirty="0">
                <a:solidFill>
                  <a:srgbClr val="2D2D2D"/>
                </a:solidFill>
                <a:latin typeface="Consolas" pitchFamily="34" charset="0"/>
                <a:ea typeface="Consolas" pitchFamily="34" charset="-122"/>
                <a:cs typeface="Consolas" pitchFamily="34" charset="-120"/>
              </a:rPr>
              <a:t>python cli.py deals create \</a:t>
            </a:r>
            <a:endParaRPr lang="en-US" sz="850" dirty="0"/>
          </a:p>
          <a:p>
            <a:pPr algn="l" indent="0" marL="0">
              <a:buNone/>
            </a:pPr>
            <a:r>
              <a:rPr lang="en-US" sz="850" dirty="0">
                <a:solidFill>
                  <a:srgbClr val="2D2D2D"/>
                </a:solidFill>
                <a:latin typeface="Consolas" pitchFamily="34" charset="0"/>
                <a:ea typeface="Consolas" pitchFamily="34" charset="-122"/>
                <a:cs typeface="Consolas" pitchFamily="34" charset="-120"/>
              </a:rPr>
              <a:t>  --name "Orbit - pilot" \</a:t>
            </a:r>
            <a:endParaRPr lang="en-US" sz="850" dirty="0"/>
          </a:p>
          <a:p>
            <a:pPr algn="l" indent="0" marL="0">
              <a:buNone/>
            </a:pPr>
            <a:r>
              <a:rPr lang="en-US" sz="850" dirty="0">
                <a:solidFill>
                  <a:srgbClr val="2D2D2D"/>
                </a:solidFill>
                <a:latin typeface="Consolas" pitchFamily="34" charset="0"/>
                <a:ea typeface="Consolas" pitchFamily="34" charset="-122"/>
                <a:cs typeface="Consolas" pitchFamily="34" charset="-120"/>
              </a:rPr>
              <a:t>  --account acc_xxxx --amount 800000</a:t>
            </a:r>
            <a:endParaRPr lang="en-US" sz="850" dirty="0"/>
          </a:p>
        </p:txBody>
      </p:sp>
      <p:sp>
        <p:nvSpPr>
          <p:cNvPr id="32" name="Shape 30"/>
          <p:cNvSpPr/>
          <p:nvPr/>
        </p:nvSpPr>
        <p:spPr>
          <a:xfrm>
            <a:off x="457200" y="4206240"/>
            <a:ext cx="3657600" cy="1645920"/>
          </a:xfrm>
          <a:prstGeom prst="roundRect">
            <a:avLst>
              <a:gd name="adj" fmla="val 6667"/>
            </a:avLst>
          </a:prstGeom>
          <a:solidFill>
            <a:srgbClr val="FFFFFF"/>
          </a:solidFill>
          <a:ln w="15875">
            <a:solidFill>
              <a:srgbClr val="6B4E96"/>
            </a:solidFill>
            <a:prstDash val="solid"/>
          </a:ln>
          <a:effectLst>
            <a:outerShdw sx="100000" sy="100000" kx="0" ky="0" algn="bl" rotWithShape="0" blurRad="101600" dist="25400" dir="5400000">
              <a:srgbClr val="C4B5DC">
                <a:alpha val="18000"/>
              </a:srgbClr>
            </a:outerShdw>
          </a:effectLst>
        </p:spPr>
      </p:sp>
      <p:sp>
        <p:nvSpPr>
          <p:cNvPr id="33" name="Shape 31"/>
          <p:cNvSpPr/>
          <p:nvPr/>
        </p:nvSpPr>
        <p:spPr>
          <a:xfrm>
            <a:off x="640080" y="4343400"/>
            <a:ext cx="411480" cy="411480"/>
          </a:xfrm>
          <a:prstGeom prst="ellipse">
            <a:avLst/>
          </a:prstGeom>
          <a:solidFill>
            <a:srgbClr val="FFD93D"/>
          </a:solidFill>
          <a:ln w="12700">
            <a:solidFill>
              <a:srgbClr val="E5BA1F"/>
            </a:solidFill>
            <a:prstDash val="solid"/>
          </a:ln>
        </p:spPr>
      </p:sp>
      <p:sp>
        <p:nvSpPr>
          <p:cNvPr id="34" name="Text 32"/>
          <p:cNvSpPr/>
          <p:nvPr/>
        </p:nvSpPr>
        <p:spPr>
          <a:xfrm>
            <a:off x="640080" y="4343400"/>
            <a:ext cx="411480" cy="41148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4</a:t>
            </a:r>
            <a:endParaRPr lang="en-US" sz="1400" dirty="0"/>
          </a:p>
        </p:txBody>
      </p:sp>
      <p:sp>
        <p:nvSpPr>
          <p:cNvPr id="35" name="Text 33"/>
          <p:cNvSpPr/>
          <p:nvPr/>
        </p:nvSpPr>
        <p:spPr>
          <a:xfrm>
            <a:off x="1143000" y="4343400"/>
            <a:ext cx="2834640" cy="256032"/>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Move its stage</a:t>
            </a:r>
            <a:endParaRPr lang="en-US" sz="1250" dirty="0"/>
          </a:p>
        </p:txBody>
      </p:sp>
      <p:sp>
        <p:nvSpPr>
          <p:cNvPr id="36" name="Text 34"/>
          <p:cNvSpPr/>
          <p:nvPr/>
        </p:nvSpPr>
        <p:spPr>
          <a:xfrm>
            <a:off x="1143000" y="4590288"/>
            <a:ext cx="2834640" cy="201168"/>
          </a:xfrm>
          <a:prstGeom prst="rect">
            <a:avLst/>
          </a:prstGeom>
          <a:noFill/>
          <a:ln/>
        </p:spPr>
        <p:txBody>
          <a:bodyPr wrap="square" lIns="0" tIns="0" rIns="0" bIns="0" rtlCol="0" anchor="ctr"/>
          <a:lstStyle/>
          <a:p>
            <a:pPr indent="0" marL="0">
              <a:buNone/>
            </a:pPr>
            <a:r>
              <a:rPr lang="en-US" sz="900" i="1" dirty="0">
                <a:solidFill>
                  <a:srgbClr val="8A8A8A"/>
                </a:solidFill>
                <a:latin typeface="Calibri" pitchFamily="34" charset="0"/>
                <a:ea typeface="Calibri" pitchFamily="34" charset="-122"/>
                <a:cs typeface="Calibri" pitchFamily="34" charset="-120"/>
              </a:rPr>
              <a:t>⏱ 2 min</a:t>
            </a:r>
            <a:endParaRPr lang="en-US" sz="900" dirty="0"/>
          </a:p>
        </p:txBody>
      </p:sp>
      <p:sp>
        <p:nvSpPr>
          <p:cNvPr id="37" name="Shape 35"/>
          <p:cNvSpPr/>
          <p:nvPr/>
        </p:nvSpPr>
        <p:spPr>
          <a:xfrm>
            <a:off x="640080" y="4846320"/>
            <a:ext cx="3291840" cy="868680"/>
          </a:xfrm>
          <a:prstGeom prst="roundRect">
            <a:avLst>
              <a:gd name="adj" fmla="val 8421"/>
            </a:avLst>
          </a:prstGeom>
          <a:solidFill>
            <a:srgbClr val="F6F2FB"/>
          </a:solidFill>
          <a:ln w="9525">
            <a:solidFill>
              <a:srgbClr val="C5B3DC"/>
            </a:solidFill>
            <a:prstDash val="solid"/>
          </a:ln>
        </p:spPr>
      </p:sp>
      <p:sp>
        <p:nvSpPr>
          <p:cNvPr id="38" name="Text 36"/>
          <p:cNvSpPr/>
          <p:nvPr/>
        </p:nvSpPr>
        <p:spPr>
          <a:xfrm>
            <a:off x="822960" y="4956048"/>
            <a:ext cx="2926080" cy="649224"/>
          </a:xfrm>
          <a:prstGeom prst="rect">
            <a:avLst/>
          </a:prstGeom>
          <a:noFill/>
          <a:ln/>
        </p:spPr>
        <p:txBody>
          <a:bodyPr wrap="square" lIns="0" tIns="0" rIns="0" bIns="0" rtlCol="0" anchor="t"/>
          <a:lstStyle/>
          <a:p>
            <a:pPr algn="l" indent="0" marL="0">
              <a:buNone/>
            </a:pPr>
            <a:r>
              <a:rPr lang="en-US" sz="900" dirty="0">
                <a:solidFill>
                  <a:srgbClr val="2D2D2D"/>
                </a:solidFill>
                <a:latin typeface="Consolas" pitchFamily="34" charset="0"/>
                <a:ea typeface="Consolas" pitchFamily="34" charset="-122"/>
                <a:cs typeface="Consolas" pitchFamily="34" charset="-120"/>
              </a:rPr>
              <a:t>python cli.py deals move \</a:t>
            </a:r>
            <a:endParaRPr lang="en-US" sz="900" dirty="0"/>
          </a:p>
          <a:p>
            <a:pPr algn="l" indent="0" marL="0">
              <a:buNone/>
            </a:pPr>
            <a:r>
              <a:rPr lang="en-US" sz="900" dirty="0">
                <a:solidFill>
                  <a:srgbClr val="2D2D2D"/>
                </a:solidFill>
                <a:latin typeface="Consolas" pitchFamily="34" charset="0"/>
                <a:ea typeface="Consolas" pitchFamily="34" charset="-122"/>
                <a:cs typeface="Consolas" pitchFamily="34" charset="-120"/>
              </a:rPr>
              <a:t>  dea_xxxx --stage proposal</a:t>
            </a:r>
            <a:endParaRPr lang="en-US" sz="900" dirty="0"/>
          </a:p>
        </p:txBody>
      </p:sp>
      <p:sp>
        <p:nvSpPr>
          <p:cNvPr id="39" name="Shape 37"/>
          <p:cNvSpPr/>
          <p:nvPr/>
        </p:nvSpPr>
        <p:spPr>
          <a:xfrm>
            <a:off x="4279392" y="4206240"/>
            <a:ext cx="3657600" cy="1645920"/>
          </a:xfrm>
          <a:prstGeom prst="roundRect">
            <a:avLst>
              <a:gd name="adj" fmla="val 6667"/>
            </a:avLst>
          </a:prstGeom>
          <a:solidFill>
            <a:srgbClr val="FFFFFF"/>
          </a:solidFill>
          <a:ln w="15875">
            <a:solidFill>
              <a:srgbClr val="6B4E96"/>
            </a:solidFill>
            <a:prstDash val="solid"/>
          </a:ln>
          <a:effectLst>
            <a:outerShdw sx="100000" sy="100000" kx="0" ky="0" algn="bl" rotWithShape="0" blurRad="101600" dist="25400" dir="5400000">
              <a:srgbClr val="C4B5DC">
                <a:alpha val="18000"/>
              </a:srgbClr>
            </a:outerShdw>
          </a:effectLst>
        </p:spPr>
      </p:sp>
      <p:sp>
        <p:nvSpPr>
          <p:cNvPr id="40" name="Shape 38"/>
          <p:cNvSpPr/>
          <p:nvPr/>
        </p:nvSpPr>
        <p:spPr>
          <a:xfrm>
            <a:off x="4462272" y="4343400"/>
            <a:ext cx="411480" cy="411480"/>
          </a:xfrm>
          <a:prstGeom prst="ellipse">
            <a:avLst/>
          </a:prstGeom>
          <a:solidFill>
            <a:srgbClr val="FFD93D"/>
          </a:solidFill>
          <a:ln w="12700">
            <a:solidFill>
              <a:srgbClr val="E5BA1F"/>
            </a:solidFill>
            <a:prstDash val="solid"/>
          </a:ln>
        </p:spPr>
      </p:sp>
      <p:sp>
        <p:nvSpPr>
          <p:cNvPr id="41" name="Text 39"/>
          <p:cNvSpPr/>
          <p:nvPr/>
        </p:nvSpPr>
        <p:spPr>
          <a:xfrm>
            <a:off x="4462272" y="4343400"/>
            <a:ext cx="411480" cy="41148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5</a:t>
            </a:r>
            <a:endParaRPr lang="en-US" sz="1400" dirty="0"/>
          </a:p>
        </p:txBody>
      </p:sp>
      <p:sp>
        <p:nvSpPr>
          <p:cNvPr id="42" name="Text 40"/>
          <p:cNvSpPr/>
          <p:nvPr/>
        </p:nvSpPr>
        <p:spPr>
          <a:xfrm>
            <a:off x="4965192" y="4343400"/>
            <a:ext cx="2834640" cy="256032"/>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Add a follow-up</a:t>
            </a:r>
            <a:endParaRPr lang="en-US" sz="1250" dirty="0"/>
          </a:p>
        </p:txBody>
      </p:sp>
      <p:sp>
        <p:nvSpPr>
          <p:cNvPr id="43" name="Text 41"/>
          <p:cNvSpPr/>
          <p:nvPr/>
        </p:nvSpPr>
        <p:spPr>
          <a:xfrm>
            <a:off x="4965192" y="4590288"/>
            <a:ext cx="2834640" cy="201168"/>
          </a:xfrm>
          <a:prstGeom prst="rect">
            <a:avLst/>
          </a:prstGeom>
          <a:noFill/>
          <a:ln/>
        </p:spPr>
        <p:txBody>
          <a:bodyPr wrap="square" lIns="0" tIns="0" rIns="0" bIns="0" rtlCol="0" anchor="ctr"/>
          <a:lstStyle/>
          <a:p>
            <a:pPr indent="0" marL="0">
              <a:buNone/>
            </a:pPr>
            <a:r>
              <a:rPr lang="en-US" sz="900" i="1" dirty="0">
                <a:solidFill>
                  <a:srgbClr val="8A8A8A"/>
                </a:solidFill>
                <a:latin typeface="Calibri" pitchFamily="34" charset="0"/>
                <a:ea typeface="Calibri" pitchFamily="34" charset="-122"/>
                <a:cs typeface="Calibri" pitchFamily="34" charset="-120"/>
              </a:rPr>
              <a:t>⏱ 2 min</a:t>
            </a:r>
            <a:endParaRPr lang="en-US" sz="900" dirty="0"/>
          </a:p>
        </p:txBody>
      </p:sp>
      <p:sp>
        <p:nvSpPr>
          <p:cNvPr id="44" name="Shape 42"/>
          <p:cNvSpPr/>
          <p:nvPr/>
        </p:nvSpPr>
        <p:spPr>
          <a:xfrm>
            <a:off x="4462272" y="4846320"/>
            <a:ext cx="3291840" cy="868680"/>
          </a:xfrm>
          <a:prstGeom prst="roundRect">
            <a:avLst>
              <a:gd name="adj" fmla="val 8421"/>
            </a:avLst>
          </a:prstGeom>
          <a:solidFill>
            <a:srgbClr val="F6F2FB"/>
          </a:solidFill>
          <a:ln w="9525">
            <a:solidFill>
              <a:srgbClr val="C5B3DC"/>
            </a:solidFill>
            <a:prstDash val="solid"/>
          </a:ln>
        </p:spPr>
      </p:sp>
      <p:sp>
        <p:nvSpPr>
          <p:cNvPr id="45" name="Text 43"/>
          <p:cNvSpPr/>
          <p:nvPr/>
        </p:nvSpPr>
        <p:spPr>
          <a:xfrm>
            <a:off x="4645152" y="4956048"/>
            <a:ext cx="2926080" cy="649224"/>
          </a:xfrm>
          <a:prstGeom prst="rect">
            <a:avLst/>
          </a:prstGeom>
          <a:noFill/>
          <a:ln/>
        </p:spPr>
        <p:txBody>
          <a:bodyPr wrap="square" lIns="0" tIns="0" rIns="0" bIns="0" rtlCol="0" anchor="t"/>
          <a:lstStyle/>
          <a:p>
            <a:pPr algn="l" indent="0" marL="0">
              <a:buNone/>
            </a:pPr>
            <a:r>
              <a:rPr lang="en-US" sz="850" dirty="0">
                <a:solidFill>
                  <a:srgbClr val="2D2D2D"/>
                </a:solidFill>
                <a:latin typeface="Consolas" pitchFamily="34" charset="0"/>
                <a:ea typeface="Consolas" pitchFamily="34" charset="-122"/>
                <a:cs typeface="Consolas" pitchFamily="34" charset="-120"/>
              </a:rPr>
              <a:t>python cli.py tasks create \</a:t>
            </a:r>
            <a:endParaRPr lang="en-US" sz="850" dirty="0"/>
          </a:p>
          <a:p>
            <a:pPr algn="l" indent="0" marL="0">
              <a:buNone/>
            </a:pPr>
            <a:r>
              <a:rPr lang="en-US" sz="850" dirty="0">
                <a:solidFill>
                  <a:srgbClr val="2D2D2D"/>
                </a:solidFill>
                <a:latin typeface="Consolas" pitchFamily="34" charset="0"/>
                <a:ea typeface="Consolas" pitchFamily="34" charset="-122"/>
                <a:cs typeface="Consolas" pitchFamily="34" charset="-120"/>
              </a:rPr>
              <a:t>  --subject "Send pricing" \</a:t>
            </a:r>
            <a:endParaRPr lang="en-US" sz="850" dirty="0"/>
          </a:p>
          <a:p>
            <a:pPr algn="l" indent="0" marL="0">
              <a:buNone/>
            </a:pPr>
            <a:r>
              <a:rPr lang="en-US" sz="850" dirty="0">
                <a:solidFill>
                  <a:srgbClr val="2D2D2D"/>
                </a:solidFill>
                <a:latin typeface="Consolas" pitchFamily="34" charset="0"/>
                <a:ea typeface="Consolas" pitchFamily="34" charset="-122"/>
                <a:cs typeface="Consolas" pitchFamily="34" charset="-120"/>
              </a:rPr>
              <a:t>  --due 2026-09-30</a:t>
            </a:r>
            <a:endParaRPr lang="en-US" sz="850" dirty="0"/>
          </a:p>
        </p:txBody>
      </p:sp>
      <p:sp>
        <p:nvSpPr>
          <p:cNvPr id="46" name="Shape 44"/>
          <p:cNvSpPr/>
          <p:nvPr/>
        </p:nvSpPr>
        <p:spPr>
          <a:xfrm>
            <a:off x="8101584" y="4206240"/>
            <a:ext cx="3657600" cy="1645920"/>
          </a:xfrm>
          <a:prstGeom prst="roundRect">
            <a:avLst>
              <a:gd name="adj" fmla="val 6667"/>
            </a:avLst>
          </a:prstGeom>
          <a:solidFill>
            <a:srgbClr val="FFFFFF"/>
          </a:solidFill>
          <a:ln w="15875">
            <a:solidFill>
              <a:srgbClr val="6B4E96"/>
            </a:solidFill>
            <a:prstDash val="solid"/>
          </a:ln>
          <a:effectLst>
            <a:outerShdw sx="100000" sy="100000" kx="0" ky="0" algn="bl" rotWithShape="0" blurRad="101600" dist="25400" dir="5400000">
              <a:srgbClr val="C4B5DC">
                <a:alpha val="18000"/>
              </a:srgbClr>
            </a:outerShdw>
          </a:effectLst>
        </p:spPr>
      </p:sp>
      <p:sp>
        <p:nvSpPr>
          <p:cNvPr id="47" name="Shape 45"/>
          <p:cNvSpPr/>
          <p:nvPr/>
        </p:nvSpPr>
        <p:spPr>
          <a:xfrm>
            <a:off x="8284464" y="4343400"/>
            <a:ext cx="411480" cy="411480"/>
          </a:xfrm>
          <a:prstGeom prst="ellipse">
            <a:avLst/>
          </a:prstGeom>
          <a:solidFill>
            <a:srgbClr val="FFD93D"/>
          </a:solidFill>
          <a:ln w="12700">
            <a:solidFill>
              <a:srgbClr val="E5BA1F"/>
            </a:solidFill>
            <a:prstDash val="solid"/>
          </a:ln>
        </p:spPr>
      </p:sp>
      <p:sp>
        <p:nvSpPr>
          <p:cNvPr id="48" name="Text 46"/>
          <p:cNvSpPr/>
          <p:nvPr/>
        </p:nvSpPr>
        <p:spPr>
          <a:xfrm>
            <a:off x="8284464" y="4343400"/>
            <a:ext cx="411480" cy="41148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6</a:t>
            </a:r>
            <a:endParaRPr lang="en-US" sz="1400" dirty="0"/>
          </a:p>
        </p:txBody>
      </p:sp>
      <p:sp>
        <p:nvSpPr>
          <p:cNvPr id="49" name="Text 47"/>
          <p:cNvSpPr/>
          <p:nvPr/>
        </p:nvSpPr>
        <p:spPr>
          <a:xfrm>
            <a:off x="8787384" y="4343400"/>
            <a:ext cx="2834640" cy="256032"/>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Refresh the browser</a:t>
            </a:r>
            <a:endParaRPr lang="en-US" sz="1250" dirty="0"/>
          </a:p>
        </p:txBody>
      </p:sp>
      <p:sp>
        <p:nvSpPr>
          <p:cNvPr id="50" name="Text 48"/>
          <p:cNvSpPr/>
          <p:nvPr/>
        </p:nvSpPr>
        <p:spPr>
          <a:xfrm>
            <a:off x="8787384" y="4590288"/>
            <a:ext cx="2834640" cy="201168"/>
          </a:xfrm>
          <a:prstGeom prst="rect">
            <a:avLst/>
          </a:prstGeom>
          <a:noFill/>
          <a:ln/>
        </p:spPr>
        <p:txBody>
          <a:bodyPr wrap="square" lIns="0" tIns="0" rIns="0" bIns="0" rtlCol="0" anchor="ctr"/>
          <a:lstStyle/>
          <a:p>
            <a:pPr indent="0" marL="0">
              <a:buNone/>
            </a:pPr>
            <a:r>
              <a:rPr lang="en-US" sz="900" i="1" dirty="0">
                <a:solidFill>
                  <a:srgbClr val="8A8A8A"/>
                </a:solidFill>
                <a:latin typeface="Calibri" pitchFamily="34" charset="0"/>
                <a:ea typeface="Calibri" pitchFamily="34" charset="-122"/>
                <a:cs typeface="Calibri" pitchFamily="34" charset="-120"/>
              </a:rPr>
              <a:t>⏱ 2 min</a:t>
            </a:r>
            <a:endParaRPr lang="en-US" sz="900" dirty="0"/>
          </a:p>
        </p:txBody>
      </p:sp>
      <p:sp>
        <p:nvSpPr>
          <p:cNvPr id="51" name="Shape 49"/>
          <p:cNvSpPr/>
          <p:nvPr/>
        </p:nvSpPr>
        <p:spPr>
          <a:xfrm>
            <a:off x="8284464" y="4846320"/>
            <a:ext cx="3291840" cy="868680"/>
          </a:xfrm>
          <a:prstGeom prst="roundRect">
            <a:avLst>
              <a:gd name="adj" fmla="val 8421"/>
            </a:avLst>
          </a:prstGeom>
          <a:solidFill>
            <a:srgbClr val="F6F2FB"/>
          </a:solidFill>
          <a:ln w="9525">
            <a:solidFill>
              <a:srgbClr val="C5B3DC"/>
            </a:solidFill>
            <a:prstDash val="solid"/>
          </a:ln>
        </p:spPr>
      </p:sp>
      <p:sp>
        <p:nvSpPr>
          <p:cNvPr id="52" name="Text 50"/>
          <p:cNvSpPr/>
          <p:nvPr/>
        </p:nvSpPr>
        <p:spPr>
          <a:xfrm>
            <a:off x="8467344" y="4956048"/>
            <a:ext cx="2926080" cy="649224"/>
          </a:xfrm>
          <a:prstGeom prst="rect">
            <a:avLst/>
          </a:prstGeom>
          <a:noFill/>
          <a:ln/>
        </p:spPr>
        <p:txBody>
          <a:bodyPr wrap="square" lIns="0" tIns="0" rIns="0" bIns="0" rtlCol="0" anchor="t"/>
          <a:lstStyle/>
          <a:p>
            <a:pPr algn="l" indent="0" marL="0">
              <a:buNone/>
            </a:pPr>
            <a:r>
              <a:rPr lang="en-US" sz="900" dirty="0">
                <a:solidFill>
                  <a:srgbClr val="2D2D2D"/>
                </a:solidFill>
                <a:latin typeface="Consolas" pitchFamily="34" charset="0"/>
                <a:ea typeface="Consolas" pitchFamily="34" charset="-122"/>
                <a:cs typeface="Consolas" pitchFamily="34" charset="-120"/>
              </a:rPr>
              <a:t># localhost:8000/#/pipeline</a:t>
            </a:r>
            <a:endParaRPr lang="en-US" sz="900" dirty="0"/>
          </a:p>
          <a:p>
            <a:pPr algn="l" indent="0" marL="0">
              <a:buNone/>
            </a:pPr>
            <a:r>
              <a:rPr lang="en-US" sz="900" dirty="0">
                <a:solidFill>
                  <a:srgbClr val="2D2D2D"/>
                </a:solidFill>
                <a:latin typeface="Consolas" pitchFamily="34" charset="0"/>
                <a:ea typeface="Consolas" pitchFamily="34" charset="-122"/>
                <a:cs typeface="Consolas" pitchFamily="34" charset="-120"/>
              </a:rPr>
              <a:t># your deal is in Proposal</a:t>
            </a:r>
            <a:endParaRPr lang="en-US" sz="900" dirty="0"/>
          </a:p>
        </p:txBody>
      </p:sp>
      <p:sp>
        <p:nvSpPr>
          <p:cNvPr id="53" name="Shape 51"/>
          <p:cNvSpPr/>
          <p:nvPr/>
        </p:nvSpPr>
        <p:spPr>
          <a:xfrm>
            <a:off x="457200" y="5852160"/>
            <a:ext cx="11247120" cy="502920"/>
          </a:xfrm>
          <a:prstGeom prst="roundRect">
            <a:avLst>
              <a:gd name="adj" fmla="val 21818"/>
            </a:avLst>
          </a:prstGeom>
          <a:solidFill>
            <a:srgbClr val="F0F8F0"/>
          </a:solidFill>
          <a:ln w="19050">
            <a:solidFill>
              <a:srgbClr val="5A9C5A"/>
            </a:solidFill>
            <a:prstDash val="solid"/>
          </a:ln>
          <a:effectLst>
            <a:outerShdw sx="100000" sy="100000" kx="0" ky="0" algn="bl" rotWithShape="0" blurRad="101600" dist="25400" dir="5400000">
              <a:srgbClr val="C4B5DC">
                <a:alpha val="18000"/>
              </a:srgbClr>
            </a:outerShdw>
          </a:effectLst>
        </p:spPr>
      </p:sp>
      <p:sp>
        <p:nvSpPr>
          <p:cNvPr id="54" name="Text 52"/>
          <p:cNvSpPr/>
          <p:nvPr/>
        </p:nvSpPr>
        <p:spPr>
          <a:xfrm>
            <a:off x="457200" y="5852160"/>
            <a:ext cx="11247120" cy="502920"/>
          </a:xfrm>
          <a:prstGeom prst="rect">
            <a:avLst/>
          </a:prstGeom>
          <a:noFill/>
          <a:ln/>
        </p:spPr>
        <p:txBody>
          <a:bodyPr wrap="square" lIns="0" tIns="0" rIns="0" bIns="0" rtlCol="0" anchor="ctr"/>
          <a:lstStyle/>
          <a:p>
            <a:pPr algn="ctr" indent="0" marL="0">
              <a:buNone/>
            </a:pPr>
            <a:r>
              <a:rPr lang="en-US" sz="1050" b="1" spc="120" kern="0" dirty="0">
                <a:solidFill>
                  <a:srgbClr val="5A9C5A"/>
                </a:solidFill>
                <a:latin typeface="Calibri" pitchFamily="34" charset="0"/>
                <a:ea typeface="Calibri" pitchFamily="34" charset="-122"/>
                <a:cs typeface="Calibri" pitchFamily="34" charset="-120"/>
              </a:rPr>
              <a:t>CHECKPOINT  </a:t>
            </a:r>
            <a:pPr algn="ctr" indent="0" marL="0">
              <a:buNone/>
            </a:pPr>
            <a:r>
              <a:rPr lang="en-US" sz="1100" dirty="0">
                <a:solidFill>
                  <a:srgbClr val="2D2D2D"/>
                </a:solidFill>
                <a:latin typeface="Calibri" pitchFamily="34" charset="0"/>
                <a:ea typeface="Calibri" pitchFamily="34" charset="-122"/>
                <a:cs typeface="Calibri" pitchFamily="34" charset="-120"/>
              </a:rPr>
              <a:t>✓ Account created  ·  ✓ Deal created  ·  ✓ Stage moved  ·  ✓ Task added  ·  </a:t>
            </a:r>
            <a:pPr algn="ctr" indent="0" marL="0">
              <a:buNone/>
            </a:pPr>
            <a:r>
              <a:rPr lang="en-US" sz="1100" b="1" dirty="0">
                <a:solidFill>
                  <a:srgbClr val="5A9C5A"/>
                </a:solidFill>
                <a:latin typeface="Calibri" pitchFamily="34" charset="0"/>
                <a:ea typeface="Calibri" pitchFamily="34" charset="-122"/>
                <a:cs typeface="Calibri" pitchFamily="34" charset="-120"/>
              </a:rPr>
              <a:t>✓ All of it visible in the browser</a:t>
            </a:r>
            <a:endParaRPr lang="en-US" sz="1050" dirty="0"/>
          </a:p>
        </p:txBody>
      </p:sp>
      <p:sp>
        <p:nvSpPr>
          <p:cNvPr id="55" name="Text 53"/>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56" name="Text 54"/>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21 / 28</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D · CODE</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Anatomy of One Command</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Put this next to the web route from slide 12. Same shape, different clothes.</a:t>
            </a:r>
            <a:endParaRPr lang="en-US" sz="1400" dirty="0"/>
          </a:p>
        </p:txBody>
      </p:sp>
      <p:sp>
        <p:nvSpPr>
          <p:cNvPr id="8" name="Text 6"/>
          <p:cNvSpPr/>
          <p:nvPr/>
        </p:nvSpPr>
        <p:spPr>
          <a:xfrm>
            <a:off x="457200" y="2057400"/>
            <a:ext cx="1124712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cli.py  —  ADAPTER 2</a:t>
            </a:r>
            <a:endParaRPr lang="en-US" sz="1050" dirty="0"/>
          </a:p>
        </p:txBody>
      </p:sp>
      <p:sp>
        <p:nvSpPr>
          <p:cNvPr id="9" name="Shape 7"/>
          <p:cNvSpPr/>
          <p:nvPr/>
        </p:nvSpPr>
        <p:spPr>
          <a:xfrm>
            <a:off x="457200" y="2377440"/>
            <a:ext cx="11247120" cy="1691640"/>
          </a:xfrm>
          <a:prstGeom prst="roundRect">
            <a:avLst>
              <a:gd name="adj" fmla="val 4324"/>
            </a:avLst>
          </a:prstGeom>
          <a:solidFill>
            <a:srgbClr val="F6F2FB"/>
          </a:solidFill>
          <a:ln w="9525">
            <a:solidFill>
              <a:srgbClr val="C5B3DC"/>
            </a:solidFill>
            <a:prstDash val="solid"/>
          </a:ln>
        </p:spPr>
      </p:sp>
      <p:sp>
        <p:nvSpPr>
          <p:cNvPr id="10" name="Text 8"/>
          <p:cNvSpPr/>
          <p:nvPr/>
        </p:nvSpPr>
        <p:spPr>
          <a:xfrm>
            <a:off x="640080" y="2487168"/>
            <a:ext cx="10881360" cy="1472184"/>
          </a:xfrm>
          <a:prstGeom prst="rect">
            <a:avLst/>
          </a:prstGeom>
          <a:noFill/>
          <a:ln/>
        </p:spPr>
        <p:txBody>
          <a:bodyPr wrap="square" lIns="0" tIns="0" rIns="0" bIns="0" rtlCol="0" anchor="t"/>
          <a:lstStyle/>
          <a:p>
            <a:pPr algn="l" indent="0" marL="0">
              <a:buNone/>
            </a:pPr>
            <a:r>
              <a:rPr lang="en-US" sz="1300" dirty="0">
                <a:solidFill>
                  <a:srgbClr val="2D2D2D"/>
                </a:solidFill>
                <a:latin typeface="Consolas" pitchFamily="34" charset="0"/>
                <a:ea typeface="Consolas" pitchFamily="34" charset="-122"/>
                <a:cs typeface="Consolas" pitchFamily="34" charset="-120"/>
              </a:rPr>
              <a:t>@deals_app.command("move")</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def deals_move(deal_id: str, stage: str = ..., reason: str = None):</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"""Move a deal to another pipeline stage."""</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rec = run(deals.move_stage, deal_id, stage, reason)      # &lt;- the only work</a:t>
            </a:r>
            <a:endParaRPr lang="en-US" sz="1300" dirty="0"/>
          </a:p>
          <a:p>
            <a:pPr algn="l" indent="0" marL="0">
              <a:buNone/>
            </a:pPr>
            <a:r>
              <a:rPr lang="en-US" sz="1300" dirty="0">
                <a:solidFill>
                  <a:srgbClr val="2D2D2D"/>
                </a:solidFill>
                <a:latin typeface="Consolas" pitchFamily="34" charset="0"/>
                <a:ea typeface="Consolas" pitchFamily="34" charset="-122"/>
                <a:cs typeface="Consolas" pitchFamily="34" charset="-120"/>
              </a:rPr>
              <a:t>    ok(f"'{rec['name']}' moved to {rec['stage']} ({rec['probability']}%).")</a:t>
            </a:r>
            <a:endParaRPr lang="en-US" sz="1300" dirty="0"/>
          </a:p>
        </p:txBody>
      </p:sp>
      <p:sp>
        <p:nvSpPr>
          <p:cNvPr id="11" name="Shape 9"/>
          <p:cNvSpPr/>
          <p:nvPr/>
        </p:nvSpPr>
        <p:spPr>
          <a:xfrm>
            <a:off x="457200" y="4251960"/>
            <a:ext cx="11247120" cy="512064"/>
          </a:xfrm>
          <a:prstGeom prst="roundRect">
            <a:avLst>
              <a:gd name="adj" fmla="val 21429"/>
            </a:avLst>
          </a:prstGeom>
          <a:solidFill>
            <a:srgbClr val="FFFFFF"/>
          </a:solidFill>
          <a:ln w="12700">
            <a:solidFill>
              <a:srgbClr val="E4DAEF"/>
            </a:solidFill>
            <a:prstDash val="solid"/>
          </a:ln>
          <a:effectLst>
            <a:outerShdw sx="100000" sy="100000" kx="0" ky="0" algn="bl" rotWithShape="0" blurRad="101600" dist="25400" dir="5400000">
              <a:srgbClr val="C4B5DC">
                <a:alpha val="18000"/>
              </a:srgbClr>
            </a:outerShdw>
          </a:effectLst>
        </p:spPr>
      </p:sp>
      <p:sp>
        <p:nvSpPr>
          <p:cNvPr id="12" name="Text 10"/>
          <p:cNvSpPr/>
          <p:nvPr/>
        </p:nvSpPr>
        <p:spPr>
          <a:xfrm>
            <a:off x="685800" y="4251960"/>
            <a:ext cx="10789920" cy="512064"/>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Where does the CLI learn that proposal means 50%?   </a:t>
            </a:r>
            <a:pPr indent="0" marL="0">
              <a:buNone/>
            </a:pPr>
            <a:r>
              <a:rPr lang="en-US" sz="1250" i="1" dirty="0">
                <a:solidFill>
                  <a:srgbClr val="2D2D2D"/>
                </a:solidFill>
                <a:latin typeface="Calibri" pitchFamily="34" charset="0"/>
                <a:ea typeface="Calibri" pitchFamily="34" charset="-122"/>
                <a:cs typeface="Calibri" pitchFamily="34" charset="-120"/>
              </a:rPr>
              <a:t>It does not. It prints what the core hands back.</a:t>
            </a:r>
            <a:endParaRPr lang="en-US" sz="1250" dirty="0"/>
          </a:p>
        </p:txBody>
      </p:sp>
      <p:sp>
        <p:nvSpPr>
          <p:cNvPr id="13" name="Shape 11"/>
          <p:cNvSpPr/>
          <p:nvPr/>
        </p:nvSpPr>
        <p:spPr>
          <a:xfrm>
            <a:off x="457200" y="4855464"/>
            <a:ext cx="11247120" cy="512064"/>
          </a:xfrm>
          <a:prstGeom prst="roundRect">
            <a:avLst>
              <a:gd name="adj" fmla="val 21429"/>
            </a:avLst>
          </a:prstGeom>
          <a:solidFill>
            <a:srgbClr val="FFFFFF"/>
          </a:solidFill>
          <a:ln w="12700">
            <a:solidFill>
              <a:srgbClr val="E4DAEF"/>
            </a:solidFill>
            <a:prstDash val="solid"/>
          </a:ln>
          <a:effectLst>
            <a:outerShdw sx="100000" sy="100000" kx="0" ky="0" algn="bl" rotWithShape="0" blurRad="101600" dist="25400" dir="5400000">
              <a:srgbClr val="C4B5DC">
                <a:alpha val="18000"/>
              </a:srgbClr>
            </a:outerShdw>
          </a:effectLst>
        </p:spPr>
      </p:sp>
      <p:sp>
        <p:nvSpPr>
          <p:cNvPr id="14" name="Text 12"/>
          <p:cNvSpPr/>
          <p:nvPr/>
        </p:nvSpPr>
        <p:spPr>
          <a:xfrm>
            <a:off x="685800" y="4855464"/>
            <a:ext cx="10789920" cy="512064"/>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Where is the closed_lost rule?   </a:t>
            </a:r>
            <a:pPr indent="0" marL="0">
              <a:buNone/>
            </a:pPr>
            <a:r>
              <a:rPr lang="en-US" sz="1250" i="1" dirty="0">
                <a:solidFill>
                  <a:srgbClr val="2D2D2D"/>
                </a:solidFill>
                <a:latin typeface="Calibri" pitchFamily="34" charset="0"/>
                <a:ea typeface="Calibri" pitchFamily="34" charset="-122"/>
                <a:cs typeface="Calibri" pitchFamily="34" charset="-120"/>
              </a:rPr>
              <a:t>core/deals.py. The CLI never mentions it.</a:t>
            </a:r>
            <a:endParaRPr lang="en-US" sz="1250" dirty="0"/>
          </a:p>
        </p:txBody>
      </p:sp>
      <p:sp>
        <p:nvSpPr>
          <p:cNvPr id="15" name="Shape 13"/>
          <p:cNvSpPr/>
          <p:nvPr/>
        </p:nvSpPr>
        <p:spPr>
          <a:xfrm>
            <a:off x="457200" y="5458968"/>
            <a:ext cx="11247120" cy="512064"/>
          </a:xfrm>
          <a:prstGeom prst="roundRect">
            <a:avLst>
              <a:gd name="adj" fmla="val 21429"/>
            </a:avLst>
          </a:prstGeom>
          <a:solidFill>
            <a:srgbClr val="FFFFFF"/>
          </a:solidFill>
          <a:ln w="12700">
            <a:solidFill>
              <a:srgbClr val="E4DAEF"/>
            </a:solidFill>
            <a:prstDash val="solid"/>
          </a:ln>
          <a:effectLst>
            <a:outerShdw sx="100000" sy="100000" kx="0" ky="0" algn="bl" rotWithShape="0" blurRad="101600" dist="25400" dir="5400000">
              <a:srgbClr val="C4B5DC">
                <a:alpha val="18000"/>
              </a:srgbClr>
            </a:outerShdw>
          </a:effectLst>
        </p:spPr>
      </p:sp>
      <p:sp>
        <p:nvSpPr>
          <p:cNvPr id="16" name="Text 14"/>
          <p:cNvSpPr/>
          <p:nvPr/>
        </p:nvSpPr>
        <p:spPr>
          <a:xfrm>
            <a:off x="685800" y="5458968"/>
            <a:ext cx="10789920" cy="512064"/>
          </a:xfrm>
          <a:prstGeom prst="rect">
            <a:avLst/>
          </a:prstGeom>
          <a:noFill/>
          <a:ln/>
        </p:spPr>
        <p:txBody>
          <a:bodyPr wrap="square" lIns="0" tIns="0" rIns="0" bIns="0" rtlCol="0" anchor="ctr"/>
          <a:lstStyle/>
          <a:p>
            <a:pPr indent="0" marL="0">
              <a:buNone/>
            </a:pPr>
            <a:r>
              <a:rPr lang="en-US" sz="1250" b="1" dirty="0">
                <a:solidFill>
                  <a:srgbClr val="6B4E96"/>
                </a:solidFill>
                <a:latin typeface="Calibri" pitchFamily="34" charset="0"/>
                <a:ea typeface="Calibri" pitchFamily="34" charset="-122"/>
                <a:cs typeface="Calibri" pitchFamily="34" charset="-120"/>
              </a:rPr>
              <a:t>How many core functions does this call?   </a:t>
            </a:r>
            <a:pPr indent="0" marL="0">
              <a:buNone/>
            </a:pPr>
            <a:r>
              <a:rPr lang="en-US" sz="1250" i="1" dirty="0">
                <a:solidFill>
                  <a:srgbClr val="2D2D2D"/>
                </a:solidFill>
                <a:latin typeface="Calibri" pitchFamily="34" charset="0"/>
                <a:ea typeface="Calibri" pitchFamily="34" charset="-122"/>
                <a:cs typeface="Calibri" pitchFamily="34" charset="-120"/>
              </a:rPr>
              <a:t>Exactly one. That is the rule from slide 11.</a:t>
            </a:r>
            <a:endParaRPr lang="en-US" sz="1250" dirty="0"/>
          </a:p>
        </p:txBody>
      </p:sp>
      <p:sp>
        <p:nvSpPr>
          <p:cNvPr id="17" name="Text 15"/>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18" name="Text 16"/>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22 / 28</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D · THE BRIDGE</a:t>
            </a:r>
            <a:endParaRPr lang="en-US" sz="1000" dirty="0"/>
          </a:p>
        </p:txBody>
      </p:sp>
      <p:sp>
        <p:nvSpPr>
          <p:cNvPr id="4" name="Shape 2"/>
          <p:cNvSpPr/>
          <p:nvPr/>
        </p:nvSpPr>
        <p:spPr>
          <a:xfrm>
            <a:off x="457200" y="1371600"/>
            <a:ext cx="6583680" cy="91440"/>
          </a:xfrm>
          <a:prstGeom prst="roundRect">
            <a:avLst>
              <a:gd name="adj" fmla="val 50000"/>
            </a:avLst>
          </a:prstGeom>
          <a:solidFill>
            <a:srgbClr val="FFD93D">
              <a:alpha val="70000"/>
            </a:srgbClr>
          </a:solidFill>
          <a:ln w="12700">
            <a:solidFill>
              <a:srgbClr val="FFD93D">
                <a:alpha val="0"/>
              </a:srgbClr>
            </a:solidFill>
            <a:prstDash val="solid"/>
          </a:ln>
        </p:spPr>
      </p:sp>
      <p:sp>
        <p:nvSpPr>
          <p:cNvPr id="5" name="Shape 3"/>
          <p:cNvSpPr/>
          <p:nvPr/>
        </p:nvSpPr>
        <p:spPr>
          <a:xfrm>
            <a:off x="457200" y="502920"/>
            <a:ext cx="164592" cy="164592"/>
          </a:xfrm>
          <a:prstGeom prst="ellipse">
            <a:avLst/>
          </a:prstGeom>
          <a:solidFill>
            <a:srgbClr val="FFD93D"/>
          </a:solidFill>
          <a:ln w="12700">
            <a:solidFill>
              <a:srgbClr val="FFD93D"/>
            </a:solidFill>
            <a:prstDash val="solid"/>
          </a:ln>
        </p:spPr>
      </p:sp>
      <p:sp>
        <p:nvSpPr>
          <p:cNvPr id="6" name="Shape 4"/>
          <p:cNvSpPr/>
          <p:nvPr/>
        </p:nvSpPr>
        <p:spPr>
          <a:xfrm>
            <a:off x="658368" y="502920"/>
            <a:ext cx="164592" cy="164592"/>
          </a:xfrm>
          <a:prstGeom prst="ellipse">
            <a:avLst/>
          </a:prstGeom>
          <a:solidFill>
            <a:srgbClr val="9B7FBE"/>
          </a:solidFill>
          <a:ln w="12700">
            <a:solidFill>
              <a:srgbClr val="9B7FBE"/>
            </a:solidFill>
            <a:prstDash val="solid"/>
          </a:ln>
        </p:spPr>
      </p:sp>
      <p:sp>
        <p:nvSpPr>
          <p:cNvPr id="7" name="Text 5"/>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--json : The Bridge to Agents</a:t>
            </a:r>
            <a:endParaRPr lang="en-US" sz="2800" dirty="0"/>
          </a:p>
        </p:txBody>
      </p:sp>
      <p:sp>
        <p:nvSpPr>
          <p:cNvPr id="8" name="Text 6"/>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One flag today. It is what makes this CLI agent-ready in Session 5.</a:t>
            </a:r>
            <a:endParaRPr lang="en-US" sz="1400" dirty="0"/>
          </a:p>
        </p:txBody>
      </p:sp>
      <p:sp>
        <p:nvSpPr>
          <p:cNvPr id="9" name="Shape 7"/>
          <p:cNvSpPr/>
          <p:nvPr/>
        </p:nvSpPr>
        <p:spPr>
          <a:xfrm>
            <a:off x="457200" y="2103120"/>
            <a:ext cx="5532120" cy="1828800"/>
          </a:xfrm>
          <a:prstGeom prst="roundRect">
            <a:avLst>
              <a:gd name="adj" fmla="val 6000"/>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0" name="Text 8"/>
          <p:cNvSpPr/>
          <p:nvPr/>
        </p:nvSpPr>
        <p:spPr>
          <a:xfrm>
            <a:off x="640080" y="2286000"/>
            <a:ext cx="516636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FOR A HUMAN</a:t>
            </a:r>
            <a:endParaRPr lang="en-US" sz="1050" dirty="0"/>
          </a:p>
        </p:txBody>
      </p:sp>
      <p:sp>
        <p:nvSpPr>
          <p:cNvPr id="11" name="Shape 9"/>
          <p:cNvSpPr/>
          <p:nvPr/>
        </p:nvSpPr>
        <p:spPr>
          <a:xfrm>
            <a:off x="640080" y="2606040"/>
            <a:ext cx="5166360" cy="548640"/>
          </a:xfrm>
          <a:prstGeom prst="roundRect">
            <a:avLst>
              <a:gd name="adj" fmla="val 13333"/>
            </a:avLst>
          </a:prstGeom>
          <a:solidFill>
            <a:srgbClr val="F6F2FB"/>
          </a:solidFill>
          <a:ln w="9525">
            <a:solidFill>
              <a:srgbClr val="C5B3DC"/>
            </a:solidFill>
            <a:prstDash val="solid"/>
          </a:ln>
        </p:spPr>
      </p:sp>
      <p:sp>
        <p:nvSpPr>
          <p:cNvPr id="12" name="Text 10"/>
          <p:cNvSpPr/>
          <p:nvPr/>
        </p:nvSpPr>
        <p:spPr>
          <a:xfrm>
            <a:off x="822960" y="2715768"/>
            <a:ext cx="4800600" cy="329184"/>
          </a:xfrm>
          <a:prstGeom prst="rect">
            <a:avLst/>
          </a:prstGeom>
          <a:noFill/>
          <a:ln/>
        </p:spPr>
        <p:txBody>
          <a:bodyPr wrap="square" lIns="0" tIns="0" rIns="0" bIns="0" rtlCol="0" anchor="t"/>
          <a:lstStyle/>
          <a:p>
            <a:pPr algn="l" indent="0" marL="0">
              <a:buNone/>
            </a:pPr>
            <a:r>
              <a:rPr lang="en-US" sz="1150" dirty="0">
                <a:solidFill>
                  <a:srgbClr val="2D2D2D"/>
                </a:solidFill>
                <a:latin typeface="Consolas" pitchFamily="34" charset="0"/>
                <a:ea typeface="Consolas" pitchFamily="34" charset="-122"/>
                <a:cs typeface="Consolas" pitchFamily="34" charset="-120"/>
              </a:rPr>
              <a:t>python cli.py deals list</a:t>
            </a:r>
            <a:endParaRPr lang="en-US" sz="1150" dirty="0"/>
          </a:p>
        </p:txBody>
      </p:sp>
      <p:sp>
        <p:nvSpPr>
          <p:cNvPr id="13" name="Text 11"/>
          <p:cNvSpPr/>
          <p:nvPr/>
        </p:nvSpPr>
        <p:spPr>
          <a:xfrm>
            <a:off x="640080" y="3246120"/>
            <a:ext cx="5166360" cy="548640"/>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A pretty table with borders and colours.</a:t>
            </a:r>
            <a:endParaRPr lang="en-US" sz="1200" dirty="0"/>
          </a:p>
        </p:txBody>
      </p:sp>
      <p:sp>
        <p:nvSpPr>
          <p:cNvPr id="14" name="Shape 12"/>
          <p:cNvSpPr/>
          <p:nvPr/>
        </p:nvSpPr>
        <p:spPr>
          <a:xfrm>
            <a:off x="6172200" y="2103120"/>
            <a:ext cx="5532120" cy="1828800"/>
          </a:xfrm>
          <a:prstGeom prst="roundRect">
            <a:avLst>
              <a:gd name="adj" fmla="val 6000"/>
            </a:avLst>
          </a:prstGeom>
          <a:solidFill>
            <a:srgbClr val="F0F8F0"/>
          </a:solidFill>
          <a:ln w="25400">
            <a:solidFill>
              <a:srgbClr val="5A9C5A"/>
            </a:solidFill>
            <a:prstDash val="solid"/>
          </a:ln>
          <a:effectLst>
            <a:outerShdw sx="100000" sy="100000" kx="0" ky="0" algn="bl" rotWithShape="0" blurRad="101600" dist="25400" dir="5400000">
              <a:srgbClr val="C4B5DC">
                <a:alpha val="18000"/>
              </a:srgbClr>
            </a:outerShdw>
          </a:effectLst>
        </p:spPr>
      </p:sp>
      <p:sp>
        <p:nvSpPr>
          <p:cNvPr id="15" name="Text 13"/>
          <p:cNvSpPr/>
          <p:nvPr/>
        </p:nvSpPr>
        <p:spPr>
          <a:xfrm>
            <a:off x="6355080" y="2286000"/>
            <a:ext cx="5166360" cy="274320"/>
          </a:xfrm>
          <a:prstGeom prst="rect">
            <a:avLst/>
          </a:prstGeom>
          <a:noFill/>
          <a:ln/>
        </p:spPr>
        <p:txBody>
          <a:bodyPr wrap="square" lIns="0" tIns="0" rIns="0" bIns="0" rtlCol="0" anchor="ctr"/>
          <a:lstStyle/>
          <a:p>
            <a:pPr indent="0" marL="0">
              <a:buNone/>
            </a:pPr>
            <a:r>
              <a:rPr lang="en-US" sz="1050" b="1" spc="140" kern="0" dirty="0">
                <a:solidFill>
                  <a:srgbClr val="5A9C5A"/>
                </a:solidFill>
                <a:latin typeface="Calibri" pitchFamily="34" charset="0"/>
                <a:ea typeface="Calibri" pitchFamily="34" charset="-122"/>
                <a:cs typeface="Calibri" pitchFamily="34" charset="-120"/>
              </a:rPr>
              <a:t>FOR A MACHINE</a:t>
            </a:r>
            <a:endParaRPr lang="en-US" sz="1050" dirty="0"/>
          </a:p>
        </p:txBody>
      </p:sp>
      <p:sp>
        <p:nvSpPr>
          <p:cNvPr id="16" name="Shape 14"/>
          <p:cNvSpPr/>
          <p:nvPr/>
        </p:nvSpPr>
        <p:spPr>
          <a:xfrm>
            <a:off x="6355080" y="2606040"/>
            <a:ext cx="5166360" cy="548640"/>
          </a:xfrm>
          <a:prstGeom prst="roundRect">
            <a:avLst>
              <a:gd name="adj" fmla="val 13333"/>
            </a:avLst>
          </a:prstGeom>
          <a:solidFill>
            <a:srgbClr val="F6F2FB"/>
          </a:solidFill>
          <a:ln w="9525">
            <a:solidFill>
              <a:srgbClr val="C5B3DC"/>
            </a:solidFill>
            <a:prstDash val="solid"/>
          </a:ln>
        </p:spPr>
      </p:sp>
      <p:sp>
        <p:nvSpPr>
          <p:cNvPr id="17" name="Text 15"/>
          <p:cNvSpPr/>
          <p:nvPr/>
        </p:nvSpPr>
        <p:spPr>
          <a:xfrm>
            <a:off x="6537960" y="2715768"/>
            <a:ext cx="4800600" cy="329184"/>
          </a:xfrm>
          <a:prstGeom prst="rect">
            <a:avLst/>
          </a:prstGeom>
          <a:noFill/>
          <a:ln/>
        </p:spPr>
        <p:txBody>
          <a:bodyPr wrap="square" lIns="0" tIns="0" rIns="0" bIns="0" rtlCol="0" anchor="t"/>
          <a:lstStyle/>
          <a:p>
            <a:pPr algn="l" indent="0" marL="0">
              <a:buNone/>
            </a:pPr>
            <a:r>
              <a:rPr lang="en-US" sz="1150" dirty="0">
                <a:solidFill>
                  <a:srgbClr val="2D2D2D"/>
                </a:solidFill>
                <a:latin typeface="Consolas" pitchFamily="34" charset="0"/>
                <a:ea typeface="Consolas" pitchFamily="34" charset="-122"/>
                <a:cs typeface="Consolas" pitchFamily="34" charset="-120"/>
              </a:rPr>
              <a:t>python cli.py --json deals list</a:t>
            </a:r>
            <a:endParaRPr lang="en-US" sz="1150" dirty="0"/>
          </a:p>
        </p:txBody>
      </p:sp>
      <p:sp>
        <p:nvSpPr>
          <p:cNvPr id="18" name="Text 16"/>
          <p:cNvSpPr/>
          <p:nvPr/>
        </p:nvSpPr>
        <p:spPr>
          <a:xfrm>
            <a:off x="6355080" y="3246120"/>
            <a:ext cx="5166360" cy="548640"/>
          </a:xfrm>
          <a:prstGeom prst="rect">
            <a:avLst/>
          </a:prstGeom>
          <a:noFill/>
          <a:ln/>
        </p:spPr>
        <p:txBody>
          <a:bodyPr wrap="square" lIns="0" tIns="0" rIns="0" bIns="0" rtlCol="0" anchor="ctr"/>
          <a:lstStyle/>
          <a:p>
            <a:pPr indent="0" marL="0">
              <a:buNone/>
            </a:pPr>
            <a:r>
              <a:rPr lang="en-US" sz="1200" i="1" dirty="0">
                <a:solidFill>
                  <a:srgbClr val="5A5A5A"/>
                </a:solidFill>
                <a:latin typeface="Calibri" pitchFamily="34" charset="0"/>
                <a:ea typeface="Calibri" pitchFamily="34" charset="-122"/>
                <a:cs typeface="Calibri" pitchFamily="34" charset="-120"/>
              </a:rPr>
              <a:t>Clean JSON. Nothing to parse around.</a:t>
            </a:r>
            <a:endParaRPr lang="en-US" sz="1200" dirty="0"/>
          </a:p>
        </p:txBody>
      </p:sp>
      <p:sp>
        <p:nvSpPr>
          <p:cNvPr id="19" name="Shape 17"/>
          <p:cNvSpPr/>
          <p:nvPr/>
        </p:nvSpPr>
        <p:spPr>
          <a:xfrm>
            <a:off x="457200" y="4114800"/>
            <a:ext cx="11247120" cy="1783080"/>
          </a:xfrm>
          <a:prstGeom prst="roundRect">
            <a:avLst>
              <a:gd name="adj" fmla="val 6154"/>
            </a:avLst>
          </a:prstGeom>
          <a:solidFill>
            <a:srgbClr val="FFF4B8"/>
          </a:solidFill>
          <a:ln w="31750">
            <a:solidFill>
              <a:srgbClr val="E5BA1F"/>
            </a:solidFill>
            <a:prstDash val="solid"/>
          </a:ln>
          <a:effectLst>
            <a:outerShdw sx="100000" sy="100000" kx="0" ky="0" algn="bl" rotWithShape="0" blurRad="101600" dist="25400" dir="5400000">
              <a:srgbClr val="C4B5DC">
                <a:alpha val="18000"/>
              </a:srgbClr>
            </a:outerShdw>
          </a:effectLst>
        </p:spPr>
      </p:sp>
      <p:sp>
        <p:nvSpPr>
          <p:cNvPr id="20" name="Text 18"/>
          <p:cNvSpPr/>
          <p:nvPr/>
        </p:nvSpPr>
        <p:spPr>
          <a:xfrm>
            <a:off x="685800" y="4251960"/>
            <a:ext cx="10789920" cy="274320"/>
          </a:xfrm>
          <a:prstGeom prst="rect">
            <a:avLst/>
          </a:prstGeom>
          <a:noFill/>
          <a:ln/>
        </p:spPr>
        <p:txBody>
          <a:bodyPr wrap="square" lIns="0" tIns="0" rIns="0" bIns="0" rtlCol="0" anchor="ctr"/>
          <a:lstStyle/>
          <a:p>
            <a:pPr indent="0" marL="0">
              <a:buNone/>
            </a:pPr>
            <a:r>
              <a:rPr lang="en-US" sz="1050" b="1" spc="140" kern="0" dirty="0">
                <a:solidFill>
                  <a:srgbClr val="E5BA1F"/>
                </a:solidFill>
                <a:latin typeface="Calibri" pitchFamily="34" charset="0"/>
                <a:ea typeface="Calibri" pitchFamily="34" charset="-122"/>
                <a:cs typeface="Calibri" pitchFamily="34" charset="-120"/>
              </a:rPr>
              <a:t>WHY IT IS REALLY THERE</a:t>
            </a:r>
            <a:endParaRPr lang="en-US" sz="1050" dirty="0"/>
          </a:p>
        </p:txBody>
      </p:sp>
      <p:sp>
        <p:nvSpPr>
          <p:cNvPr id="21" name="Text 19"/>
          <p:cNvSpPr/>
          <p:nvPr/>
        </p:nvSpPr>
        <p:spPr>
          <a:xfrm>
            <a:off x="685800" y="4572000"/>
            <a:ext cx="10789920" cy="1188720"/>
          </a:xfrm>
          <a:prstGeom prst="rect">
            <a:avLst/>
          </a:prstGeom>
          <a:noFill/>
          <a:ln/>
        </p:spPr>
        <p:txBody>
          <a:bodyPr wrap="square" lIns="0" tIns="0" rIns="0" bIns="0" rtlCol="0" anchor="ctr"/>
          <a:lstStyle/>
          <a:p>
            <a:pPr indent="0" marL="0">
              <a:buNone/>
            </a:pPr>
            <a:r>
              <a:rPr lang="en-US" sz="1350" dirty="0">
                <a:solidFill>
                  <a:srgbClr val="2D2D2D"/>
                </a:solidFill>
                <a:latin typeface="Calibri" pitchFamily="34" charset="0"/>
                <a:ea typeface="Calibri" pitchFamily="34" charset="-122"/>
                <a:cs typeface="Calibri" pitchFamily="34" charset="-120"/>
              </a:rPr>
              <a:t>In Session 5 we hand an agent a Skill — a short instruction file — that says:</a:t>
            </a:r>
            <a:endParaRPr lang="en-US" sz="1350" dirty="0"/>
          </a:p>
          <a:p>
            <a:pPr indent="0" marL="0">
              <a:buNone/>
            </a:pPr>
            <a:r>
              <a:rPr lang="en-US" sz="1350" dirty="0">
                <a:solidFill>
                  <a:srgbClr val="2D2D2D"/>
                </a:solidFill>
                <a:latin typeface="Calibri" pitchFamily="34" charset="0"/>
                <a:ea typeface="Calibri" pitchFamily="34" charset="-122"/>
                <a:cs typeface="Calibri" pitchFamily="34" charset="-120"/>
              </a:rPr>
              <a:t>"to read the CRM, run  python cli.py --json ..."</a:t>
            </a:r>
            <a:endParaRPr lang="en-US" sz="1350" dirty="0"/>
          </a:p>
          <a:p>
            <a:pPr indent="0" marL="0">
              <a:buNone/>
            </a:pPr>
            <a:endParaRPr lang="en-US" sz="1350" dirty="0"/>
          </a:p>
          <a:p>
            <a:pPr indent="0" marL="0">
              <a:buNone/>
            </a:pPr>
            <a:r>
              <a:rPr lang="en-US" sz="1350" dirty="0">
                <a:solidFill>
                  <a:srgbClr val="2D2D2D"/>
                </a:solidFill>
                <a:latin typeface="Calibri" pitchFamily="34" charset="0"/>
                <a:ea typeface="Calibri" pitchFamily="34" charset="-122"/>
                <a:cs typeface="Calibri" pitchFamily="34" charset="-120"/>
              </a:rPr>
              <a:t>The agent runs it, reads the JSON, and acts. We will not write one line of agent-specific code to make that work.</a:t>
            </a:r>
            <a:endParaRPr lang="en-US" sz="1350" dirty="0"/>
          </a:p>
        </p:txBody>
      </p:sp>
      <p:sp>
        <p:nvSpPr>
          <p:cNvPr id="22" name="Shape 20"/>
          <p:cNvSpPr/>
          <p:nvPr/>
        </p:nvSpPr>
        <p:spPr>
          <a:xfrm>
            <a:off x="457200" y="5989320"/>
            <a:ext cx="11247120" cy="365760"/>
          </a:xfrm>
          <a:prstGeom prst="roundRect">
            <a:avLst>
              <a:gd name="adj" fmla="val 25000"/>
            </a:avLst>
          </a:prstGeom>
          <a:solidFill>
            <a:srgbClr val="FFF4B8"/>
          </a:solidFill>
          <a:ln w="12700">
            <a:solidFill>
              <a:srgbClr val="E5BA1F"/>
            </a:solidFill>
            <a:prstDash val="solid"/>
          </a:ln>
        </p:spPr>
      </p:sp>
      <p:sp>
        <p:nvSpPr>
          <p:cNvPr id="23" name="Text 21"/>
          <p:cNvSpPr/>
          <p:nvPr/>
        </p:nvSpPr>
        <p:spPr>
          <a:xfrm>
            <a:off x="640080" y="5989320"/>
            <a:ext cx="10881360" cy="365760"/>
          </a:xfrm>
          <a:prstGeom prst="rect">
            <a:avLst/>
          </a:prstGeom>
          <a:noFill/>
          <a:ln/>
        </p:spPr>
        <p:txBody>
          <a:bodyPr wrap="square" rtlCol="0" anchor="ctr"/>
          <a:lstStyle/>
          <a:p>
            <a:pPr algn="ctr" indent="0" marL="0">
              <a:buNone/>
            </a:pPr>
            <a:r>
              <a:rPr lang="en-US" sz="1300" b="1" i="1" dirty="0">
                <a:solidFill>
                  <a:srgbClr val="2D2D2D"/>
                </a:solidFill>
                <a:latin typeface="Calibri" pitchFamily="34" charset="0"/>
                <a:ea typeface="Calibri" pitchFamily="34" charset="-122"/>
                <a:cs typeface="Calibri" pitchFamily="34" charset="-120"/>
              </a:rPr>
              <a:t>Rule: every tool you build for humans should have a machine-readable mode.</a:t>
            </a:r>
            <a:endParaRPr lang="en-US" sz="1300" dirty="0"/>
          </a:p>
        </p:txBody>
      </p:sp>
      <p:sp>
        <p:nvSpPr>
          <p:cNvPr id="24" name="Text 22"/>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25" name="Text 23"/>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23 / 28</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D · PLUMBING</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Exit Codes — How Programs Talk to Programs</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Every command-line program returns a number when it finishes. Zero means success.</a:t>
            </a:r>
            <a:endParaRPr lang="en-US" sz="1400" dirty="0"/>
          </a:p>
        </p:txBody>
      </p:sp>
      <p:sp>
        <p:nvSpPr>
          <p:cNvPr id="8" name="Shape 6"/>
          <p:cNvSpPr/>
          <p:nvPr/>
        </p:nvSpPr>
        <p:spPr>
          <a:xfrm>
            <a:off x="457200" y="2194560"/>
            <a:ext cx="3703320" cy="2103120"/>
          </a:xfrm>
          <a:prstGeom prst="roundRect">
            <a:avLst>
              <a:gd name="adj" fmla="val 5217"/>
            </a:avLst>
          </a:prstGeom>
          <a:solidFill>
            <a:srgbClr val="F0F8F0"/>
          </a:solidFill>
          <a:ln w="25400">
            <a:solidFill>
              <a:srgbClr val="5A9C5A"/>
            </a:solidFill>
            <a:prstDash val="solid"/>
          </a:ln>
          <a:effectLst>
            <a:outerShdw sx="100000" sy="100000" kx="0" ky="0" algn="bl" rotWithShape="0" blurRad="101600" dist="25400" dir="5400000">
              <a:srgbClr val="C4B5DC">
                <a:alpha val="18000"/>
              </a:srgbClr>
            </a:outerShdw>
          </a:effectLst>
        </p:spPr>
      </p:sp>
      <p:sp>
        <p:nvSpPr>
          <p:cNvPr id="9" name="Text 7"/>
          <p:cNvSpPr/>
          <p:nvPr/>
        </p:nvSpPr>
        <p:spPr>
          <a:xfrm>
            <a:off x="457200" y="2377440"/>
            <a:ext cx="3703320" cy="731520"/>
          </a:xfrm>
          <a:prstGeom prst="rect">
            <a:avLst/>
          </a:prstGeom>
          <a:noFill/>
          <a:ln/>
        </p:spPr>
        <p:txBody>
          <a:bodyPr wrap="square" lIns="0" tIns="0" rIns="0" bIns="0" rtlCol="0" anchor="ctr"/>
          <a:lstStyle/>
          <a:p>
            <a:pPr algn="ctr" indent="0" marL="0">
              <a:buNone/>
            </a:pPr>
            <a:r>
              <a:rPr lang="en-US" sz="4800" b="1" dirty="0">
                <a:solidFill>
                  <a:srgbClr val="5A9C5A"/>
                </a:solidFill>
                <a:latin typeface="Calibri" pitchFamily="34" charset="0"/>
                <a:ea typeface="Calibri" pitchFamily="34" charset="-122"/>
                <a:cs typeface="Calibri" pitchFamily="34" charset="-120"/>
              </a:rPr>
              <a:t>0</a:t>
            </a:r>
            <a:endParaRPr lang="en-US" sz="4800" dirty="0"/>
          </a:p>
        </p:txBody>
      </p:sp>
      <p:sp>
        <p:nvSpPr>
          <p:cNvPr id="10" name="Text 8"/>
          <p:cNvSpPr/>
          <p:nvPr/>
        </p:nvSpPr>
        <p:spPr>
          <a:xfrm>
            <a:off x="640080" y="3154680"/>
            <a:ext cx="3337560" cy="45720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It worked</a:t>
            </a:r>
            <a:endParaRPr lang="en-US" sz="1400" dirty="0"/>
          </a:p>
        </p:txBody>
      </p:sp>
      <p:sp>
        <p:nvSpPr>
          <p:cNvPr id="11" name="Text 9"/>
          <p:cNvSpPr/>
          <p:nvPr/>
        </p:nvSpPr>
        <p:spPr>
          <a:xfrm>
            <a:off x="640080" y="3611880"/>
            <a:ext cx="3337560" cy="594360"/>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The operation completed.</a:t>
            </a:r>
            <a:endParaRPr lang="en-US" sz="1150" dirty="0"/>
          </a:p>
          <a:p>
            <a:pPr algn="ctr" indent="0" marL="0">
              <a:buNone/>
            </a:pPr>
            <a:r>
              <a:rPr lang="en-US" sz="1150" dirty="0">
                <a:solidFill>
                  <a:srgbClr val="5A5A5A"/>
                </a:solidFill>
                <a:latin typeface="Calibri" pitchFamily="34" charset="0"/>
                <a:ea typeface="Calibri" pitchFamily="34" charset="-122"/>
                <a:cs typeface="Calibri" pitchFamily="34" charset="-120"/>
              </a:rPr>
              <a:t>Carry on.</a:t>
            </a:r>
            <a:endParaRPr lang="en-US" sz="1150" dirty="0"/>
          </a:p>
        </p:txBody>
      </p:sp>
      <p:sp>
        <p:nvSpPr>
          <p:cNvPr id="12" name="Shape 10"/>
          <p:cNvSpPr/>
          <p:nvPr/>
        </p:nvSpPr>
        <p:spPr>
          <a:xfrm>
            <a:off x="4325112" y="2194560"/>
            <a:ext cx="3703320" cy="2103120"/>
          </a:xfrm>
          <a:prstGeom prst="roundRect">
            <a:avLst>
              <a:gd name="adj" fmla="val 5217"/>
            </a:avLst>
          </a:prstGeom>
          <a:solidFill>
            <a:srgbClr val="FEF7E8"/>
          </a:solidFill>
          <a:ln w="25400">
            <a:solidFill>
              <a:srgbClr val="E8A547"/>
            </a:solidFill>
            <a:prstDash val="solid"/>
          </a:ln>
          <a:effectLst>
            <a:outerShdw sx="100000" sy="100000" kx="0" ky="0" algn="bl" rotWithShape="0" blurRad="101600" dist="25400" dir="5400000">
              <a:srgbClr val="C4B5DC">
                <a:alpha val="18000"/>
              </a:srgbClr>
            </a:outerShdw>
          </a:effectLst>
        </p:spPr>
      </p:sp>
      <p:sp>
        <p:nvSpPr>
          <p:cNvPr id="13" name="Text 11"/>
          <p:cNvSpPr/>
          <p:nvPr/>
        </p:nvSpPr>
        <p:spPr>
          <a:xfrm>
            <a:off x="4325112" y="2377440"/>
            <a:ext cx="3703320" cy="731520"/>
          </a:xfrm>
          <a:prstGeom prst="rect">
            <a:avLst/>
          </a:prstGeom>
          <a:noFill/>
          <a:ln/>
        </p:spPr>
        <p:txBody>
          <a:bodyPr wrap="square" lIns="0" tIns="0" rIns="0" bIns="0" rtlCol="0" anchor="ctr"/>
          <a:lstStyle/>
          <a:p>
            <a:pPr algn="ctr" indent="0" marL="0">
              <a:buNone/>
            </a:pPr>
            <a:r>
              <a:rPr lang="en-US" sz="4800" b="1" dirty="0">
                <a:solidFill>
                  <a:srgbClr val="E8A547"/>
                </a:solidFill>
                <a:latin typeface="Calibri" pitchFamily="34" charset="0"/>
                <a:ea typeface="Calibri" pitchFamily="34" charset="-122"/>
                <a:cs typeface="Calibri" pitchFamily="34" charset="-120"/>
              </a:rPr>
              <a:t>1</a:t>
            </a:r>
            <a:endParaRPr lang="en-US" sz="4800" dirty="0"/>
          </a:p>
        </p:txBody>
      </p:sp>
      <p:sp>
        <p:nvSpPr>
          <p:cNvPr id="14" name="Text 12"/>
          <p:cNvSpPr/>
          <p:nvPr/>
        </p:nvSpPr>
        <p:spPr>
          <a:xfrm>
            <a:off x="4507992" y="3154680"/>
            <a:ext cx="3337560" cy="45720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A business rule said no</a:t>
            </a:r>
            <a:endParaRPr lang="en-US" sz="1400" dirty="0"/>
          </a:p>
        </p:txBody>
      </p:sp>
      <p:sp>
        <p:nvSpPr>
          <p:cNvPr id="15" name="Text 13"/>
          <p:cNvSpPr/>
          <p:nvPr/>
        </p:nvSpPr>
        <p:spPr>
          <a:xfrm>
            <a:off x="4507992" y="3611880"/>
            <a:ext cx="3337560" cy="594360"/>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Not found, duplicate, invalid</a:t>
            </a:r>
            <a:endParaRPr lang="en-US" sz="1150" dirty="0"/>
          </a:p>
          <a:p>
            <a:pPr algn="ctr" indent="0" marL="0">
              <a:buNone/>
            </a:pPr>
            <a:r>
              <a:rPr lang="en-US" sz="1150" dirty="0">
                <a:solidFill>
                  <a:srgbClr val="5A5A5A"/>
                </a:solidFill>
                <a:latin typeface="Calibri" pitchFamily="34" charset="0"/>
                <a:ea typeface="Calibri" pitchFamily="34" charset="-122"/>
                <a:cs typeface="Calibri" pitchFamily="34" charset="-120"/>
              </a:rPr>
              <a:t>stage, missing lost_reason.</a:t>
            </a:r>
            <a:endParaRPr lang="en-US" sz="1150" dirty="0"/>
          </a:p>
        </p:txBody>
      </p:sp>
      <p:sp>
        <p:nvSpPr>
          <p:cNvPr id="16" name="Shape 14"/>
          <p:cNvSpPr/>
          <p:nvPr/>
        </p:nvSpPr>
        <p:spPr>
          <a:xfrm>
            <a:off x="8193024" y="2194560"/>
            <a:ext cx="3703320" cy="2103120"/>
          </a:xfrm>
          <a:prstGeom prst="roundRect">
            <a:avLst>
              <a:gd name="adj" fmla="val 5217"/>
            </a:avLst>
          </a:prstGeom>
          <a:solidFill>
            <a:srgbClr val="FBEEEE"/>
          </a:solidFill>
          <a:ln w="25400">
            <a:solidFill>
              <a:srgbClr val="D67373"/>
            </a:solidFill>
            <a:prstDash val="solid"/>
          </a:ln>
          <a:effectLst>
            <a:outerShdw sx="100000" sy="100000" kx="0" ky="0" algn="bl" rotWithShape="0" blurRad="101600" dist="25400" dir="5400000">
              <a:srgbClr val="C4B5DC">
                <a:alpha val="18000"/>
              </a:srgbClr>
            </a:outerShdw>
          </a:effectLst>
        </p:spPr>
      </p:sp>
      <p:sp>
        <p:nvSpPr>
          <p:cNvPr id="17" name="Text 15"/>
          <p:cNvSpPr/>
          <p:nvPr/>
        </p:nvSpPr>
        <p:spPr>
          <a:xfrm>
            <a:off x="8193024" y="2377440"/>
            <a:ext cx="3703320" cy="731520"/>
          </a:xfrm>
          <a:prstGeom prst="rect">
            <a:avLst/>
          </a:prstGeom>
          <a:noFill/>
          <a:ln/>
        </p:spPr>
        <p:txBody>
          <a:bodyPr wrap="square" lIns="0" tIns="0" rIns="0" bIns="0" rtlCol="0" anchor="ctr"/>
          <a:lstStyle/>
          <a:p>
            <a:pPr algn="ctr" indent="0" marL="0">
              <a:buNone/>
            </a:pPr>
            <a:r>
              <a:rPr lang="en-US" sz="4800" b="1" dirty="0">
                <a:solidFill>
                  <a:srgbClr val="D67373"/>
                </a:solidFill>
                <a:latin typeface="Calibri" pitchFamily="34" charset="0"/>
                <a:ea typeface="Calibri" pitchFamily="34" charset="-122"/>
                <a:cs typeface="Calibri" pitchFamily="34" charset="-120"/>
              </a:rPr>
              <a:t>2</a:t>
            </a:r>
            <a:endParaRPr lang="en-US" sz="4800" dirty="0"/>
          </a:p>
        </p:txBody>
      </p:sp>
      <p:sp>
        <p:nvSpPr>
          <p:cNvPr id="18" name="Text 16"/>
          <p:cNvSpPr/>
          <p:nvPr/>
        </p:nvSpPr>
        <p:spPr>
          <a:xfrm>
            <a:off x="8375904" y="3154680"/>
            <a:ext cx="3337560" cy="457200"/>
          </a:xfrm>
          <a:prstGeom prst="rect">
            <a:avLst/>
          </a:prstGeom>
          <a:noFill/>
          <a:ln/>
        </p:spPr>
        <p:txBody>
          <a:bodyPr wrap="square" lIns="0" tIns="0" rIns="0" bIns="0" rtlCol="0" anchor="ctr"/>
          <a:lstStyle/>
          <a:p>
            <a:pPr algn="ctr" indent="0" marL="0">
              <a:buNone/>
            </a:pPr>
            <a:r>
              <a:rPr lang="en-US" sz="1400" b="1" dirty="0">
                <a:solidFill>
                  <a:srgbClr val="2D2D2D"/>
                </a:solidFill>
                <a:latin typeface="Calibri" pitchFamily="34" charset="0"/>
                <a:ea typeface="Calibri" pitchFamily="34" charset="-122"/>
                <a:cs typeface="Calibri" pitchFamily="34" charset="-120"/>
              </a:rPr>
              <a:t>The input was the wrong shape</a:t>
            </a:r>
            <a:endParaRPr lang="en-US" sz="1400" dirty="0"/>
          </a:p>
        </p:txBody>
      </p:sp>
      <p:sp>
        <p:nvSpPr>
          <p:cNvPr id="19" name="Text 17"/>
          <p:cNvSpPr/>
          <p:nvPr/>
        </p:nvSpPr>
        <p:spPr>
          <a:xfrm>
            <a:off x="8375904" y="3611880"/>
            <a:ext cx="3337560" cy="594360"/>
          </a:xfrm>
          <a:prstGeom prst="rect">
            <a:avLst/>
          </a:prstGeom>
          <a:noFill/>
          <a:ln/>
        </p:spPr>
        <p:txBody>
          <a:bodyPr wrap="square" lIns="0" tIns="0" rIns="0" bIns="0" rtlCol="0" anchor="ctr"/>
          <a:lstStyle/>
          <a:p>
            <a:pPr algn="ctr" indent="0" marL="0">
              <a:buNone/>
            </a:pPr>
            <a:r>
              <a:rPr lang="en-US" sz="1150" dirty="0">
                <a:solidFill>
                  <a:srgbClr val="5A5A5A"/>
                </a:solidFill>
                <a:latin typeface="Calibri" pitchFamily="34" charset="0"/>
                <a:ea typeface="Calibri" pitchFamily="34" charset="-122"/>
                <a:cs typeface="Calibri" pitchFamily="34" charset="-120"/>
              </a:rPr>
              <a:t>A field failed validation</a:t>
            </a:r>
            <a:endParaRPr lang="en-US" sz="1150" dirty="0"/>
          </a:p>
          <a:p>
            <a:pPr algn="ctr" indent="0" marL="0">
              <a:buNone/>
            </a:pPr>
            <a:r>
              <a:rPr lang="en-US" sz="1150" dirty="0">
                <a:solidFill>
                  <a:srgbClr val="5A5A5A"/>
                </a:solidFill>
                <a:latin typeface="Calibri" pitchFamily="34" charset="0"/>
                <a:ea typeface="Calibri" pitchFamily="34" charset="-122"/>
                <a:cs typeface="Calibri" pitchFamily="34" charset="-120"/>
              </a:rPr>
              <a:t>before the core was reached.</a:t>
            </a:r>
            <a:endParaRPr lang="en-US" sz="1150" dirty="0"/>
          </a:p>
        </p:txBody>
      </p:sp>
      <p:sp>
        <p:nvSpPr>
          <p:cNvPr id="20" name="Text 18"/>
          <p:cNvSpPr/>
          <p:nvPr/>
        </p:nvSpPr>
        <p:spPr>
          <a:xfrm>
            <a:off x="457200" y="4526280"/>
            <a:ext cx="1124712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SEE IT YOURSELF</a:t>
            </a:r>
            <a:endParaRPr lang="en-US" sz="1050" dirty="0"/>
          </a:p>
        </p:txBody>
      </p:sp>
      <p:sp>
        <p:nvSpPr>
          <p:cNvPr id="21" name="Shape 19"/>
          <p:cNvSpPr/>
          <p:nvPr/>
        </p:nvSpPr>
        <p:spPr>
          <a:xfrm>
            <a:off x="457200" y="4846320"/>
            <a:ext cx="11247120" cy="1051560"/>
          </a:xfrm>
          <a:prstGeom prst="roundRect">
            <a:avLst>
              <a:gd name="adj" fmla="val 6957"/>
            </a:avLst>
          </a:prstGeom>
          <a:solidFill>
            <a:srgbClr val="F6F2FB"/>
          </a:solidFill>
          <a:ln w="9525">
            <a:solidFill>
              <a:srgbClr val="C5B3DC"/>
            </a:solidFill>
            <a:prstDash val="solid"/>
          </a:ln>
        </p:spPr>
      </p:sp>
      <p:sp>
        <p:nvSpPr>
          <p:cNvPr id="22" name="Text 20"/>
          <p:cNvSpPr/>
          <p:nvPr/>
        </p:nvSpPr>
        <p:spPr>
          <a:xfrm>
            <a:off x="640080" y="4956048"/>
            <a:ext cx="10881360" cy="832104"/>
          </a:xfrm>
          <a:prstGeom prst="rect">
            <a:avLst/>
          </a:prstGeom>
          <a:noFill/>
          <a:ln/>
        </p:spPr>
        <p:txBody>
          <a:bodyPr wrap="square" lIns="0" tIns="0" rIns="0" bIns="0" rtlCol="0" anchor="t"/>
          <a:lstStyle/>
          <a:p>
            <a:pPr algn="l" indent="0" marL="0">
              <a:buNone/>
            </a:pPr>
            <a:r>
              <a:rPr lang="en-US" sz="1250" dirty="0">
                <a:solidFill>
                  <a:srgbClr val="2D2D2D"/>
                </a:solidFill>
                <a:latin typeface="Consolas" pitchFamily="34" charset="0"/>
                <a:ea typeface="Consolas" pitchFamily="34" charset="-122"/>
                <a:cs typeface="Consolas" pitchFamily="34" charset="-120"/>
              </a:rPr>
              <a:t>python cli.py deals move dea_xxxx --stage almost_won</a:t>
            </a:r>
            <a:endParaRPr lang="en-US" sz="1250" dirty="0"/>
          </a:p>
          <a:p>
            <a:pPr algn="l" indent="0" marL="0">
              <a:buNone/>
            </a:pPr>
            <a:r>
              <a:rPr lang="en-US" sz="1250" dirty="0">
                <a:solidFill>
                  <a:srgbClr val="2D2D2D"/>
                </a:solidFill>
                <a:latin typeface="Consolas" pitchFamily="34" charset="0"/>
                <a:ea typeface="Consolas" pitchFamily="34" charset="-122"/>
                <a:cs typeface="Consolas" pitchFamily="34" charset="-120"/>
              </a:rPr>
              <a:t>echo $LASTEXITCODE        # PowerShell</a:t>
            </a:r>
            <a:endParaRPr lang="en-US" sz="1250" dirty="0"/>
          </a:p>
          <a:p>
            <a:pPr algn="l" indent="0" marL="0">
              <a:buNone/>
            </a:pPr>
            <a:r>
              <a:rPr lang="en-US" sz="1250" dirty="0">
                <a:solidFill>
                  <a:srgbClr val="2D2D2D"/>
                </a:solidFill>
                <a:latin typeface="Consolas" pitchFamily="34" charset="0"/>
                <a:ea typeface="Consolas" pitchFamily="34" charset="-122"/>
                <a:cs typeface="Consolas" pitchFamily="34" charset="-120"/>
              </a:rPr>
              <a:t>echo $?                   # bash / zsh</a:t>
            </a:r>
            <a:endParaRPr lang="en-US" sz="1250" dirty="0"/>
          </a:p>
        </p:txBody>
      </p:sp>
      <p:sp>
        <p:nvSpPr>
          <p:cNvPr id="23" name="Text 21"/>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24" name="Text 22"/>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24 / 28</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D · EXERCISE</a:t>
            </a:r>
            <a:endParaRPr lang="en-US" sz="1000" dirty="0"/>
          </a:p>
        </p:txBody>
      </p:sp>
      <p:sp>
        <p:nvSpPr>
          <p:cNvPr id="4" name="Shape 2"/>
          <p:cNvSpPr/>
          <p:nvPr/>
        </p:nvSpPr>
        <p:spPr>
          <a:xfrm>
            <a:off x="457200" y="1371600"/>
            <a:ext cx="4937760" cy="91440"/>
          </a:xfrm>
          <a:prstGeom prst="roundRect">
            <a:avLst>
              <a:gd name="adj" fmla="val 50000"/>
            </a:avLst>
          </a:prstGeom>
          <a:solidFill>
            <a:srgbClr val="FFD93D">
              <a:alpha val="70000"/>
            </a:srgbClr>
          </a:solidFill>
          <a:ln w="12700">
            <a:solidFill>
              <a:srgbClr val="FFD93D">
                <a:alpha val="0"/>
              </a:srgbClr>
            </a:solidFill>
            <a:prstDash val="solid"/>
          </a:ln>
        </p:spPr>
      </p:sp>
      <p:sp>
        <p:nvSpPr>
          <p:cNvPr id="5" name="Shape 3"/>
          <p:cNvSpPr/>
          <p:nvPr/>
        </p:nvSpPr>
        <p:spPr>
          <a:xfrm>
            <a:off x="457200" y="502920"/>
            <a:ext cx="164592" cy="164592"/>
          </a:xfrm>
          <a:prstGeom prst="ellipse">
            <a:avLst/>
          </a:prstGeom>
          <a:solidFill>
            <a:srgbClr val="FFD93D"/>
          </a:solidFill>
          <a:ln w="12700">
            <a:solidFill>
              <a:srgbClr val="FFD93D"/>
            </a:solidFill>
            <a:prstDash val="solid"/>
          </a:ln>
        </p:spPr>
      </p:sp>
      <p:sp>
        <p:nvSpPr>
          <p:cNvPr id="6" name="Shape 4"/>
          <p:cNvSpPr/>
          <p:nvPr/>
        </p:nvSpPr>
        <p:spPr>
          <a:xfrm>
            <a:off x="658368" y="502920"/>
            <a:ext cx="164592" cy="164592"/>
          </a:xfrm>
          <a:prstGeom prst="ellipse">
            <a:avLst/>
          </a:prstGeom>
          <a:solidFill>
            <a:srgbClr val="9B7FBE"/>
          </a:solidFill>
          <a:ln w="12700">
            <a:solidFill>
              <a:srgbClr val="9B7FBE"/>
            </a:solidFill>
            <a:prstDash val="solid"/>
          </a:ln>
        </p:spPr>
      </p:sp>
      <p:sp>
        <p:nvSpPr>
          <p:cNvPr id="7" name="Text 5"/>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 Your Turn — 15 Minutes</a:t>
            </a:r>
            <a:endParaRPr lang="en-US" sz="2800" dirty="0"/>
          </a:p>
        </p:txBody>
      </p:sp>
      <p:sp>
        <p:nvSpPr>
          <p:cNvPr id="8" name="Text 6"/>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Three tasks. The first one is timed on purpose.</a:t>
            </a:r>
            <a:endParaRPr lang="en-US" sz="1400" dirty="0"/>
          </a:p>
        </p:txBody>
      </p:sp>
      <p:sp>
        <p:nvSpPr>
          <p:cNvPr id="9" name="Shape 7"/>
          <p:cNvSpPr/>
          <p:nvPr/>
        </p:nvSpPr>
        <p:spPr>
          <a:xfrm>
            <a:off x="457200" y="1920240"/>
            <a:ext cx="2743200" cy="365760"/>
          </a:xfrm>
          <a:prstGeom prst="roundRect">
            <a:avLst>
              <a:gd name="adj" fmla="val 50000"/>
            </a:avLst>
          </a:prstGeom>
          <a:solidFill>
            <a:srgbClr val="EDE5F7"/>
          </a:solidFill>
          <a:ln w="12700">
            <a:solidFill>
              <a:srgbClr val="9B7FBE"/>
            </a:solidFill>
            <a:prstDash val="solid"/>
          </a:ln>
        </p:spPr>
      </p:sp>
      <p:sp>
        <p:nvSpPr>
          <p:cNvPr id="10" name="Text 8"/>
          <p:cNvSpPr/>
          <p:nvPr/>
        </p:nvSpPr>
        <p:spPr>
          <a:xfrm>
            <a:off x="457200" y="1920240"/>
            <a:ext cx="2743200" cy="365760"/>
          </a:xfrm>
          <a:prstGeom prst="rect">
            <a:avLst/>
          </a:prstGeom>
          <a:noFill/>
          <a:ln/>
        </p:spPr>
        <p:txBody>
          <a:bodyPr wrap="square" lIns="0" tIns="0" rIns="0" bIns="0" rtlCol="0" anchor="ctr"/>
          <a:lstStyle/>
          <a:p>
            <a:pPr algn="ctr" indent="0" marL="0">
              <a:buNone/>
            </a:pPr>
            <a:r>
              <a:rPr lang="en-US" sz="1100" b="1" spc="100" kern="0" dirty="0">
                <a:solidFill>
                  <a:srgbClr val="6B4E96"/>
                </a:solidFill>
                <a:latin typeface="Calibri" pitchFamily="34" charset="0"/>
                <a:ea typeface="Calibri" pitchFamily="34" charset="-122"/>
                <a:cs typeface="Calibri" pitchFamily="34" charset="-120"/>
              </a:rPr>
              <a:t>⏱  TIME: 15 MINUTES</a:t>
            </a:r>
            <a:endParaRPr lang="en-US" sz="1100" dirty="0"/>
          </a:p>
        </p:txBody>
      </p:sp>
      <p:sp>
        <p:nvSpPr>
          <p:cNvPr id="11" name="Shape 9"/>
          <p:cNvSpPr/>
          <p:nvPr/>
        </p:nvSpPr>
        <p:spPr>
          <a:xfrm>
            <a:off x="457200" y="2423160"/>
            <a:ext cx="3703320" cy="3063240"/>
          </a:xfrm>
          <a:prstGeom prst="roundRect">
            <a:avLst>
              <a:gd name="adj" fmla="val 3582"/>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2" name="Shape 10"/>
          <p:cNvSpPr/>
          <p:nvPr/>
        </p:nvSpPr>
        <p:spPr>
          <a:xfrm>
            <a:off x="640080" y="2606040"/>
            <a:ext cx="457200" cy="457200"/>
          </a:xfrm>
          <a:prstGeom prst="ellipse">
            <a:avLst/>
          </a:prstGeom>
          <a:solidFill>
            <a:srgbClr val="FFD93D"/>
          </a:solidFill>
          <a:ln w="12700">
            <a:solidFill>
              <a:srgbClr val="E5BA1F"/>
            </a:solidFill>
            <a:prstDash val="solid"/>
          </a:ln>
        </p:spPr>
      </p:sp>
      <p:sp>
        <p:nvSpPr>
          <p:cNvPr id="13" name="Text 11"/>
          <p:cNvSpPr/>
          <p:nvPr/>
        </p:nvSpPr>
        <p:spPr>
          <a:xfrm>
            <a:off x="640080" y="2606040"/>
            <a:ext cx="457200" cy="457200"/>
          </a:xfrm>
          <a:prstGeom prst="rect">
            <a:avLst/>
          </a:prstGeom>
          <a:noFill/>
          <a:ln/>
        </p:spPr>
        <p:txBody>
          <a:bodyPr wrap="square" lIns="0" tIns="0" rIns="0" bIns="0" rtlCol="0" anchor="ctr"/>
          <a:lstStyle/>
          <a:p>
            <a:pPr algn="ctr" indent="0" marL="0">
              <a:buNone/>
            </a:pPr>
            <a:r>
              <a:rPr lang="en-US" sz="1800" b="1" dirty="0">
                <a:solidFill>
                  <a:srgbClr val="2D2D2D"/>
                </a:solidFill>
                <a:latin typeface="Calibri" pitchFamily="34" charset="0"/>
                <a:ea typeface="Calibri" pitchFamily="34" charset="-122"/>
                <a:cs typeface="Calibri" pitchFamily="34" charset="-120"/>
              </a:rPr>
              <a:t>1</a:t>
            </a:r>
            <a:endParaRPr lang="en-US" sz="1800" dirty="0"/>
          </a:p>
        </p:txBody>
      </p:sp>
      <p:sp>
        <p:nvSpPr>
          <p:cNvPr id="14" name="Text 12"/>
          <p:cNvSpPr/>
          <p:nvPr/>
        </p:nvSpPr>
        <p:spPr>
          <a:xfrm>
            <a:off x="1234440" y="2606040"/>
            <a:ext cx="2743200" cy="685800"/>
          </a:xfrm>
          <a:prstGeom prst="rect">
            <a:avLst/>
          </a:prstGeom>
          <a:noFill/>
          <a:ln/>
        </p:spPr>
        <p:txBody>
          <a:bodyPr wrap="square" lIns="0" tIns="0" rIns="0" bIns="0" rtlCol="0" anchor="ctr"/>
          <a:lstStyle/>
          <a:p>
            <a:pPr indent="0" marL="0">
              <a:buNone/>
            </a:pPr>
            <a:r>
              <a:rPr lang="en-US" sz="1350" b="1" dirty="0">
                <a:solidFill>
                  <a:srgbClr val="6B4E96"/>
                </a:solidFill>
                <a:latin typeface="Calibri" pitchFamily="34" charset="0"/>
                <a:ea typeface="Calibri" pitchFamily="34" charset="-122"/>
                <a:cs typeface="Calibri" pitchFamily="34" charset="-120"/>
              </a:rPr>
              <a:t>Add a contacts update command</a:t>
            </a:r>
            <a:endParaRPr lang="en-US" sz="1350" dirty="0"/>
          </a:p>
        </p:txBody>
      </p:sp>
      <p:sp>
        <p:nvSpPr>
          <p:cNvPr id="15" name="Text 13"/>
          <p:cNvSpPr/>
          <p:nvPr/>
        </p:nvSpPr>
        <p:spPr>
          <a:xfrm>
            <a:off x="685800" y="3429000"/>
            <a:ext cx="3246120" cy="192024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Time yourself.</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Under 5 minutes? Good — the architecture is doing its job.</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Longer? Some logic has leaked out of the core.</a:t>
            </a:r>
            <a:endParaRPr lang="en-US" sz="1200" dirty="0"/>
          </a:p>
        </p:txBody>
      </p:sp>
      <p:sp>
        <p:nvSpPr>
          <p:cNvPr id="16" name="Shape 14"/>
          <p:cNvSpPr/>
          <p:nvPr/>
        </p:nvSpPr>
        <p:spPr>
          <a:xfrm>
            <a:off x="4325112" y="2423160"/>
            <a:ext cx="3703320" cy="3063240"/>
          </a:xfrm>
          <a:prstGeom prst="roundRect">
            <a:avLst>
              <a:gd name="adj" fmla="val 3582"/>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17" name="Shape 15"/>
          <p:cNvSpPr/>
          <p:nvPr/>
        </p:nvSpPr>
        <p:spPr>
          <a:xfrm>
            <a:off x="4507992" y="2606040"/>
            <a:ext cx="457200" cy="457200"/>
          </a:xfrm>
          <a:prstGeom prst="ellipse">
            <a:avLst/>
          </a:prstGeom>
          <a:solidFill>
            <a:srgbClr val="FFD93D"/>
          </a:solidFill>
          <a:ln w="12700">
            <a:solidFill>
              <a:srgbClr val="E5BA1F"/>
            </a:solidFill>
            <a:prstDash val="solid"/>
          </a:ln>
        </p:spPr>
      </p:sp>
      <p:sp>
        <p:nvSpPr>
          <p:cNvPr id="18" name="Text 16"/>
          <p:cNvSpPr/>
          <p:nvPr/>
        </p:nvSpPr>
        <p:spPr>
          <a:xfrm>
            <a:off x="4507992" y="2606040"/>
            <a:ext cx="457200" cy="457200"/>
          </a:xfrm>
          <a:prstGeom prst="rect">
            <a:avLst/>
          </a:prstGeom>
          <a:noFill/>
          <a:ln/>
        </p:spPr>
        <p:txBody>
          <a:bodyPr wrap="square" lIns="0" tIns="0" rIns="0" bIns="0" rtlCol="0" anchor="ctr"/>
          <a:lstStyle/>
          <a:p>
            <a:pPr algn="ctr" indent="0" marL="0">
              <a:buNone/>
            </a:pPr>
            <a:r>
              <a:rPr lang="en-US" sz="1800" b="1" dirty="0">
                <a:solidFill>
                  <a:srgbClr val="2D2D2D"/>
                </a:solidFill>
                <a:latin typeface="Calibri" pitchFamily="34" charset="0"/>
                <a:ea typeface="Calibri" pitchFamily="34" charset="-122"/>
                <a:cs typeface="Calibri" pitchFamily="34" charset="-120"/>
              </a:rPr>
              <a:t>2</a:t>
            </a:r>
            <a:endParaRPr lang="en-US" sz="1800" dirty="0"/>
          </a:p>
        </p:txBody>
      </p:sp>
      <p:sp>
        <p:nvSpPr>
          <p:cNvPr id="19" name="Text 17"/>
          <p:cNvSpPr/>
          <p:nvPr/>
        </p:nvSpPr>
        <p:spPr>
          <a:xfrm>
            <a:off x="5102352" y="2606040"/>
            <a:ext cx="2743200" cy="685800"/>
          </a:xfrm>
          <a:prstGeom prst="rect">
            <a:avLst/>
          </a:prstGeom>
          <a:noFill/>
          <a:ln/>
        </p:spPr>
        <p:txBody>
          <a:bodyPr wrap="square" lIns="0" tIns="0" rIns="0" bIns="0" rtlCol="0" anchor="ctr"/>
          <a:lstStyle/>
          <a:p>
            <a:pPr indent="0" marL="0">
              <a:buNone/>
            </a:pPr>
            <a:r>
              <a:rPr lang="en-US" sz="1350" b="1" dirty="0">
                <a:solidFill>
                  <a:srgbClr val="6B4E96"/>
                </a:solidFill>
                <a:latin typeface="Calibri" pitchFamily="34" charset="0"/>
                <a:ea typeface="Calibri" pitchFamily="34" charset="-122"/>
                <a:cs typeface="Calibri" pitchFamily="34" charset="-120"/>
              </a:rPr>
              <a:t>Find business logic hiding in cli.py</a:t>
            </a:r>
            <a:endParaRPr lang="en-US" sz="1350" dirty="0"/>
          </a:p>
        </p:txBody>
      </p:sp>
      <p:sp>
        <p:nvSpPr>
          <p:cNvPr id="20" name="Text 18"/>
          <p:cNvSpPr/>
          <p:nvPr/>
        </p:nvSpPr>
        <p:spPr>
          <a:xfrm>
            <a:off x="4553712" y="3429000"/>
            <a:ext cx="3246120" cy="192024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Hint: how is --reason handled</a:t>
            </a: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for closed_lost?</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Check core/deals.py before you</a:t>
            </a: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conclude anything.</a:t>
            </a:r>
            <a:endParaRPr lang="en-US" sz="1200" dirty="0"/>
          </a:p>
        </p:txBody>
      </p:sp>
      <p:sp>
        <p:nvSpPr>
          <p:cNvPr id="21" name="Shape 19"/>
          <p:cNvSpPr/>
          <p:nvPr/>
        </p:nvSpPr>
        <p:spPr>
          <a:xfrm>
            <a:off x="8193024" y="2423160"/>
            <a:ext cx="3703320" cy="3063240"/>
          </a:xfrm>
          <a:prstGeom prst="roundRect">
            <a:avLst>
              <a:gd name="adj" fmla="val 3582"/>
            </a:avLst>
          </a:prstGeom>
          <a:solidFill>
            <a:srgbClr val="FFFFFF"/>
          </a:solidFill>
          <a:ln w="22225">
            <a:solidFill>
              <a:srgbClr val="6B4E96"/>
            </a:solidFill>
            <a:prstDash val="solid"/>
          </a:ln>
          <a:effectLst>
            <a:outerShdw sx="100000" sy="100000" kx="0" ky="0" algn="bl" rotWithShape="0" blurRad="101600" dist="25400" dir="5400000">
              <a:srgbClr val="C4B5DC">
                <a:alpha val="18000"/>
              </a:srgbClr>
            </a:outerShdw>
          </a:effectLst>
        </p:spPr>
      </p:sp>
      <p:sp>
        <p:nvSpPr>
          <p:cNvPr id="22" name="Shape 20"/>
          <p:cNvSpPr/>
          <p:nvPr/>
        </p:nvSpPr>
        <p:spPr>
          <a:xfrm>
            <a:off x="8375904" y="2606040"/>
            <a:ext cx="457200" cy="457200"/>
          </a:xfrm>
          <a:prstGeom prst="ellipse">
            <a:avLst/>
          </a:prstGeom>
          <a:solidFill>
            <a:srgbClr val="FFD93D"/>
          </a:solidFill>
          <a:ln w="12700">
            <a:solidFill>
              <a:srgbClr val="E5BA1F"/>
            </a:solidFill>
            <a:prstDash val="solid"/>
          </a:ln>
        </p:spPr>
      </p:sp>
      <p:sp>
        <p:nvSpPr>
          <p:cNvPr id="23" name="Text 21"/>
          <p:cNvSpPr/>
          <p:nvPr/>
        </p:nvSpPr>
        <p:spPr>
          <a:xfrm>
            <a:off x="8375904" y="2606040"/>
            <a:ext cx="457200" cy="457200"/>
          </a:xfrm>
          <a:prstGeom prst="rect">
            <a:avLst/>
          </a:prstGeom>
          <a:noFill/>
          <a:ln/>
        </p:spPr>
        <p:txBody>
          <a:bodyPr wrap="square" lIns="0" tIns="0" rIns="0" bIns="0" rtlCol="0" anchor="ctr"/>
          <a:lstStyle/>
          <a:p>
            <a:pPr algn="ctr" indent="0" marL="0">
              <a:buNone/>
            </a:pPr>
            <a:r>
              <a:rPr lang="en-US" sz="1800" b="1" dirty="0">
                <a:solidFill>
                  <a:srgbClr val="2D2D2D"/>
                </a:solidFill>
                <a:latin typeface="Calibri" pitchFamily="34" charset="0"/>
                <a:ea typeface="Calibri" pitchFamily="34" charset="-122"/>
                <a:cs typeface="Calibri" pitchFamily="34" charset="-120"/>
              </a:rPr>
              <a:t>3</a:t>
            </a:r>
            <a:endParaRPr lang="en-US" sz="1800" dirty="0"/>
          </a:p>
        </p:txBody>
      </p:sp>
      <p:sp>
        <p:nvSpPr>
          <p:cNvPr id="24" name="Text 22"/>
          <p:cNvSpPr/>
          <p:nvPr/>
        </p:nvSpPr>
        <p:spPr>
          <a:xfrm>
            <a:off x="8970264" y="2606040"/>
            <a:ext cx="2743200" cy="685800"/>
          </a:xfrm>
          <a:prstGeom prst="rect">
            <a:avLst/>
          </a:prstGeom>
          <a:noFill/>
          <a:ln/>
        </p:spPr>
        <p:txBody>
          <a:bodyPr wrap="square" lIns="0" tIns="0" rIns="0" bIns="0" rtlCol="0" anchor="ctr"/>
          <a:lstStyle/>
          <a:p>
            <a:pPr indent="0" marL="0">
              <a:buNone/>
            </a:pPr>
            <a:r>
              <a:rPr lang="en-US" sz="1350" b="1" dirty="0">
                <a:solidFill>
                  <a:srgbClr val="6B4E96"/>
                </a:solidFill>
                <a:latin typeface="Calibri" pitchFamily="34" charset="0"/>
                <a:ea typeface="Calibri" pitchFamily="34" charset="-122"/>
                <a:cs typeface="Calibri" pitchFamily="34" charset="-120"/>
              </a:rPr>
              <a:t>Answer without opening a file</a:t>
            </a:r>
            <a:endParaRPr lang="en-US" sz="1350" dirty="0"/>
          </a:p>
        </p:txBody>
      </p:sp>
      <p:sp>
        <p:nvSpPr>
          <p:cNvPr id="25" name="Text 23"/>
          <p:cNvSpPr/>
          <p:nvPr/>
        </p:nvSpPr>
        <p:spPr>
          <a:xfrm>
            <a:off x="8421624" y="3429000"/>
            <a:ext cx="3246120" cy="1920240"/>
          </a:xfrm>
          <a:prstGeom prst="rect">
            <a:avLst/>
          </a:prstGeom>
          <a:noFill/>
          <a:ln/>
        </p:spPr>
        <p:txBody>
          <a:bodyPr wrap="square" lIns="0" tIns="0" rIns="0" bIns="0" rtlCol="0" anchor="ctr"/>
          <a:lstStyle/>
          <a:p>
            <a:pPr indent="0" marL="0">
              <a:buNone/>
            </a:pPr>
            <a:r>
              <a:rPr lang="en-US" sz="1200" dirty="0">
                <a:solidFill>
                  <a:srgbClr val="2D2D2D"/>
                </a:solidFill>
                <a:latin typeface="Calibri" pitchFamily="34" charset="0"/>
                <a:ea typeface="Calibri" pitchFamily="34" charset="-122"/>
                <a:cs typeface="Calibri" pitchFamily="34" charset="-120"/>
              </a:rPr>
              <a:t>If we delete cli.py entirely,</a:t>
            </a: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does the web app still work?</a:t>
            </a:r>
            <a:endParaRPr lang="en-US" sz="1200" dirty="0"/>
          </a:p>
          <a:p>
            <a:pPr indent="0" marL="0">
              <a:buNone/>
            </a:pPr>
            <a:endParaRPr lang="en-US" sz="1200" dirty="0"/>
          </a:p>
          <a:p>
            <a:pPr indent="0" marL="0">
              <a:buNone/>
            </a:pPr>
            <a:r>
              <a:rPr lang="en-US" sz="1200" dirty="0">
                <a:solidFill>
                  <a:srgbClr val="2D2D2D"/>
                </a:solidFill>
                <a:latin typeface="Calibri" pitchFamily="34" charset="0"/>
                <a:ea typeface="Calibri" pitchFamily="34" charset="-122"/>
                <a:cs typeface="Calibri" pitchFamily="34" charset="-120"/>
              </a:rPr>
              <a:t>Why?</a:t>
            </a:r>
            <a:endParaRPr lang="en-US" sz="1200" dirty="0"/>
          </a:p>
        </p:txBody>
      </p:sp>
      <p:sp>
        <p:nvSpPr>
          <p:cNvPr id="26" name="Shape 24"/>
          <p:cNvSpPr/>
          <p:nvPr/>
        </p:nvSpPr>
        <p:spPr>
          <a:xfrm>
            <a:off x="457200" y="5669280"/>
            <a:ext cx="11247120" cy="411480"/>
          </a:xfrm>
          <a:prstGeom prst="roundRect">
            <a:avLst>
              <a:gd name="adj" fmla="val 22222"/>
            </a:avLst>
          </a:prstGeom>
          <a:solidFill>
            <a:srgbClr val="FFF4B8"/>
          </a:solidFill>
          <a:ln w="12700">
            <a:solidFill>
              <a:srgbClr val="E5BA1F"/>
            </a:solidFill>
            <a:prstDash val="solid"/>
          </a:ln>
        </p:spPr>
      </p:sp>
      <p:sp>
        <p:nvSpPr>
          <p:cNvPr id="27" name="Text 25"/>
          <p:cNvSpPr/>
          <p:nvPr/>
        </p:nvSpPr>
        <p:spPr>
          <a:xfrm>
            <a:off x="640080" y="5669280"/>
            <a:ext cx="10881360" cy="411480"/>
          </a:xfrm>
          <a:prstGeom prst="rect">
            <a:avLst/>
          </a:prstGeom>
          <a:noFill/>
          <a:ln/>
        </p:spPr>
        <p:txBody>
          <a:bodyPr wrap="square" rtlCol="0" anchor="ctr"/>
          <a:lstStyle/>
          <a:p>
            <a:pPr algn="ctr" indent="0" marL="0">
              <a:buNone/>
            </a:pPr>
            <a:r>
              <a:rPr lang="en-US" sz="1250" b="1" i="1" dirty="0">
                <a:solidFill>
                  <a:srgbClr val="2D2D2D"/>
                </a:solidFill>
                <a:latin typeface="Calibri" pitchFamily="34" charset="0"/>
                <a:ea typeface="Calibri" pitchFamily="34" charset="-122"/>
                <a:cs typeface="Calibri" pitchFamily="34" charset="-120"/>
              </a:rPr>
              <a:t>Exercise 2 is a trick — the rule is already in the core and cli.py is clean. Finding nothing is the correct answer.</a:t>
            </a:r>
            <a:endParaRPr lang="en-US" sz="1250" dirty="0"/>
          </a:p>
        </p:txBody>
      </p:sp>
      <p:sp>
        <p:nvSpPr>
          <p:cNvPr id="28" name="Text 26"/>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29" name="Text 27"/>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25 / 28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E · WRAP</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What We Actually Proved Today</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Ask the room to supply the evidence column before you reveal it.</a:t>
            </a:r>
            <a:endParaRPr lang="en-US" sz="1400" dirty="0"/>
          </a:p>
        </p:txBody>
      </p:sp>
      <p:sp>
        <p:nvSpPr>
          <p:cNvPr id="8" name="Text 6"/>
          <p:cNvSpPr/>
          <p:nvPr/>
        </p:nvSpPr>
        <p:spPr>
          <a:xfrm>
            <a:off x="457200" y="2148840"/>
            <a:ext cx="457200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THE CLAIM</a:t>
            </a:r>
            <a:endParaRPr lang="en-US" sz="1050" dirty="0"/>
          </a:p>
        </p:txBody>
      </p:sp>
      <p:sp>
        <p:nvSpPr>
          <p:cNvPr id="9" name="Text 7"/>
          <p:cNvSpPr/>
          <p:nvPr/>
        </p:nvSpPr>
        <p:spPr>
          <a:xfrm>
            <a:off x="5212080" y="2148840"/>
            <a:ext cx="6492240" cy="274320"/>
          </a:xfrm>
          <a:prstGeom prst="rect">
            <a:avLst/>
          </a:prstGeom>
          <a:noFill/>
          <a:ln/>
        </p:spPr>
        <p:txBody>
          <a:bodyPr wrap="square" lIns="0" tIns="0" rIns="0" bIns="0" rtlCol="0" anchor="ctr"/>
          <a:lstStyle/>
          <a:p>
            <a:pPr indent="0" marL="0">
              <a:buNone/>
            </a:pPr>
            <a:r>
              <a:rPr lang="en-US" sz="1050" b="1" spc="140" kern="0" dirty="0">
                <a:solidFill>
                  <a:srgbClr val="6B4E96"/>
                </a:solidFill>
                <a:latin typeface="Calibri" pitchFamily="34" charset="0"/>
                <a:ea typeface="Calibri" pitchFamily="34" charset="-122"/>
                <a:cs typeface="Calibri" pitchFamily="34" charset="-120"/>
              </a:rPr>
              <a:t>THE EVIDENCE</a:t>
            </a:r>
            <a:endParaRPr lang="en-US" sz="1050" dirty="0"/>
          </a:p>
        </p:txBody>
      </p:sp>
      <p:sp>
        <p:nvSpPr>
          <p:cNvPr id="10" name="Shape 8"/>
          <p:cNvSpPr/>
          <p:nvPr/>
        </p:nvSpPr>
        <p:spPr>
          <a:xfrm>
            <a:off x="457200" y="2514600"/>
            <a:ext cx="11247120" cy="603504"/>
          </a:xfrm>
          <a:prstGeom prst="roundRect">
            <a:avLst>
              <a:gd name="adj" fmla="val 18182"/>
            </a:avLst>
          </a:prstGeom>
          <a:solidFill>
            <a:srgbClr val="FFFFFF"/>
          </a:solidFill>
          <a:ln w="17780">
            <a:solidFill>
              <a:srgbClr val="6B4E96"/>
            </a:solidFill>
            <a:prstDash val="solid"/>
          </a:ln>
          <a:effectLst>
            <a:outerShdw sx="100000" sy="100000" kx="0" ky="0" algn="bl" rotWithShape="0" blurRad="101600" dist="25400" dir="5400000">
              <a:srgbClr val="C4B5DC">
                <a:alpha val="18000"/>
              </a:srgbClr>
            </a:outerShdw>
          </a:effectLst>
        </p:spPr>
      </p:sp>
      <p:sp>
        <p:nvSpPr>
          <p:cNvPr id="11" name="Text 9"/>
          <p:cNvSpPr/>
          <p:nvPr/>
        </p:nvSpPr>
        <p:spPr>
          <a:xfrm>
            <a:off x="685800" y="2514600"/>
            <a:ext cx="4480560" cy="603504"/>
          </a:xfrm>
          <a:prstGeom prst="rect">
            <a:avLst/>
          </a:prstGeom>
          <a:noFill/>
          <a:ln/>
        </p:spPr>
        <p:txBody>
          <a:bodyPr wrap="square" lIns="0" tIns="0" rIns="0" bIns="0" rtlCol="0" anchor="ctr"/>
          <a:lstStyle/>
          <a:p>
            <a:pPr indent="0" marL="0">
              <a:buNone/>
            </a:pPr>
            <a:r>
              <a:rPr lang="en-US" sz="1350" b="1" dirty="0">
                <a:solidFill>
                  <a:srgbClr val="6B4E96"/>
                </a:solidFill>
                <a:latin typeface="Calibri" pitchFamily="34" charset="0"/>
                <a:ea typeface="Calibri" pitchFamily="34" charset="-122"/>
                <a:cs typeface="Calibri" pitchFamily="34" charset="-120"/>
              </a:rPr>
              <a:t>Logic lives in one place</a:t>
            </a:r>
            <a:endParaRPr lang="en-US" sz="1350" dirty="0"/>
          </a:p>
        </p:txBody>
      </p:sp>
      <p:sp>
        <p:nvSpPr>
          <p:cNvPr id="12" name="Text 10"/>
          <p:cNvSpPr/>
          <p:nvPr/>
        </p:nvSpPr>
        <p:spPr>
          <a:xfrm>
            <a:off x="5212080" y="2514600"/>
            <a:ext cx="6309360" cy="603504"/>
          </a:xfrm>
          <a:prstGeom prst="rect">
            <a:avLst/>
          </a:prstGeom>
          <a:noFill/>
          <a:ln/>
        </p:spPr>
        <p:txBody>
          <a:bodyPr wrap="square" lIns="0" tIns="0" rIns="0" bIns="0" rtlCol="0" anchor="ctr"/>
          <a:lstStyle/>
          <a:p>
            <a:pPr indent="0" marL="0">
              <a:buNone/>
            </a:pPr>
            <a:r>
              <a:rPr lang="en-US" sz="1300" dirty="0">
                <a:solidFill>
                  <a:srgbClr val="2D2D2D"/>
                </a:solidFill>
                <a:latin typeface="Calibri" pitchFamily="34" charset="0"/>
                <a:ea typeface="Calibri" pitchFamily="34" charset="-122"/>
                <a:cs typeface="Calibri" pitchFamily="34" charset="-120"/>
              </a:rPr>
              <a:t>Two interfaces, one core/, zero duplication</a:t>
            </a:r>
            <a:endParaRPr lang="en-US" sz="1300" dirty="0"/>
          </a:p>
        </p:txBody>
      </p:sp>
      <p:sp>
        <p:nvSpPr>
          <p:cNvPr id="13" name="Shape 11"/>
          <p:cNvSpPr/>
          <p:nvPr/>
        </p:nvSpPr>
        <p:spPr>
          <a:xfrm>
            <a:off x="457200" y="3227832"/>
            <a:ext cx="11247120" cy="603504"/>
          </a:xfrm>
          <a:prstGeom prst="roundRect">
            <a:avLst>
              <a:gd name="adj" fmla="val 18182"/>
            </a:avLst>
          </a:prstGeom>
          <a:solidFill>
            <a:srgbClr val="FFFFFF"/>
          </a:solidFill>
          <a:ln w="17780">
            <a:solidFill>
              <a:srgbClr val="6B4E96"/>
            </a:solidFill>
            <a:prstDash val="solid"/>
          </a:ln>
          <a:effectLst>
            <a:outerShdw sx="100000" sy="100000" kx="0" ky="0" algn="bl" rotWithShape="0" blurRad="101600" dist="25400" dir="5400000">
              <a:srgbClr val="C4B5DC">
                <a:alpha val="18000"/>
              </a:srgbClr>
            </a:outerShdw>
          </a:effectLst>
        </p:spPr>
      </p:sp>
      <p:sp>
        <p:nvSpPr>
          <p:cNvPr id="14" name="Text 12"/>
          <p:cNvSpPr/>
          <p:nvPr/>
        </p:nvSpPr>
        <p:spPr>
          <a:xfrm>
            <a:off x="685800" y="3227832"/>
            <a:ext cx="4480560" cy="603504"/>
          </a:xfrm>
          <a:prstGeom prst="rect">
            <a:avLst/>
          </a:prstGeom>
          <a:noFill/>
          <a:ln/>
        </p:spPr>
        <p:txBody>
          <a:bodyPr wrap="square" lIns="0" tIns="0" rIns="0" bIns="0" rtlCol="0" anchor="ctr"/>
          <a:lstStyle/>
          <a:p>
            <a:pPr indent="0" marL="0">
              <a:buNone/>
            </a:pPr>
            <a:r>
              <a:rPr lang="en-US" sz="1350" b="1" dirty="0">
                <a:solidFill>
                  <a:srgbClr val="6B4E96"/>
                </a:solidFill>
                <a:latin typeface="Calibri" pitchFamily="34" charset="0"/>
                <a:ea typeface="Calibri" pitchFamily="34" charset="-122"/>
                <a:cs typeface="Calibri" pitchFamily="34" charset="-120"/>
              </a:rPr>
              <a:t>Adding an interface is cheap</a:t>
            </a:r>
            <a:endParaRPr lang="en-US" sz="1350" dirty="0"/>
          </a:p>
        </p:txBody>
      </p:sp>
      <p:sp>
        <p:nvSpPr>
          <p:cNvPr id="15" name="Text 13"/>
          <p:cNvSpPr/>
          <p:nvPr/>
        </p:nvSpPr>
        <p:spPr>
          <a:xfrm>
            <a:off x="5212080" y="3227832"/>
            <a:ext cx="6309360" cy="603504"/>
          </a:xfrm>
          <a:prstGeom prst="rect">
            <a:avLst/>
          </a:prstGeom>
          <a:noFill/>
          <a:ln/>
        </p:spPr>
        <p:txBody>
          <a:bodyPr wrap="square" lIns="0" tIns="0" rIns="0" bIns="0" rtlCol="0" anchor="ctr"/>
          <a:lstStyle/>
          <a:p>
            <a:pPr indent="0" marL="0">
              <a:buNone/>
            </a:pPr>
            <a:r>
              <a:rPr lang="en-US" sz="1300" dirty="0">
                <a:solidFill>
                  <a:srgbClr val="2D2D2D"/>
                </a:solidFill>
                <a:latin typeface="Calibri" pitchFamily="34" charset="0"/>
                <a:ea typeface="Calibri" pitchFamily="34" charset="-122"/>
                <a:cs typeface="Calibri" pitchFamily="34" charset="-120"/>
              </a:rPr>
              <a:t>The CLI took one file and no core changes</a:t>
            </a:r>
            <a:endParaRPr lang="en-US" sz="1300" dirty="0"/>
          </a:p>
        </p:txBody>
      </p:sp>
      <p:sp>
        <p:nvSpPr>
          <p:cNvPr id="16" name="Shape 14"/>
          <p:cNvSpPr/>
          <p:nvPr/>
        </p:nvSpPr>
        <p:spPr>
          <a:xfrm>
            <a:off x="457200" y="3941064"/>
            <a:ext cx="11247120" cy="603504"/>
          </a:xfrm>
          <a:prstGeom prst="roundRect">
            <a:avLst>
              <a:gd name="adj" fmla="val 18182"/>
            </a:avLst>
          </a:prstGeom>
          <a:solidFill>
            <a:srgbClr val="FFFFFF"/>
          </a:solidFill>
          <a:ln w="17780">
            <a:solidFill>
              <a:srgbClr val="5A9C5A"/>
            </a:solidFill>
            <a:prstDash val="solid"/>
          </a:ln>
          <a:effectLst>
            <a:outerShdw sx="100000" sy="100000" kx="0" ky="0" algn="bl" rotWithShape="0" blurRad="101600" dist="25400" dir="5400000">
              <a:srgbClr val="C4B5DC">
                <a:alpha val="18000"/>
              </a:srgbClr>
            </a:outerShdw>
          </a:effectLst>
        </p:spPr>
      </p:sp>
      <p:sp>
        <p:nvSpPr>
          <p:cNvPr id="17" name="Text 15"/>
          <p:cNvSpPr/>
          <p:nvPr/>
        </p:nvSpPr>
        <p:spPr>
          <a:xfrm>
            <a:off x="685800" y="3941064"/>
            <a:ext cx="4480560" cy="603504"/>
          </a:xfrm>
          <a:prstGeom prst="rect">
            <a:avLst/>
          </a:prstGeom>
          <a:noFill/>
          <a:ln/>
        </p:spPr>
        <p:txBody>
          <a:bodyPr wrap="square" lIns="0" tIns="0" rIns="0" bIns="0" rtlCol="0" anchor="ctr"/>
          <a:lstStyle/>
          <a:p>
            <a:pPr indent="0" marL="0">
              <a:buNone/>
            </a:pPr>
            <a:r>
              <a:rPr lang="en-US" sz="1350" b="1" dirty="0">
                <a:solidFill>
                  <a:srgbClr val="5A9C5A"/>
                </a:solidFill>
                <a:latin typeface="Calibri" pitchFamily="34" charset="0"/>
                <a:ea typeface="Calibri" pitchFamily="34" charset="-122"/>
                <a:cs typeface="Calibri" pitchFamily="34" charset="-120"/>
              </a:rPr>
              <a:t>Rules are enforced everywhere</a:t>
            </a:r>
            <a:endParaRPr lang="en-US" sz="1350" dirty="0"/>
          </a:p>
        </p:txBody>
      </p:sp>
      <p:sp>
        <p:nvSpPr>
          <p:cNvPr id="18" name="Text 16"/>
          <p:cNvSpPr/>
          <p:nvPr/>
        </p:nvSpPr>
        <p:spPr>
          <a:xfrm>
            <a:off x="5212080" y="3941064"/>
            <a:ext cx="6309360" cy="603504"/>
          </a:xfrm>
          <a:prstGeom prst="rect">
            <a:avLst/>
          </a:prstGeom>
          <a:noFill/>
          <a:ln/>
        </p:spPr>
        <p:txBody>
          <a:bodyPr wrap="square" lIns="0" tIns="0" rIns="0" bIns="0" rtlCol="0" anchor="ctr"/>
          <a:lstStyle/>
          <a:p>
            <a:pPr indent="0" marL="0">
              <a:buNone/>
            </a:pPr>
            <a:r>
              <a:rPr lang="en-US" sz="1300" dirty="0">
                <a:solidFill>
                  <a:srgbClr val="2D2D2D"/>
                </a:solidFill>
                <a:latin typeface="Calibri" pitchFamily="34" charset="0"/>
                <a:ea typeface="Calibri" pitchFamily="34" charset="-122"/>
                <a:cs typeface="Calibri" pitchFamily="34" charset="-120"/>
              </a:rPr>
              <a:t>closed_lost needs a reason in the browser AND the terminal</a:t>
            </a:r>
            <a:endParaRPr lang="en-US" sz="1300" dirty="0"/>
          </a:p>
        </p:txBody>
      </p:sp>
      <p:sp>
        <p:nvSpPr>
          <p:cNvPr id="19" name="Shape 17"/>
          <p:cNvSpPr/>
          <p:nvPr/>
        </p:nvSpPr>
        <p:spPr>
          <a:xfrm>
            <a:off x="457200" y="4654296"/>
            <a:ext cx="11247120" cy="603504"/>
          </a:xfrm>
          <a:prstGeom prst="roundRect">
            <a:avLst>
              <a:gd name="adj" fmla="val 18182"/>
            </a:avLst>
          </a:prstGeom>
          <a:solidFill>
            <a:srgbClr val="FFFFFF"/>
          </a:solidFill>
          <a:ln w="17780">
            <a:solidFill>
              <a:srgbClr val="5A9C5A"/>
            </a:solidFill>
            <a:prstDash val="solid"/>
          </a:ln>
          <a:effectLst>
            <a:outerShdw sx="100000" sy="100000" kx="0" ky="0" algn="bl" rotWithShape="0" blurRad="101600" dist="25400" dir="5400000">
              <a:srgbClr val="C4B5DC">
                <a:alpha val="18000"/>
              </a:srgbClr>
            </a:outerShdw>
          </a:effectLst>
        </p:spPr>
      </p:sp>
      <p:sp>
        <p:nvSpPr>
          <p:cNvPr id="20" name="Text 18"/>
          <p:cNvSpPr/>
          <p:nvPr/>
        </p:nvSpPr>
        <p:spPr>
          <a:xfrm>
            <a:off x="685800" y="4654296"/>
            <a:ext cx="4480560" cy="603504"/>
          </a:xfrm>
          <a:prstGeom prst="rect">
            <a:avLst/>
          </a:prstGeom>
          <a:noFill/>
          <a:ln/>
        </p:spPr>
        <p:txBody>
          <a:bodyPr wrap="square" lIns="0" tIns="0" rIns="0" bIns="0" rtlCol="0" anchor="ctr"/>
          <a:lstStyle/>
          <a:p>
            <a:pPr indent="0" marL="0">
              <a:buNone/>
            </a:pPr>
            <a:r>
              <a:rPr lang="en-US" sz="1350" b="1" dirty="0">
                <a:solidFill>
                  <a:srgbClr val="5A9C5A"/>
                </a:solidFill>
                <a:latin typeface="Calibri" pitchFamily="34" charset="0"/>
                <a:ea typeface="Calibri" pitchFamily="34" charset="-122"/>
                <a:cs typeface="Calibri" pitchFamily="34" charset="-120"/>
              </a:rPr>
              <a:t>Errors can teach the caller</a:t>
            </a:r>
            <a:endParaRPr lang="en-US" sz="1350" dirty="0"/>
          </a:p>
        </p:txBody>
      </p:sp>
      <p:sp>
        <p:nvSpPr>
          <p:cNvPr id="21" name="Text 19"/>
          <p:cNvSpPr/>
          <p:nvPr/>
        </p:nvSpPr>
        <p:spPr>
          <a:xfrm>
            <a:off x="5212080" y="4654296"/>
            <a:ext cx="6309360" cy="603504"/>
          </a:xfrm>
          <a:prstGeom prst="rect">
            <a:avLst/>
          </a:prstGeom>
          <a:noFill/>
          <a:ln/>
        </p:spPr>
        <p:txBody>
          <a:bodyPr wrap="square" lIns="0" tIns="0" rIns="0" bIns="0" rtlCol="0" anchor="ctr"/>
          <a:lstStyle/>
          <a:p>
            <a:pPr indent="0" marL="0">
              <a:buNone/>
            </a:pPr>
            <a:r>
              <a:rPr lang="en-US" sz="1300" dirty="0">
                <a:solidFill>
                  <a:srgbClr val="2D2D2D"/>
                </a:solidFill>
                <a:latin typeface="Calibri" pitchFamily="34" charset="0"/>
                <a:ea typeface="Calibri" pitchFamily="34" charset="-122"/>
                <a:cs typeface="Calibri" pitchFamily="34" charset="-120"/>
              </a:rPr>
              <a:t>Field name plus allowed values, every single time</a:t>
            </a:r>
            <a:endParaRPr lang="en-US" sz="1300" dirty="0"/>
          </a:p>
        </p:txBody>
      </p:sp>
      <p:sp>
        <p:nvSpPr>
          <p:cNvPr id="22" name="Shape 20"/>
          <p:cNvSpPr/>
          <p:nvPr/>
        </p:nvSpPr>
        <p:spPr>
          <a:xfrm>
            <a:off x="457200" y="5367528"/>
            <a:ext cx="11247120" cy="603504"/>
          </a:xfrm>
          <a:prstGeom prst="roundRect">
            <a:avLst>
              <a:gd name="adj" fmla="val 18182"/>
            </a:avLst>
          </a:prstGeom>
          <a:solidFill>
            <a:srgbClr val="FFFFFF"/>
          </a:solidFill>
          <a:ln w="17780">
            <a:solidFill>
              <a:srgbClr val="E5BA1F"/>
            </a:solidFill>
            <a:prstDash val="solid"/>
          </a:ln>
          <a:effectLst>
            <a:outerShdw sx="100000" sy="100000" kx="0" ky="0" algn="bl" rotWithShape="0" blurRad="101600" dist="25400" dir="5400000">
              <a:srgbClr val="C4B5DC">
                <a:alpha val="18000"/>
              </a:srgbClr>
            </a:outerShdw>
          </a:effectLst>
        </p:spPr>
      </p:sp>
      <p:sp>
        <p:nvSpPr>
          <p:cNvPr id="23" name="Text 21"/>
          <p:cNvSpPr/>
          <p:nvPr/>
        </p:nvSpPr>
        <p:spPr>
          <a:xfrm>
            <a:off x="685800" y="5367528"/>
            <a:ext cx="4480560" cy="603504"/>
          </a:xfrm>
          <a:prstGeom prst="rect">
            <a:avLst/>
          </a:prstGeom>
          <a:noFill/>
          <a:ln/>
        </p:spPr>
        <p:txBody>
          <a:bodyPr wrap="square" lIns="0" tIns="0" rIns="0" bIns="0" rtlCol="0" anchor="ctr"/>
          <a:lstStyle/>
          <a:p>
            <a:pPr indent="0" marL="0">
              <a:buNone/>
            </a:pPr>
            <a:r>
              <a:rPr lang="en-US" sz="1350" b="1" dirty="0">
                <a:solidFill>
                  <a:srgbClr val="E5BA1F"/>
                </a:solidFill>
                <a:latin typeface="Calibri" pitchFamily="34" charset="0"/>
                <a:ea typeface="Calibri" pitchFamily="34" charset="-122"/>
                <a:cs typeface="Calibri" pitchFamily="34" charset="-120"/>
              </a:rPr>
              <a:t>Human tools can be agent-ready</a:t>
            </a:r>
            <a:endParaRPr lang="en-US" sz="1350" dirty="0"/>
          </a:p>
        </p:txBody>
      </p:sp>
      <p:sp>
        <p:nvSpPr>
          <p:cNvPr id="24" name="Text 22"/>
          <p:cNvSpPr/>
          <p:nvPr/>
        </p:nvSpPr>
        <p:spPr>
          <a:xfrm>
            <a:off x="5212080" y="5367528"/>
            <a:ext cx="6309360" cy="603504"/>
          </a:xfrm>
          <a:prstGeom prst="rect">
            <a:avLst/>
          </a:prstGeom>
          <a:noFill/>
          <a:ln/>
        </p:spPr>
        <p:txBody>
          <a:bodyPr wrap="square" lIns="0" tIns="0" rIns="0" bIns="0" rtlCol="0" anchor="ctr"/>
          <a:lstStyle/>
          <a:p>
            <a:pPr indent="0" marL="0">
              <a:buNone/>
            </a:pPr>
            <a:r>
              <a:rPr lang="en-US" sz="1300" dirty="0">
                <a:solidFill>
                  <a:srgbClr val="2D2D2D"/>
                </a:solidFill>
                <a:latin typeface="Calibri" pitchFamily="34" charset="0"/>
                <a:ea typeface="Calibri" pitchFamily="34" charset="-122"/>
                <a:cs typeface="Calibri" pitchFamily="34" charset="-120"/>
              </a:rPr>
              <a:t>One --json flag. That is the entire cost.</a:t>
            </a:r>
            <a:endParaRPr lang="en-US" sz="1300" dirty="0"/>
          </a:p>
        </p:txBody>
      </p:sp>
      <p:sp>
        <p:nvSpPr>
          <p:cNvPr id="25" name="Text 23"/>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26" name="Text 24"/>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26 / 28</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9509760" y="411480"/>
            <a:ext cx="2194560" cy="365760"/>
          </a:xfrm>
          <a:prstGeom prst="roundRect">
            <a:avLst>
              <a:gd name="adj" fmla="val 45000"/>
            </a:avLst>
          </a:prstGeom>
          <a:solidFill>
            <a:srgbClr val="EDE5F7"/>
          </a:solidFill>
          <a:ln w="9525">
            <a:solidFill>
              <a:srgbClr val="9B7FBE"/>
            </a:solidFill>
            <a:prstDash val="solid"/>
          </a:ln>
        </p:spPr>
      </p:sp>
      <p:sp>
        <p:nvSpPr>
          <p:cNvPr id="3" name="Text 1"/>
          <p:cNvSpPr/>
          <p:nvPr/>
        </p:nvSpPr>
        <p:spPr>
          <a:xfrm>
            <a:off x="9509760" y="411480"/>
            <a:ext cx="2194560" cy="365760"/>
          </a:xfrm>
          <a:prstGeom prst="rect">
            <a:avLst/>
          </a:prstGeom>
          <a:noFill/>
          <a:ln/>
        </p:spPr>
        <p:txBody>
          <a:bodyPr wrap="square" lIns="0" tIns="0" rIns="0" bIns="0" rtlCol="0" anchor="ctr"/>
          <a:lstStyle/>
          <a:p>
            <a:pPr algn="ctr" indent="0" marL="0">
              <a:buNone/>
            </a:pPr>
            <a:r>
              <a:rPr lang="en-US" sz="1000" b="1" dirty="0">
                <a:solidFill>
                  <a:srgbClr val="6B4E96"/>
                </a:solidFill>
                <a:latin typeface="Calibri" pitchFamily="34" charset="0"/>
                <a:ea typeface="Calibri" pitchFamily="34" charset="-122"/>
                <a:cs typeface="Calibri" pitchFamily="34" charset="-120"/>
              </a:rPr>
              <a:t>PART E · ROADMAP</a:t>
            </a:r>
            <a:endParaRPr lang="en-US" sz="1000" dirty="0"/>
          </a:p>
        </p:txBody>
      </p:sp>
      <p:sp>
        <p:nvSpPr>
          <p:cNvPr id="4" name="Shape 2"/>
          <p:cNvSpPr/>
          <p:nvPr/>
        </p:nvSpPr>
        <p:spPr>
          <a:xfrm>
            <a:off x="457200" y="502920"/>
            <a:ext cx="164592" cy="164592"/>
          </a:xfrm>
          <a:prstGeom prst="ellipse">
            <a:avLst/>
          </a:prstGeom>
          <a:solidFill>
            <a:srgbClr val="FFD93D"/>
          </a:solidFill>
          <a:ln w="12700">
            <a:solidFill>
              <a:srgbClr val="FFD93D"/>
            </a:solidFill>
            <a:prstDash val="solid"/>
          </a:ln>
        </p:spPr>
      </p:sp>
      <p:sp>
        <p:nvSpPr>
          <p:cNvPr id="5" name="Shape 3"/>
          <p:cNvSpPr/>
          <p:nvPr/>
        </p:nvSpPr>
        <p:spPr>
          <a:xfrm>
            <a:off x="658368" y="502920"/>
            <a:ext cx="164592" cy="164592"/>
          </a:xfrm>
          <a:prstGeom prst="ellipse">
            <a:avLst/>
          </a:prstGeom>
          <a:solidFill>
            <a:srgbClr val="9B7FBE"/>
          </a:solidFill>
          <a:ln w="12700">
            <a:solidFill>
              <a:srgbClr val="9B7FBE"/>
            </a:solidFill>
            <a:prstDash val="solid"/>
          </a:ln>
        </p:spPr>
      </p:sp>
      <p:sp>
        <p:nvSpPr>
          <p:cNvPr id="6" name="Text 4"/>
          <p:cNvSpPr/>
          <p:nvPr/>
        </p:nvSpPr>
        <p:spPr>
          <a:xfrm>
            <a:off x="457200" y="777240"/>
            <a:ext cx="11247120" cy="640080"/>
          </a:xfrm>
          <a:prstGeom prst="rect">
            <a:avLst/>
          </a:prstGeom>
          <a:noFill/>
          <a:ln/>
        </p:spPr>
        <p:txBody>
          <a:bodyPr wrap="square" lIns="0" tIns="0" rIns="0" bIns="0" rtlCol="0" anchor="ctr"/>
          <a:lstStyle/>
          <a:p>
            <a:pPr indent="0" marL="0">
              <a:buNone/>
            </a:pPr>
            <a:r>
              <a:rPr lang="en-US" sz="2800" b="1" dirty="0">
                <a:solidFill>
                  <a:srgbClr val="2D2D2D"/>
                </a:solidFill>
                <a:latin typeface="Calibri" pitchFamily="34" charset="0"/>
                <a:ea typeface="Calibri" pitchFamily="34" charset="-122"/>
                <a:cs typeface="Calibri" pitchFamily="34" charset="-120"/>
              </a:rPr>
              <a:t>What Comes Next</a:t>
            </a:r>
            <a:endParaRPr lang="en-US" sz="2800" dirty="0"/>
          </a:p>
        </p:txBody>
      </p:sp>
      <p:sp>
        <p:nvSpPr>
          <p:cNvPr id="7" name="Text 5"/>
          <p:cNvSpPr/>
          <p:nvPr/>
        </p:nvSpPr>
        <p:spPr>
          <a:xfrm>
            <a:off x="457200" y="1417320"/>
            <a:ext cx="11247120" cy="365760"/>
          </a:xfrm>
          <a:prstGeom prst="rect">
            <a:avLst/>
          </a:prstGeom>
          <a:noFill/>
          <a:ln/>
        </p:spPr>
        <p:txBody>
          <a:bodyPr wrap="square" lIns="0" tIns="0" rIns="0" bIns="0" rtlCol="0" anchor="ctr"/>
          <a:lstStyle/>
          <a:p>
            <a:pPr indent="0" marL="0">
              <a:buNone/>
            </a:pPr>
            <a:r>
              <a:rPr lang="en-US" sz="1400" i="1" dirty="0">
                <a:solidFill>
                  <a:srgbClr val="6B4E96"/>
                </a:solidFill>
                <a:latin typeface="Calibri" pitchFamily="34" charset="0"/>
                <a:ea typeface="Calibri" pitchFamily="34" charset="-122"/>
                <a:cs typeface="Calibri" pitchFamily="34" charset="-120"/>
              </a:rPr>
              <a:t>Same core. Untouched again. But the user stops being a person.</a:t>
            </a:r>
            <a:endParaRPr lang="en-US" sz="1400" dirty="0"/>
          </a:p>
        </p:txBody>
      </p:sp>
      <p:sp>
        <p:nvSpPr>
          <p:cNvPr id="8" name="Shape 6"/>
          <p:cNvSpPr/>
          <p:nvPr/>
        </p:nvSpPr>
        <p:spPr>
          <a:xfrm>
            <a:off x="457200" y="2103120"/>
            <a:ext cx="11247120" cy="566928"/>
          </a:xfrm>
          <a:prstGeom prst="roundRect">
            <a:avLst>
              <a:gd name="adj" fmla="val 19355"/>
            </a:avLst>
          </a:prstGeom>
          <a:solidFill>
            <a:srgbClr val="F0F8F0"/>
          </a:solidFill>
          <a:ln w="25400">
            <a:solidFill>
              <a:srgbClr val="5A9C5A"/>
            </a:solidFill>
            <a:prstDash val="solid"/>
          </a:ln>
          <a:effectLst>
            <a:outerShdw sx="100000" sy="100000" kx="0" ky="0" algn="bl" rotWithShape="0" blurRad="101600" dist="25400" dir="5400000">
              <a:srgbClr val="C4B5DC">
                <a:alpha val="18000"/>
              </a:srgbClr>
            </a:outerShdw>
          </a:effectLst>
        </p:spPr>
      </p:sp>
      <p:sp>
        <p:nvSpPr>
          <p:cNvPr id="9" name="Shape 7"/>
          <p:cNvSpPr/>
          <p:nvPr/>
        </p:nvSpPr>
        <p:spPr>
          <a:xfrm>
            <a:off x="640080" y="2203704"/>
            <a:ext cx="365760" cy="365760"/>
          </a:xfrm>
          <a:prstGeom prst="ellipse">
            <a:avLst/>
          </a:prstGeom>
          <a:solidFill>
            <a:srgbClr val="5A9C5A"/>
          </a:solidFill>
          <a:ln w="12700">
            <a:solidFill>
              <a:srgbClr val="5A9C5A"/>
            </a:solidFill>
            <a:prstDash val="solid"/>
          </a:ln>
        </p:spPr>
      </p:sp>
      <p:sp>
        <p:nvSpPr>
          <p:cNvPr id="10" name="Text 8"/>
          <p:cNvSpPr/>
          <p:nvPr/>
        </p:nvSpPr>
        <p:spPr>
          <a:xfrm>
            <a:off x="640080" y="22037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188720" y="2103120"/>
            <a:ext cx="3931920" cy="566928"/>
          </a:xfrm>
          <a:prstGeom prst="rect">
            <a:avLst/>
          </a:prstGeom>
          <a:noFill/>
          <a:ln/>
        </p:spPr>
        <p:txBody>
          <a:bodyPr wrap="square" lIns="0" tIns="0" rIns="0" bIns="0" rtlCol="0" anchor="ctr"/>
          <a:lstStyle/>
          <a:p>
            <a:pPr indent="0" marL="0">
              <a:buNone/>
            </a:pPr>
            <a:r>
              <a:rPr lang="en-US" sz="1400" b="1" dirty="0">
                <a:solidFill>
                  <a:srgbClr val="2D2D2D"/>
                </a:solidFill>
                <a:latin typeface="Calibri" pitchFamily="34" charset="0"/>
                <a:ea typeface="Calibri" pitchFamily="34" charset="-122"/>
                <a:cs typeface="Calibri" pitchFamily="34" charset="-120"/>
              </a:rPr>
              <a:t>Web UI + REST</a:t>
            </a:r>
            <a:endParaRPr lang="en-US" sz="1400" dirty="0"/>
          </a:p>
        </p:txBody>
      </p:sp>
      <p:sp>
        <p:nvSpPr>
          <p:cNvPr id="12" name="Text 10"/>
          <p:cNvSpPr/>
          <p:nvPr/>
        </p:nvSpPr>
        <p:spPr>
          <a:xfrm>
            <a:off x="5212080" y="2103120"/>
            <a:ext cx="5120640" cy="566928"/>
          </a:xfrm>
          <a:prstGeom prst="rect">
            <a:avLst/>
          </a:prstGeom>
          <a:noFill/>
          <a:ln/>
        </p:spPr>
        <p:txBody>
          <a:bodyPr wrap="square" lIns="0" tIns="0" rIns="0" bIns="0" rtlCol="0" anchor="ctr"/>
          <a:lstStyle/>
          <a:p>
            <a:pPr indent="0" marL="0">
              <a:buNone/>
            </a:pPr>
            <a:r>
              <a:rPr lang="en-US" sz="1250" i="1" dirty="0">
                <a:solidFill>
                  <a:srgbClr val="5A5A5A"/>
                </a:solidFill>
                <a:latin typeface="Calibri" pitchFamily="34" charset="0"/>
                <a:ea typeface="Calibri" pitchFamily="34" charset="-122"/>
                <a:cs typeface="Calibri" pitchFamily="34" charset="-120"/>
              </a:rPr>
              <a:t>humans, browser</a:t>
            </a:r>
            <a:endParaRPr lang="en-US" sz="1250" dirty="0"/>
          </a:p>
        </p:txBody>
      </p:sp>
      <p:sp>
        <p:nvSpPr>
          <p:cNvPr id="13" name="Text 11"/>
          <p:cNvSpPr/>
          <p:nvPr/>
        </p:nvSpPr>
        <p:spPr>
          <a:xfrm>
            <a:off x="10332720" y="2103120"/>
            <a:ext cx="1188720" cy="566928"/>
          </a:xfrm>
          <a:prstGeom prst="rect">
            <a:avLst/>
          </a:prstGeom>
          <a:noFill/>
          <a:ln/>
        </p:spPr>
        <p:txBody>
          <a:bodyPr wrap="square" lIns="0" tIns="0" rIns="0" bIns="0" rtlCol="0" anchor="ctr"/>
          <a:lstStyle/>
          <a:p>
            <a:pPr algn="r" indent="0" marL="0">
              <a:buNone/>
            </a:pPr>
            <a:r>
              <a:rPr lang="en-US" sz="1100" b="1" spc="100" kern="0" dirty="0">
                <a:solidFill>
                  <a:srgbClr val="5A9C5A"/>
                </a:solidFill>
                <a:latin typeface="Calibri" pitchFamily="34" charset="0"/>
                <a:ea typeface="Calibri" pitchFamily="34" charset="-122"/>
                <a:cs typeface="Calibri" pitchFamily="34" charset="-120"/>
              </a:rPr>
              <a:t>DONE</a:t>
            </a:r>
            <a:endParaRPr lang="en-US" sz="1100" dirty="0"/>
          </a:p>
        </p:txBody>
      </p:sp>
      <p:sp>
        <p:nvSpPr>
          <p:cNvPr id="14" name="Shape 12"/>
          <p:cNvSpPr/>
          <p:nvPr/>
        </p:nvSpPr>
        <p:spPr>
          <a:xfrm>
            <a:off x="457200" y="2743200"/>
            <a:ext cx="11247120" cy="566928"/>
          </a:xfrm>
          <a:prstGeom prst="roundRect">
            <a:avLst>
              <a:gd name="adj" fmla="val 19355"/>
            </a:avLst>
          </a:prstGeom>
          <a:solidFill>
            <a:srgbClr val="F0F8F0"/>
          </a:solidFill>
          <a:ln w="25400">
            <a:solidFill>
              <a:srgbClr val="5A9C5A"/>
            </a:solidFill>
            <a:prstDash val="solid"/>
          </a:ln>
          <a:effectLst>
            <a:outerShdw sx="100000" sy="100000" kx="0" ky="0" algn="bl" rotWithShape="0" blurRad="101600" dist="25400" dir="5400000">
              <a:srgbClr val="C4B5DC">
                <a:alpha val="18000"/>
              </a:srgbClr>
            </a:outerShdw>
          </a:effectLst>
        </p:spPr>
      </p:sp>
      <p:sp>
        <p:nvSpPr>
          <p:cNvPr id="15" name="Shape 13"/>
          <p:cNvSpPr/>
          <p:nvPr/>
        </p:nvSpPr>
        <p:spPr>
          <a:xfrm>
            <a:off x="640080" y="2843784"/>
            <a:ext cx="365760" cy="365760"/>
          </a:xfrm>
          <a:prstGeom prst="ellipse">
            <a:avLst/>
          </a:prstGeom>
          <a:solidFill>
            <a:srgbClr val="5A9C5A"/>
          </a:solidFill>
          <a:ln w="12700">
            <a:solidFill>
              <a:srgbClr val="5A9C5A"/>
            </a:solidFill>
            <a:prstDash val="solid"/>
          </a:ln>
        </p:spPr>
      </p:sp>
      <p:sp>
        <p:nvSpPr>
          <p:cNvPr id="16" name="Text 14"/>
          <p:cNvSpPr/>
          <p:nvPr/>
        </p:nvSpPr>
        <p:spPr>
          <a:xfrm>
            <a:off x="640080" y="28437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1188720" y="2743200"/>
            <a:ext cx="3931920" cy="566928"/>
          </a:xfrm>
          <a:prstGeom prst="rect">
            <a:avLst/>
          </a:prstGeom>
          <a:noFill/>
          <a:ln/>
        </p:spPr>
        <p:txBody>
          <a:bodyPr wrap="square" lIns="0" tIns="0" rIns="0" bIns="0" rtlCol="0" anchor="ctr"/>
          <a:lstStyle/>
          <a:p>
            <a:pPr indent="0" marL="0">
              <a:buNone/>
            </a:pPr>
            <a:r>
              <a:rPr lang="en-US" sz="1400" b="1" dirty="0">
                <a:solidFill>
                  <a:srgbClr val="2D2D2D"/>
                </a:solidFill>
                <a:latin typeface="Calibri" pitchFamily="34" charset="0"/>
                <a:ea typeface="Calibri" pitchFamily="34" charset="-122"/>
                <a:cs typeface="Calibri" pitchFamily="34" charset="-120"/>
              </a:rPr>
              <a:t>CLI</a:t>
            </a:r>
            <a:endParaRPr lang="en-US" sz="1400" dirty="0"/>
          </a:p>
        </p:txBody>
      </p:sp>
      <p:sp>
        <p:nvSpPr>
          <p:cNvPr id="18" name="Text 16"/>
          <p:cNvSpPr/>
          <p:nvPr/>
        </p:nvSpPr>
        <p:spPr>
          <a:xfrm>
            <a:off x="5212080" y="2743200"/>
            <a:ext cx="5120640" cy="566928"/>
          </a:xfrm>
          <a:prstGeom prst="rect">
            <a:avLst/>
          </a:prstGeom>
          <a:noFill/>
          <a:ln/>
        </p:spPr>
        <p:txBody>
          <a:bodyPr wrap="square" lIns="0" tIns="0" rIns="0" bIns="0" rtlCol="0" anchor="ctr"/>
          <a:lstStyle/>
          <a:p>
            <a:pPr indent="0" marL="0">
              <a:buNone/>
            </a:pPr>
            <a:r>
              <a:rPr lang="en-US" sz="1250" i="1" dirty="0">
                <a:solidFill>
                  <a:srgbClr val="5A5A5A"/>
                </a:solidFill>
                <a:latin typeface="Calibri" pitchFamily="34" charset="0"/>
                <a:ea typeface="Calibri" pitchFamily="34" charset="-122"/>
                <a:cs typeface="Calibri" pitchFamily="34" charset="-120"/>
              </a:rPr>
              <a:t>humans, terminal</a:t>
            </a:r>
            <a:endParaRPr lang="en-US" sz="1250" dirty="0"/>
          </a:p>
        </p:txBody>
      </p:sp>
      <p:sp>
        <p:nvSpPr>
          <p:cNvPr id="19" name="Text 17"/>
          <p:cNvSpPr/>
          <p:nvPr/>
        </p:nvSpPr>
        <p:spPr>
          <a:xfrm>
            <a:off x="10332720" y="2743200"/>
            <a:ext cx="1188720" cy="566928"/>
          </a:xfrm>
          <a:prstGeom prst="rect">
            <a:avLst/>
          </a:prstGeom>
          <a:noFill/>
          <a:ln/>
        </p:spPr>
        <p:txBody>
          <a:bodyPr wrap="square" lIns="0" tIns="0" rIns="0" bIns="0" rtlCol="0" anchor="ctr"/>
          <a:lstStyle/>
          <a:p>
            <a:pPr algn="r" indent="0" marL="0">
              <a:buNone/>
            </a:pPr>
            <a:r>
              <a:rPr lang="en-US" sz="1100" b="1" spc="100" kern="0" dirty="0">
                <a:solidFill>
                  <a:srgbClr val="5A9C5A"/>
                </a:solidFill>
                <a:latin typeface="Calibri" pitchFamily="34" charset="0"/>
                <a:ea typeface="Calibri" pitchFamily="34" charset="-122"/>
                <a:cs typeface="Calibri" pitchFamily="34" charset="-120"/>
              </a:rPr>
              <a:t>DONE</a:t>
            </a:r>
            <a:endParaRPr lang="en-US" sz="1100" dirty="0"/>
          </a:p>
        </p:txBody>
      </p:sp>
      <p:sp>
        <p:nvSpPr>
          <p:cNvPr id="20" name="Shape 18"/>
          <p:cNvSpPr/>
          <p:nvPr/>
        </p:nvSpPr>
        <p:spPr>
          <a:xfrm>
            <a:off x="457200" y="3383280"/>
            <a:ext cx="11247120" cy="566928"/>
          </a:xfrm>
          <a:prstGeom prst="roundRect">
            <a:avLst>
              <a:gd name="adj" fmla="val 19355"/>
            </a:avLst>
          </a:prstGeom>
          <a:solidFill>
            <a:srgbClr val="EDE5F7"/>
          </a:solidFill>
          <a:ln w="25400">
            <a:solidFill>
              <a:srgbClr val="6B4E96"/>
            </a:solidFill>
            <a:prstDash val="solid"/>
          </a:ln>
          <a:effectLst>
            <a:outerShdw sx="100000" sy="100000" kx="0" ky="0" algn="bl" rotWithShape="0" blurRad="101600" dist="25400" dir="5400000">
              <a:srgbClr val="C4B5DC">
                <a:alpha val="18000"/>
              </a:srgbClr>
            </a:outerShdw>
          </a:effectLst>
        </p:spPr>
      </p:sp>
      <p:sp>
        <p:nvSpPr>
          <p:cNvPr id="21" name="Shape 19"/>
          <p:cNvSpPr/>
          <p:nvPr/>
        </p:nvSpPr>
        <p:spPr>
          <a:xfrm>
            <a:off x="640080" y="3483864"/>
            <a:ext cx="365760" cy="365760"/>
          </a:xfrm>
          <a:prstGeom prst="ellipse">
            <a:avLst/>
          </a:prstGeom>
          <a:solidFill>
            <a:srgbClr val="6B4E96"/>
          </a:solidFill>
          <a:ln w="12700">
            <a:solidFill>
              <a:srgbClr val="6B4E96"/>
            </a:solidFill>
            <a:prstDash val="solid"/>
          </a:ln>
        </p:spPr>
      </p:sp>
      <p:sp>
        <p:nvSpPr>
          <p:cNvPr id="22" name="Text 20"/>
          <p:cNvSpPr/>
          <p:nvPr/>
        </p:nvSpPr>
        <p:spPr>
          <a:xfrm>
            <a:off x="640080" y="348386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p:nvPr/>
        </p:nvSpPr>
        <p:spPr>
          <a:xfrm>
            <a:off x="1188720" y="3383280"/>
            <a:ext cx="3931920" cy="566928"/>
          </a:xfrm>
          <a:prstGeom prst="rect">
            <a:avLst/>
          </a:prstGeom>
          <a:noFill/>
          <a:ln/>
        </p:spPr>
        <p:txBody>
          <a:bodyPr wrap="square" lIns="0" tIns="0" rIns="0" bIns="0" rtlCol="0" anchor="ctr"/>
          <a:lstStyle/>
          <a:p>
            <a:pPr indent="0" marL="0">
              <a:buNone/>
            </a:pPr>
            <a:r>
              <a:rPr lang="en-US" sz="1400" b="1" dirty="0">
                <a:solidFill>
                  <a:srgbClr val="2D2D2D"/>
                </a:solidFill>
                <a:latin typeface="Calibri" pitchFamily="34" charset="0"/>
                <a:ea typeface="Calibri" pitchFamily="34" charset="-122"/>
                <a:cs typeface="Calibri" pitchFamily="34" charset="-120"/>
              </a:rPr>
              <a:t>Local MCP server</a:t>
            </a:r>
            <a:endParaRPr lang="en-US" sz="1400" dirty="0"/>
          </a:p>
        </p:txBody>
      </p:sp>
      <p:sp>
        <p:nvSpPr>
          <p:cNvPr id="24" name="Text 22"/>
          <p:cNvSpPr/>
          <p:nvPr/>
        </p:nvSpPr>
        <p:spPr>
          <a:xfrm>
            <a:off x="5212080" y="3383280"/>
            <a:ext cx="5120640" cy="566928"/>
          </a:xfrm>
          <a:prstGeom prst="rect">
            <a:avLst/>
          </a:prstGeom>
          <a:noFill/>
          <a:ln/>
        </p:spPr>
        <p:txBody>
          <a:bodyPr wrap="square" lIns="0" tIns="0" rIns="0" bIns="0" rtlCol="0" anchor="ctr"/>
          <a:lstStyle/>
          <a:p>
            <a:pPr indent="0" marL="0">
              <a:buNone/>
            </a:pPr>
            <a:r>
              <a:rPr lang="en-US" sz="1250" i="1" dirty="0">
                <a:solidFill>
                  <a:srgbClr val="5A5A5A"/>
                </a:solidFill>
                <a:latin typeface="Calibri" pitchFamily="34" charset="0"/>
                <a:ea typeface="Calibri" pitchFamily="34" charset="-122"/>
                <a:cs typeface="Calibri" pitchFamily="34" charset="-120"/>
              </a:rPr>
              <a:t>coding agents — Claude Code, Codex</a:t>
            </a:r>
            <a:endParaRPr lang="en-US" sz="1250" dirty="0"/>
          </a:p>
        </p:txBody>
      </p:sp>
      <p:sp>
        <p:nvSpPr>
          <p:cNvPr id="25" name="Text 23"/>
          <p:cNvSpPr/>
          <p:nvPr/>
        </p:nvSpPr>
        <p:spPr>
          <a:xfrm>
            <a:off x="10332720" y="3383280"/>
            <a:ext cx="1188720" cy="566928"/>
          </a:xfrm>
          <a:prstGeom prst="rect">
            <a:avLst/>
          </a:prstGeom>
          <a:noFill/>
          <a:ln/>
        </p:spPr>
        <p:txBody>
          <a:bodyPr wrap="square" lIns="0" tIns="0" rIns="0" bIns="0" rtlCol="0" anchor="ctr"/>
          <a:lstStyle/>
          <a:p>
            <a:pPr algn="r" indent="0" marL="0">
              <a:buNone/>
            </a:pPr>
            <a:r>
              <a:rPr lang="en-US" sz="1100" b="1" spc="100" kern="0" dirty="0">
                <a:solidFill>
                  <a:srgbClr val="6B4E96"/>
                </a:solidFill>
                <a:latin typeface="Calibri" pitchFamily="34" charset="0"/>
                <a:ea typeface="Calibri" pitchFamily="34" charset="-122"/>
                <a:cs typeface="Calibri" pitchFamily="34" charset="-120"/>
              </a:rPr>
              <a:t>NEXT</a:t>
            </a:r>
            <a:endParaRPr lang="en-US" sz="1100" dirty="0"/>
          </a:p>
        </p:txBody>
      </p:sp>
      <p:sp>
        <p:nvSpPr>
          <p:cNvPr id="26" name="Shape 24"/>
          <p:cNvSpPr/>
          <p:nvPr/>
        </p:nvSpPr>
        <p:spPr>
          <a:xfrm>
            <a:off x="457200" y="4023360"/>
            <a:ext cx="11247120" cy="566928"/>
          </a:xfrm>
          <a:prstGeom prst="roundRect">
            <a:avLst>
              <a:gd name="adj" fmla="val 19355"/>
            </a:avLst>
          </a:prstGeom>
          <a:solidFill>
            <a:srgbClr val="FFFFFF"/>
          </a:solidFill>
          <a:ln w="15240">
            <a:solidFill>
              <a:srgbClr val="9B7FBE"/>
            </a:solidFill>
            <a:prstDash val="solid"/>
          </a:ln>
          <a:effectLst>
            <a:outerShdw sx="100000" sy="100000" kx="0" ky="0" algn="bl" rotWithShape="0" blurRad="101600" dist="25400" dir="5400000">
              <a:srgbClr val="C4B5DC">
                <a:alpha val="18000"/>
              </a:srgbClr>
            </a:outerShdw>
          </a:effectLst>
        </p:spPr>
      </p:sp>
      <p:sp>
        <p:nvSpPr>
          <p:cNvPr id="27" name="Shape 25"/>
          <p:cNvSpPr/>
          <p:nvPr/>
        </p:nvSpPr>
        <p:spPr>
          <a:xfrm>
            <a:off x="640080" y="4123944"/>
            <a:ext cx="365760" cy="365760"/>
          </a:xfrm>
          <a:prstGeom prst="ellipse">
            <a:avLst/>
          </a:prstGeom>
          <a:solidFill>
            <a:srgbClr val="9B7FBE"/>
          </a:solidFill>
          <a:ln w="12700">
            <a:solidFill>
              <a:srgbClr val="9B7FBE"/>
            </a:solidFill>
            <a:prstDash val="solid"/>
          </a:ln>
        </p:spPr>
      </p:sp>
      <p:sp>
        <p:nvSpPr>
          <p:cNvPr id="28" name="Text 26"/>
          <p:cNvSpPr/>
          <p:nvPr/>
        </p:nvSpPr>
        <p:spPr>
          <a:xfrm>
            <a:off x="640080" y="41239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p:nvPr/>
        </p:nvSpPr>
        <p:spPr>
          <a:xfrm>
            <a:off x="1188720" y="4023360"/>
            <a:ext cx="3931920" cy="566928"/>
          </a:xfrm>
          <a:prstGeom prst="rect">
            <a:avLst/>
          </a:prstGeom>
          <a:noFill/>
          <a:ln/>
        </p:spPr>
        <p:txBody>
          <a:bodyPr wrap="square" lIns="0" tIns="0" rIns="0" bIns="0" rtlCol="0" anchor="ctr"/>
          <a:lstStyle/>
          <a:p>
            <a:pPr indent="0" marL="0">
              <a:buNone/>
            </a:pPr>
            <a:r>
              <a:rPr lang="en-US" sz="1400" b="1" dirty="0">
                <a:solidFill>
                  <a:srgbClr val="2D2D2D"/>
                </a:solidFill>
                <a:latin typeface="Calibri" pitchFamily="34" charset="0"/>
                <a:ea typeface="Calibri" pitchFamily="34" charset="-122"/>
                <a:cs typeface="Calibri" pitchFamily="34" charset="-120"/>
              </a:rPr>
              <a:t>Remote MCP server</a:t>
            </a:r>
            <a:endParaRPr lang="en-US" sz="1400" dirty="0"/>
          </a:p>
        </p:txBody>
      </p:sp>
      <p:sp>
        <p:nvSpPr>
          <p:cNvPr id="30" name="Text 28"/>
          <p:cNvSpPr/>
          <p:nvPr/>
        </p:nvSpPr>
        <p:spPr>
          <a:xfrm>
            <a:off x="5212080" y="4023360"/>
            <a:ext cx="5120640" cy="566928"/>
          </a:xfrm>
          <a:prstGeom prst="rect">
            <a:avLst/>
          </a:prstGeom>
          <a:noFill/>
          <a:ln/>
        </p:spPr>
        <p:txBody>
          <a:bodyPr wrap="square" lIns="0" tIns="0" rIns="0" bIns="0" rtlCol="0" anchor="ctr"/>
          <a:lstStyle/>
          <a:p>
            <a:pPr indent="0" marL="0">
              <a:buNone/>
            </a:pPr>
            <a:r>
              <a:rPr lang="en-US" sz="1250" i="1" dirty="0">
                <a:solidFill>
                  <a:srgbClr val="5A5A5A"/>
                </a:solidFill>
                <a:latin typeface="Calibri" pitchFamily="34" charset="0"/>
                <a:ea typeface="Calibri" pitchFamily="34" charset="-122"/>
                <a:cs typeface="Calibri" pitchFamily="34" charset="-120"/>
              </a:rPr>
              <a:t>ChatGPT, Claude on the web</a:t>
            </a:r>
            <a:endParaRPr lang="en-US" sz="1250" dirty="0"/>
          </a:p>
        </p:txBody>
      </p:sp>
      <p:sp>
        <p:nvSpPr>
          <p:cNvPr id="31" name="Shape 29"/>
          <p:cNvSpPr/>
          <p:nvPr/>
        </p:nvSpPr>
        <p:spPr>
          <a:xfrm>
            <a:off x="457200" y="4663440"/>
            <a:ext cx="11247120" cy="566928"/>
          </a:xfrm>
          <a:prstGeom prst="roundRect">
            <a:avLst>
              <a:gd name="adj" fmla="val 19355"/>
            </a:avLst>
          </a:prstGeom>
          <a:solidFill>
            <a:srgbClr val="FFFFFF"/>
          </a:solidFill>
          <a:ln w="15240">
            <a:solidFill>
              <a:srgbClr val="E5BA1F"/>
            </a:solidFill>
            <a:prstDash val="solid"/>
          </a:ln>
          <a:effectLst>
            <a:outerShdw sx="100000" sy="100000" kx="0" ky="0" algn="bl" rotWithShape="0" blurRad="101600" dist="25400" dir="5400000">
              <a:srgbClr val="C4B5DC">
                <a:alpha val="18000"/>
              </a:srgbClr>
            </a:outerShdw>
          </a:effectLst>
        </p:spPr>
      </p:sp>
      <p:sp>
        <p:nvSpPr>
          <p:cNvPr id="32" name="Shape 30"/>
          <p:cNvSpPr/>
          <p:nvPr/>
        </p:nvSpPr>
        <p:spPr>
          <a:xfrm>
            <a:off x="640080" y="4764024"/>
            <a:ext cx="365760" cy="365760"/>
          </a:xfrm>
          <a:prstGeom prst="ellipse">
            <a:avLst/>
          </a:prstGeom>
          <a:solidFill>
            <a:srgbClr val="E5BA1F"/>
          </a:solidFill>
          <a:ln w="12700">
            <a:solidFill>
              <a:srgbClr val="E5BA1F"/>
            </a:solidFill>
            <a:prstDash val="solid"/>
          </a:ln>
        </p:spPr>
      </p:sp>
      <p:sp>
        <p:nvSpPr>
          <p:cNvPr id="33" name="Text 31"/>
          <p:cNvSpPr/>
          <p:nvPr/>
        </p:nvSpPr>
        <p:spPr>
          <a:xfrm>
            <a:off x="640080" y="47640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4" name="Text 32"/>
          <p:cNvSpPr/>
          <p:nvPr/>
        </p:nvSpPr>
        <p:spPr>
          <a:xfrm>
            <a:off x="1188720" y="4663440"/>
            <a:ext cx="3931920" cy="566928"/>
          </a:xfrm>
          <a:prstGeom prst="rect">
            <a:avLst/>
          </a:prstGeom>
          <a:noFill/>
          <a:ln/>
        </p:spPr>
        <p:txBody>
          <a:bodyPr wrap="square" lIns="0" tIns="0" rIns="0" bIns="0" rtlCol="0" anchor="ctr"/>
          <a:lstStyle/>
          <a:p>
            <a:pPr indent="0" marL="0">
              <a:buNone/>
            </a:pPr>
            <a:r>
              <a:rPr lang="en-US" sz="1400" b="1" dirty="0">
                <a:solidFill>
                  <a:srgbClr val="2D2D2D"/>
                </a:solidFill>
                <a:latin typeface="Calibri" pitchFamily="34" charset="0"/>
                <a:ea typeface="Calibri" pitchFamily="34" charset="-122"/>
                <a:cs typeface="Calibri" pitchFamily="34" charset="-120"/>
              </a:rPr>
              <a:t>Skill</a:t>
            </a:r>
            <a:endParaRPr lang="en-US" sz="1400" dirty="0"/>
          </a:p>
        </p:txBody>
      </p:sp>
      <p:sp>
        <p:nvSpPr>
          <p:cNvPr id="35" name="Text 33"/>
          <p:cNvSpPr/>
          <p:nvPr/>
        </p:nvSpPr>
        <p:spPr>
          <a:xfrm>
            <a:off x="5212080" y="4663440"/>
            <a:ext cx="5120640" cy="566928"/>
          </a:xfrm>
          <a:prstGeom prst="rect">
            <a:avLst/>
          </a:prstGeom>
          <a:noFill/>
          <a:ln/>
        </p:spPr>
        <p:txBody>
          <a:bodyPr wrap="square" lIns="0" tIns="0" rIns="0" bIns="0" rtlCol="0" anchor="ctr"/>
          <a:lstStyle/>
          <a:p>
            <a:pPr indent="0" marL="0">
              <a:buNone/>
            </a:pPr>
            <a:r>
              <a:rPr lang="en-US" sz="1250" i="1" dirty="0">
                <a:solidFill>
                  <a:srgbClr val="5A5A5A"/>
                </a:solidFill>
                <a:latin typeface="Calibri" pitchFamily="34" charset="0"/>
                <a:ea typeface="Calibri" pitchFamily="34" charset="-122"/>
                <a:cs typeface="Calibri" pitchFamily="34" charset="-120"/>
              </a:rPr>
              <a:t>any agent, through the CLI</a:t>
            </a:r>
            <a:endParaRPr lang="en-US" sz="1250" dirty="0"/>
          </a:p>
        </p:txBody>
      </p:sp>
      <p:sp>
        <p:nvSpPr>
          <p:cNvPr id="36" name="Shape 34"/>
          <p:cNvSpPr/>
          <p:nvPr/>
        </p:nvSpPr>
        <p:spPr>
          <a:xfrm>
            <a:off x="457200" y="5303520"/>
            <a:ext cx="11247120" cy="566928"/>
          </a:xfrm>
          <a:prstGeom prst="roundRect">
            <a:avLst>
              <a:gd name="adj" fmla="val 19355"/>
            </a:avLst>
          </a:prstGeom>
          <a:solidFill>
            <a:srgbClr val="FFFFFF"/>
          </a:solidFill>
          <a:ln w="15240">
            <a:solidFill>
              <a:srgbClr val="2D2D2D"/>
            </a:solidFill>
            <a:prstDash val="solid"/>
          </a:ln>
          <a:effectLst>
            <a:outerShdw sx="100000" sy="100000" kx="0" ky="0" algn="bl" rotWithShape="0" blurRad="101600" dist="25400" dir="5400000">
              <a:srgbClr val="C4B5DC">
                <a:alpha val="18000"/>
              </a:srgbClr>
            </a:outerShdw>
          </a:effectLst>
        </p:spPr>
      </p:sp>
      <p:sp>
        <p:nvSpPr>
          <p:cNvPr id="37" name="Shape 35"/>
          <p:cNvSpPr/>
          <p:nvPr/>
        </p:nvSpPr>
        <p:spPr>
          <a:xfrm>
            <a:off x="640080" y="5404104"/>
            <a:ext cx="365760" cy="365760"/>
          </a:xfrm>
          <a:prstGeom prst="ellipse">
            <a:avLst/>
          </a:prstGeom>
          <a:solidFill>
            <a:srgbClr val="2D2D2D"/>
          </a:solidFill>
          <a:ln w="12700">
            <a:solidFill>
              <a:srgbClr val="2D2D2D"/>
            </a:solidFill>
            <a:prstDash val="solid"/>
          </a:ln>
        </p:spPr>
      </p:sp>
      <p:sp>
        <p:nvSpPr>
          <p:cNvPr id="38" name="Text 36"/>
          <p:cNvSpPr/>
          <p:nvPr/>
        </p:nvSpPr>
        <p:spPr>
          <a:xfrm>
            <a:off x="640080" y="540410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7"/>
          <p:cNvSpPr/>
          <p:nvPr/>
        </p:nvSpPr>
        <p:spPr>
          <a:xfrm>
            <a:off x="1188720" y="5303520"/>
            <a:ext cx="3931920" cy="566928"/>
          </a:xfrm>
          <a:prstGeom prst="rect">
            <a:avLst/>
          </a:prstGeom>
          <a:noFill/>
          <a:ln/>
        </p:spPr>
        <p:txBody>
          <a:bodyPr wrap="square" lIns="0" tIns="0" rIns="0" bIns="0" rtlCol="0" anchor="ctr"/>
          <a:lstStyle/>
          <a:p>
            <a:pPr indent="0" marL="0">
              <a:buNone/>
            </a:pPr>
            <a:r>
              <a:rPr lang="en-US" sz="1400" b="1" dirty="0">
                <a:solidFill>
                  <a:srgbClr val="2D2D2D"/>
                </a:solidFill>
                <a:latin typeface="Calibri" pitchFamily="34" charset="0"/>
                <a:ea typeface="Calibri" pitchFamily="34" charset="-122"/>
                <a:cs typeface="Calibri" pitchFamily="34" charset="-120"/>
              </a:rPr>
              <a:t>Capstone — the CRM Agent</a:t>
            </a:r>
            <a:endParaRPr lang="en-US" sz="1400" dirty="0"/>
          </a:p>
        </p:txBody>
      </p:sp>
      <p:sp>
        <p:nvSpPr>
          <p:cNvPr id="40" name="Text 38"/>
          <p:cNvSpPr/>
          <p:nvPr/>
        </p:nvSpPr>
        <p:spPr>
          <a:xfrm>
            <a:off x="5212080" y="5303520"/>
            <a:ext cx="5120640" cy="566928"/>
          </a:xfrm>
          <a:prstGeom prst="rect">
            <a:avLst/>
          </a:prstGeom>
          <a:noFill/>
          <a:ln/>
        </p:spPr>
        <p:txBody>
          <a:bodyPr wrap="square" lIns="0" tIns="0" rIns="0" bIns="0" rtlCol="0" anchor="ctr"/>
          <a:lstStyle/>
          <a:p>
            <a:pPr indent="0" marL="0">
              <a:buNone/>
            </a:pPr>
            <a:r>
              <a:rPr lang="en-US" sz="1250" i="1" dirty="0">
                <a:solidFill>
                  <a:srgbClr val="5A5A5A"/>
                </a:solidFill>
                <a:latin typeface="Calibri" pitchFamily="34" charset="0"/>
                <a:ea typeface="Calibri" pitchFamily="34" charset="-122"/>
                <a:cs typeface="Calibri" pitchFamily="34" charset="-120"/>
              </a:rPr>
              <a:t>"Prepare my follow-ups for tomorrow."</a:t>
            </a:r>
            <a:endParaRPr lang="en-US" sz="1250" dirty="0"/>
          </a:p>
        </p:txBody>
      </p:sp>
      <p:sp>
        <p:nvSpPr>
          <p:cNvPr id="41" name="Shape 39"/>
          <p:cNvSpPr/>
          <p:nvPr/>
        </p:nvSpPr>
        <p:spPr>
          <a:xfrm>
            <a:off x="457200" y="5989320"/>
            <a:ext cx="11247120" cy="365760"/>
          </a:xfrm>
          <a:prstGeom prst="roundRect">
            <a:avLst>
              <a:gd name="adj" fmla="val 25000"/>
            </a:avLst>
          </a:prstGeom>
          <a:solidFill>
            <a:srgbClr val="FFF4B8"/>
          </a:solidFill>
          <a:ln w="12700">
            <a:solidFill>
              <a:srgbClr val="E5BA1F"/>
            </a:solidFill>
            <a:prstDash val="solid"/>
          </a:ln>
        </p:spPr>
      </p:sp>
      <p:sp>
        <p:nvSpPr>
          <p:cNvPr id="42" name="Text 40"/>
          <p:cNvSpPr/>
          <p:nvPr/>
        </p:nvSpPr>
        <p:spPr>
          <a:xfrm>
            <a:off x="640080" y="5989320"/>
            <a:ext cx="10881360" cy="365760"/>
          </a:xfrm>
          <a:prstGeom prst="rect">
            <a:avLst/>
          </a:prstGeom>
          <a:noFill/>
          <a:ln/>
        </p:spPr>
        <p:txBody>
          <a:bodyPr wrap="square" rtlCol="0" anchor="ctr"/>
          <a:lstStyle/>
          <a:p>
            <a:pPr algn="ctr" indent="0" marL="0">
              <a:buNone/>
            </a:pPr>
            <a:r>
              <a:rPr lang="en-US" sz="1300" b="1" i="1" dirty="0">
                <a:solidFill>
                  <a:srgbClr val="2D2D2D"/>
                </a:solidFill>
                <a:latin typeface="Calibri" pitchFamily="34" charset="0"/>
                <a:ea typeface="Calibri" pitchFamily="34" charset="-122"/>
                <a:cs typeface="Calibri" pitchFamily="34" charset="-120"/>
              </a:rPr>
              <a:t>Next time: the agent picks which function to call, by itself.</a:t>
            </a:r>
            <a:endParaRPr lang="en-US" sz="1300" dirty="0"/>
          </a:p>
        </p:txBody>
      </p:sp>
      <p:sp>
        <p:nvSpPr>
          <p:cNvPr id="43" name="Text 41"/>
          <p:cNvSpPr/>
          <p:nvPr/>
        </p:nvSpPr>
        <p:spPr>
          <a:xfrm>
            <a:off x="457200" y="6446520"/>
            <a:ext cx="8229600" cy="274320"/>
          </a:xfrm>
          <a:prstGeom prst="rect">
            <a:avLst/>
          </a:prstGeom>
          <a:noFill/>
          <a:ln/>
        </p:spPr>
        <p:txBody>
          <a:bodyPr wrap="square" lIns="0" tIns="0" rIns="0" bIns="0"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MCP Workshop  ·  Sessions 1 &amp; 2   |   Skillopedia × Excelacom × Claude Code</a:t>
            </a:r>
            <a:endParaRPr lang="en-US" sz="900" dirty="0"/>
          </a:p>
        </p:txBody>
      </p:sp>
      <p:sp>
        <p:nvSpPr>
          <p:cNvPr id="44" name="Text 42"/>
          <p:cNvSpPr/>
          <p:nvPr/>
        </p:nvSpPr>
        <p:spPr>
          <a:xfrm>
            <a:off x="10972800" y="6446520"/>
            <a:ext cx="731520" cy="274320"/>
          </a:xfrm>
          <a:prstGeom prst="rect">
            <a:avLst/>
          </a:prstGeom>
          <a:noFill/>
          <a:ln/>
        </p:spPr>
        <p:txBody>
          <a:bodyPr wrap="square" lIns="0" tIns="0" rIns="0" bIns="0" rtlCol="0" anchor="ctr"/>
          <a:lstStyle/>
          <a:p>
            <a:pPr algn="r" indent="0" marL="0">
              <a:buNone/>
            </a:pPr>
            <a:r>
              <a:rPr lang="en-US" sz="900" b="1" dirty="0">
                <a:solidFill>
                  <a:srgbClr val="8A8A8A"/>
                </a:solidFill>
                <a:latin typeface="Calibri" pitchFamily="34" charset="0"/>
                <a:ea typeface="Calibri" pitchFamily="34" charset="-122"/>
                <a:cs typeface="Calibri" pitchFamily="34" charset="-120"/>
              </a:rPr>
              <a:t>27 / 28</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EDE5F7"/>
          </a:solidFill>
          <a:ln w="12700">
            <a:solidFill>
              <a:srgbClr val="EDE5F7"/>
            </a:solidFill>
            <a:prstDash val="solid"/>
          </a:ln>
        </p:spPr>
      </p:sp>
      <p:sp>
        <p:nvSpPr>
          <p:cNvPr id="3" name="Shape 1"/>
          <p:cNvSpPr/>
          <p:nvPr/>
        </p:nvSpPr>
        <p:spPr>
          <a:xfrm>
            <a:off x="640080" y="731520"/>
            <a:ext cx="164592" cy="164592"/>
          </a:xfrm>
          <a:prstGeom prst="ellipse">
            <a:avLst/>
          </a:prstGeom>
          <a:solidFill>
            <a:srgbClr val="6B4E96"/>
          </a:solidFill>
          <a:ln w="12700">
            <a:solidFill>
              <a:srgbClr val="6B4E96"/>
            </a:solidFill>
            <a:prstDash val="solid"/>
          </a:ln>
        </p:spPr>
      </p:sp>
      <p:sp>
        <p:nvSpPr>
          <p:cNvPr id="4" name="Shape 2"/>
          <p:cNvSpPr/>
          <p:nvPr/>
        </p:nvSpPr>
        <p:spPr>
          <a:xfrm>
            <a:off x="11338560" y="1005840"/>
            <a:ext cx="164592" cy="164592"/>
          </a:xfrm>
          <a:prstGeom prst="ellipse">
            <a:avLst/>
          </a:prstGeom>
          <a:solidFill>
            <a:srgbClr val="6B4E96"/>
          </a:solidFill>
          <a:ln w="12700">
            <a:solidFill>
              <a:srgbClr val="6B4E96"/>
            </a:solidFill>
            <a:prstDash val="solid"/>
          </a:ln>
        </p:spPr>
      </p:sp>
      <p:sp>
        <p:nvSpPr>
          <p:cNvPr id="5" name="Shape 3"/>
          <p:cNvSpPr/>
          <p:nvPr/>
        </p:nvSpPr>
        <p:spPr>
          <a:xfrm>
            <a:off x="822960" y="5943600"/>
            <a:ext cx="164592" cy="164592"/>
          </a:xfrm>
          <a:prstGeom prst="ellipse">
            <a:avLst/>
          </a:prstGeom>
          <a:solidFill>
            <a:srgbClr val="6B4E96"/>
          </a:solidFill>
          <a:ln w="12700">
            <a:solidFill>
              <a:srgbClr val="6B4E96"/>
            </a:solidFill>
            <a:prstDash val="solid"/>
          </a:ln>
        </p:spPr>
      </p:sp>
      <p:sp>
        <p:nvSpPr>
          <p:cNvPr id="6" name="Shape 4"/>
          <p:cNvSpPr/>
          <p:nvPr/>
        </p:nvSpPr>
        <p:spPr>
          <a:xfrm>
            <a:off x="11155680" y="5760720"/>
            <a:ext cx="164592" cy="164592"/>
          </a:xfrm>
          <a:prstGeom prst="ellipse">
            <a:avLst/>
          </a:prstGeom>
          <a:solidFill>
            <a:srgbClr val="6B4E96"/>
          </a:solidFill>
          <a:ln w="12700">
            <a:solidFill>
              <a:srgbClr val="6B4E96"/>
            </a:solidFill>
            <a:prstDash val="solid"/>
          </a:ln>
        </p:spPr>
      </p:sp>
      <p:sp>
        <p:nvSpPr>
          <p:cNvPr id="7" name="Shape 5"/>
          <p:cNvSpPr/>
          <p:nvPr/>
        </p:nvSpPr>
        <p:spPr>
          <a:xfrm>
            <a:off x="6035040" y="548640"/>
            <a:ext cx="164592" cy="164592"/>
          </a:xfrm>
          <a:prstGeom prst="ellipse">
            <a:avLst/>
          </a:prstGeom>
          <a:solidFill>
            <a:srgbClr val="6B4E96"/>
          </a:solidFill>
          <a:ln w="12700">
            <a:solidFill>
              <a:srgbClr val="6B4E96"/>
            </a:solidFill>
            <a:prstDash val="solid"/>
          </a:ln>
        </p:spPr>
      </p:sp>
      <p:sp>
        <p:nvSpPr>
          <p:cNvPr id="8" name="Shape 6"/>
          <p:cNvSpPr/>
          <p:nvPr/>
        </p:nvSpPr>
        <p:spPr>
          <a:xfrm>
            <a:off x="1005840" y="1965960"/>
            <a:ext cx="10149840" cy="2926080"/>
          </a:xfrm>
          <a:prstGeom prst="roundRect">
            <a:avLst>
              <a:gd name="adj" fmla="val 3750"/>
            </a:avLst>
          </a:prstGeom>
          <a:solidFill>
            <a:srgbClr val="FFFFFF"/>
          </a:solidFill>
          <a:ln w="31750">
            <a:solidFill>
              <a:srgbClr val="6B4E96"/>
            </a:solidFill>
            <a:prstDash val="solid"/>
          </a:ln>
          <a:effectLst>
            <a:outerShdw sx="100000" sy="100000" kx="0" ky="0" algn="bl" rotWithShape="0" blurRad="101600" dist="25400" dir="5400000">
              <a:srgbClr val="C4B5DC">
                <a:alpha val="18000"/>
              </a:srgbClr>
            </a:outerShdw>
          </a:effectLst>
        </p:spPr>
      </p:sp>
      <p:sp>
        <p:nvSpPr>
          <p:cNvPr id="9" name="Text 7"/>
          <p:cNvSpPr/>
          <p:nvPr/>
        </p:nvSpPr>
        <p:spPr>
          <a:xfrm>
            <a:off x="1371600" y="2423160"/>
            <a:ext cx="9418320" cy="731520"/>
          </a:xfrm>
          <a:prstGeom prst="rect">
            <a:avLst/>
          </a:prstGeom>
          <a:noFill/>
          <a:ln/>
        </p:spPr>
        <p:txBody>
          <a:bodyPr wrap="square" lIns="0" tIns="0" rIns="0" bIns="0" rtlCol="0" anchor="ctr"/>
          <a:lstStyle/>
          <a:p>
            <a:pPr algn="ctr" indent="0" marL="0">
              <a:buNone/>
            </a:pPr>
            <a:r>
              <a:rPr lang="en-US" sz="3000" b="1" dirty="0">
                <a:solidFill>
                  <a:srgbClr val="2D2D2D"/>
                </a:solidFill>
                <a:latin typeface="Calibri" pitchFamily="34" charset="0"/>
                <a:ea typeface="Calibri" pitchFamily="34" charset="-122"/>
                <a:cs typeface="Calibri" pitchFamily="34" charset="-120"/>
              </a:rPr>
              <a:t>MCP does not make your application intelligent.</a:t>
            </a:r>
            <a:endParaRPr lang="en-US" sz="3000" dirty="0"/>
          </a:p>
        </p:txBody>
      </p:sp>
      <p:sp>
        <p:nvSpPr>
          <p:cNvPr id="10" name="Text 8"/>
          <p:cNvSpPr/>
          <p:nvPr/>
        </p:nvSpPr>
        <p:spPr>
          <a:xfrm>
            <a:off x="1371600" y="3246120"/>
            <a:ext cx="9418320" cy="548640"/>
          </a:xfrm>
          <a:prstGeom prst="rect">
            <a:avLst/>
          </a:prstGeom>
          <a:noFill/>
          <a:ln/>
        </p:spPr>
        <p:txBody>
          <a:bodyPr wrap="square" lIns="0" tIns="0" rIns="0" bIns="0" rtlCol="0" anchor="ctr"/>
          <a:lstStyle/>
          <a:p>
            <a:pPr algn="ctr" indent="0" marL="0">
              <a:buNone/>
            </a:pPr>
            <a:r>
              <a:rPr lang="en-US" sz="3000" b="1" dirty="0">
                <a:solidFill>
                  <a:srgbClr val="6B4E96"/>
                </a:solidFill>
                <a:latin typeface="Calibri" pitchFamily="34" charset="0"/>
                <a:ea typeface="Calibri" pitchFamily="34" charset="-122"/>
                <a:cs typeface="Calibri" pitchFamily="34" charset="-120"/>
              </a:rPr>
              <a:t>MCP makes your application's capabilities</a:t>
            </a:r>
            <a:endParaRPr lang="en-US" sz="3000" dirty="0"/>
          </a:p>
        </p:txBody>
      </p:sp>
      <p:sp>
        <p:nvSpPr>
          <p:cNvPr id="11" name="Text 9"/>
          <p:cNvSpPr/>
          <p:nvPr/>
        </p:nvSpPr>
        <p:spPr>
          <a:xfrm>
            <a:off x="1371600" y="3794760"/>
            <a:ext cx="9418320" cy="548640"/>
          </a:xfrm>
          <a:prstGeom prst="rect">
            <a:avLst/>
          </a:prstGeom>
          <a:noFill/>
          <a:ln/>
        </p:spPr>
        <p:txBody>
          <a:bodyPr wrap="square" lIns="0" tIns="0" rIns="0" bIns="0" rtlCol="0" anchor="ctr"/>
          <a:lstStyle/>
          <a:p>
            <a:pPr algn="ctr" indent="0" marL="0">
              <a:buNone/>
            </a:pPr>
            <a:r>
              <a:rPr lang="en-US" sz="3000" b="1" dirty="0">
                <a:solidFill>
                  <a:srgbClr val="6B4E96"/>
                </a:solidFill>
                <a:latin typeface="Calibri" pitchFamily="34" charset="0"/>
                <a:ea typeface="Calibri" pitchFamily="34" charset="-122"/>
                <a:cs typeface="Calibri" pitchFamily="34" charset="-120"/>
              </a:rPr>
              <a:t>available to intelligence.</a:t>
            </a:r>
            <a:endParaRPr lang="en-US" sz="3000" dirty="0"/>
          </a:p>
        </p:txBody>
      </p:sp>
      <p:sp>
        <p:nvSpPr>
          <p:cNvPr id="12" name="Shape 10"/>
          <p:cNvSpPr/>
          <p:nvPr/>
        </p:nvSpPr>
        <p:spPr>
          <a:xfrm>
            <a:off x="3931920" y="4370832"/>
            <a:ext cx="4297680" cy="128016"/>
          </a:xfrm>
          <a:prstGeom prst="roundRect">
            <a:avLst>
              <a:gd name="adj" fmla="val 42857"/>
            </a:avLst>
          </a:prstGeom>
          <a:solidFill>
            <a:srgbClr val="FFD93D">
              <a:alpha val="80000"/>
            </a:srgbClr>
          </a:solidFill>
          <a:ln w="12700">
            <a:solidFill>
              <a:srgbClr val="FFD93D">
                <a:alpha val="0"/>
              </a:srgbClr>
            </a:solidFill>
            <a:prstDash val="solid"/>
          </a:ln>
        </p:spPr>
      </p:sp>
      <p:sp>
        <p:nvSpPr>
          <p:cNvPr id="13" name="Text 11"/>
          <p:cNvSpPr/>
          <p:nvPr/>
        </p:nvSpPr>
        <p:spPr>
          <a:xfrm>
            <a:off x="1005840" y="5212080"/>
            <a:ext cx="10149840" cy="411480"/>
          </a:xfrm>
          <a:prstGeom prst="rect">
            <a:avLst/>
          </a:prstGeom>
          <a:noFill/>
          <a:ln/>
        </p:spPr>
        <p:txBody>
          <a:bodyPr wrap="square" lIns="0" tIns="0" rIns="0" bIns="0" rtlCol="0" anchor="ctr"/>
          <a:lstStyle/>
          <a:p>
            <a:pPr algn="ctr" indent="0" marL="0">
              <a:buNone/>
            </a:pPr>
            <a:r>
              <a:rPr lang="en-US" sz="1600" i="1" dirty="0">
                <a:solidFill>
                  <a:srgbClr val="5A5A5A"/>
                </a:solidFill>
                <a:latin typeface="Calibri" pitchFamily="34" charset="0"/>
                <a:ea typeface="Calibri" pitchFamily="34" charset="-122"/>
                <a:cs typeface="Calibri" pitchFamily="34" charset="-120"/>
              </a:rPr>
              <a:t>So where should you spend your effort — on the MCP server, or on the core?</a:t>
            </a:r>
            <a:endParaRPr lang="en-US" sz="1600" dirty="0"/>
          </a:p>
        </p:txBody>
      </p:sp>
      <p:sp>
        <p:nvSpPr>
          <p:cNvPr id="14" name="Text 12"/>
          <p:cNvSpPr/>
          <p:nvPr/>
        </p:nvSpPr>
        <p:spPr>
          <a:xfrm>
            <a:off x="1005840" y="5989320"/>
            <a:ext cx="10149840" cy="320040"/>
          </a:xfrm>
          <a:prstGeom prst="rect">
            <a:avLst/>
          </a:prstGeom>
          <a:noFill/>
          <a:ln/>
        </p:spPr>
        <p:txBody>
          <a:bodyPr wrap="square" lIns="0" tIns="0" rIns="0" bIns="0" rtlCol="0" anchor="ctr"/>
          <a:lstStyle/>
          <a:p>
            <a:pPr algn="ctr" indent="0" marL="0">
              <a:buNone/>
            </a:pPr>
            <a:r>
              <a:rPr lang="en-US" sz="1100" dirty="0">
                <a:solidFill>
                  <a:srgbClr val="8A8A8A"/>
                </a:solidFill>
                <a:latin typeface="Calibri" pitchFamily="34" charset="0"/>
                <a:ea typeface="Calibri" pitchFamily="34" charset="-122"/>
                <a:cs typeface="Calibri" pitchFamily="34" charset="-120"/>
              </a:rPr>
              <a:t>Sessions 1 &amp; 2  ·  MCP Workshop  ·  Skillopedia × Claude Code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Once. Expose Everywhere. — Sessions 1 &amp; 2</dc:title>
  <dc:subject>PptxGenJS Presentation</dc:subject>
  <dc:creator>Skillopedia × Excelacom × Claude Code</dc:creator>
  <cp:lastModifiedBy>Skillopedia × Excelacom × Claude Code</cp:lastModifiedBy>
  <cp:revision>1</cp:revision>
  <dcterms:created xsi:type="dcterms:W3CDTF">2026-08-20T00:30:35Z</dcterms:created>
  <dcterms:modified xsi:type="dcterms:W3CDTF">2026-08-20T00:30:35Z</dcterms:modified>
</cp:coreProperties>
</file>